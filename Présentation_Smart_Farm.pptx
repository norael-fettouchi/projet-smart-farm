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Open Sauce Bold" charset="1" panose="00000800000000000000"/>
      <p:regular r:id="rId36"/>
    </p:embeddedFont>
    <p:embeddedFont>
      <p:font typeface="League Spartan" charset="1" panose="00000800000000000000"/>
      <p:regular r:id="rId37"/>
    </p:embeddedFont>
    <p:embeddedFont>
      <p:font typeface="Open Sans Bold" charset="1" panose="020B0806030504020204"/>
      <p:regular r:id="rId38"/>
    </p:embeddedFont>
    <p:embeddedFont>
      <p:font typeface="Montserrat" charset="1" panose="00000500000000000000"/>
      <p:regular r:id="rId39"/>
    </p:embeddedFont>
    <p:embeddedFont>
      <p:font typeface="Open Sauce" charset="1" panose="00000500000000000000"/>
      <p:regular r:id="rId40"/>
    </p:embeddedFont>
    <p:embeddedFont>
      <p:font typeface="Chau Philomene" charset="1" panose="02000806040000020003"/>
      <p:regular r:id="rId41"/>
    </p:embeddedFont>
    <p:embeddedFont>
      <p:font typeface="Aleo" charset="1" panose="020F0502020204030203"/>
      <p:regular r:id="rId42"/>
    </p:embeddedFont>
    <p:embeddedFont>
      <p:font typeface="Poppins Bold" charset="1" panose="02000000000000000000"/>
      <p:regular r:id="rId43"/>
    </p:embeddedFont>
    <p:embeddedFont>
      <p:font typeface="Aleo Bold" charset="1" panose="020F0802020204030203"/>
      <p:regular r:id="rId44"/>
    </p:embeddedFont>
    <p:embeddedFont>
      <p:font typeface="Montserrat Bold" charset="1" panose="00000800000000000000"/>
      <p:regular r:id="rId45"/>
    </p:embeddedFont>
    <p:embeddedFont>
      <p:font typeface="Chau Philomene Italics" charset="1" panose="02000806040000020003"/>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12" Target="../media/image28.png" Type="http://schemas.openxmlformats.org/officeDocument/2006/relationships/image"/><Relationship Id="rId13" Target="../media/image29.svg" Type="http://schemas.openxmlformats.org/officeDocument/2006/relationships/image"/><Relationship Id="rId14" Target="../media/image30.png" Type="http://schemas.openxmlformats.org/officeDocument/2006/relationships/image"/><Relationship Id="rId15" Target="../media/image31.svg" Type="http://schemas.openxmlformats.org/officeDocument/2006/relationships/image"/><Relationship Id="rId16" Target="../media/image32.png" Type="http://schemas.openxmlformats.org/officeDocument/2006/relationships/image"/><Relationship Id="rId17" Target="../media/image33.svg" Type="http://schemas.openxmlformats.org/officeDocument/2006/relationships/image"/><Relationship Id="rId18" Target="../media/image34.png" Type="http://schemas.openxmlformats.org/officeDocument/2006/relationships/image"/><Relationship Id="rId19" Target="../media/image35.svg" Type="http://schemas.openxmlformats.org/officeDocument/2006/relationships/image"/><Relationship Id="rId2" Target="../media/image18.png" Type="http://schemas.openxmlformats.org/officeDocument/2006/relationships/image"/><Relationship Id="rId20" Target="../media/image36.png" Type="http://schemas.openxmlformats.org/officeDocument/2006/relationships/image"/><Relationship Id="rId21" Target="../media/image37.svg" Type="http://schemas.openxmlformats.org/officeDocument/2006/relationships/image"/><Relationship Id="rId22" Target="../media/image38.png" Type="http://schemas.openxmlformats.org/officeDocument/2006/relationships/image"/><Relationship Id="rId23" Target="../media/image39.sv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png" Type="http://schemas.openxmlformats.org/officeDocument/2006/relationships/image"/><Relationship Id="rId4" Target="../media/image5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media/image52.png" Type="http://schemas.openxmlformats.org/officeDocument/2006/relationships/image"/><Relationship Id="rId4" Target="../media/image53.png" Type="http://schemas.openxmlformats.org/officeDocument/2006/relationships/image"/><Relationship Id="rId5" Target="../media/image5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5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media/image58.png" Type="http://schemas.openxmlformats.org/officeDocument/2006/relationships/image"/><Relationship Id="rId4" Target="../media/image59.png" Type="http://schemas.openxmlformats.org/officeDocument/2006/relationships/image"/><Relationship Id="rId5" Target="../media/image60.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 Id="rId3" Target="../media/image63.png" Type="http://schemas.openxmlformats.org/officeDocument/2006/relationships/image"/><Relationship Id="rId4" Target="../media/image64.png" Type="http://schemas.openxmlformats.org/officeDocument/2006/relationships/image"/><Relationship Id="rId5" Target="../media/image65.png" Type="http://schemas.openxmlformats.org/officeDocument/2006/relationships/image"/><Relationship Id="rId6" Target="../media/image66.png" Type="http://schemas.openxmlformats.org/officeDocument/2006/relationships/image"/><Relationship Id="rId7" Target="../media/image6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9.png" Type="http://schemas.openxmlformats.org/officeDocument/2006/relationships/image"/><Relationship Id="rId3" Target="../media/image70.png" Type="http://schemas.openxmlformats.org/officeDocument/2006/relationships/image"/><Relationship Id="rId4" Target="../media/image7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3.png" Type="http://schemas.openxmlformats.org/officeDocument/2006/relationships/image"/><Relationship Id="rId3" Target="../media/image74.png" Type="http://schemas.openxmlformats.org/officeDocument/2006/relationships/image"/><Relationship Id="rId4" Target="../media/image7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6.png" Type="http://schemas.openxmlformats.org/officeDocument/2006/relationships/image"/><Relationship Id="rId3" Target="../media/image7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8.png" Type="http://schemas.openxmlformats.org/officeDocument/2006/relationships/image"/><Relationship Id="rId3" Target="../media/image79.png" Type="http://schemas.openxmlformats.org/officeDocument/2006/relationships/image"/><Relationship Id="rId4" Target="../media/image80.png" Type="http://schemas.openxmlformats.org/officeDocument/2006/relationships/image"/><Relationship Id="rId5" Target="../media/image8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2.png" Type="http://schemas.openxmlformats.org/officeDocument/2006/relationships/image"/><Relationship Id="rId3" Target="../media/image83.png" Type="http://schemas.openxmlformats.org/officeDocument/2006/relationships/image"/><Relationship Id="rId4" Target="../media/image8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5.png" Type="http://schemas.openxmlformats.org/officeDocument/2006/relationships/image"/><Relationship Id="rId3" Target="../media/image86.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7.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8.png" Type="http://schemas.openxmlformats.org/officeDocument/2006/relationships/image"/><Relationship Id="rId3" Target="../media/image89.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90.jpe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15047759" y="3749017"/>
            <a:ext cx="3240241" cy="6504134"/>
          </a:xfrm>
          <a:custGeom>
            <a:avLst/>
            <a:gdLst/>
            <a:ahLst/>
            <a:cxnLst/>
            <a:rect r="r" b="b" t="t" l="l"/>
            <a:pathLst>
              <a:path h="6504134" w="3240241">
                <a:moveTo>
                  <a:pt x="0" y="0"/>
                </a:moveTo>
                <a:lnTo>
                  <a:pt x="3240241" y="0"/>
                </a:lnTo>
                <a:lnTo>
                  <a:pt x="3240241" y="6504133"/>
                </a:lnTo>
                <a:lnTo>
                  <a:pt x="0" y="6504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032403" y="-1448305"/>
            <a:ext cx="5255597" cy="13183610"/>
            <a:chOff x="0" y="0"/>
            <a:chExt cx="1384190" cy="3472227"/>
          </a:xfrm>
        </p:grpSpPr>
        <p:sp>
          <p:nvSpPr>
            <p:cNvPr name="Freeform 4" id="4"/>
            <p:cNvSpPr/>
            <p:nvPr/>
          </p:nvSpPr>
          <p:spPr>
            <a:xfrm flipH="false" flipV="false" rot="0">
              <a:off x="0" y="0"/>
              <a:ext cx="1384190" cy="3472226"/>
            </a:xfrm>
            <a:custGeom>
              <a:avLst/>
              <a:gdLst/>
              <a:ahLst/>
              <a:cxnLst/>
              <a:rect r="r" b="b" t="t" l="l"/>
              <a:pathLst>
                <a:path h="3472226" w="1384190">
                  <a:moveTo>
                    <a:pt x="0" y="0"/>
                  </a:moveTo>
                  <a:lnTo>
                    <a:pt x="1384190" y="0"/>
                  </a:lnTo>
                  <a:lnTo>
                    <a:pt x="1384190" y="3472226"/>
                  </a:lnTo>
                  <a:lnTo>
                    <a:pt x="0" y="3472226"/>
                  </a:lnTo>
                  <a:close/>
                </a:path>
              </a:pathLst>
            </a:custGeom>
            <a:solidFill>
              <a:srgbClr val="106861"/>
            </a:solidFill>
          </p:spPr>
        </p:sp>
        <p:sp>
          <p:nvSpPr>
            <p:cNvPr name="TextBox 5" id="5"/>
            <p:cNvSpPr txBox="true"/>
            <p:nvPr/>
          </p:nvSpPr>
          <p:spPr>
            <a:xfrm>
              <a:off x="0" y="-19050"/>
              <a:ext cx="1384190" cy="3491277"/>
            </a:xfrm>
            <a:prstGeom prst="rect">
              <a:avLst/>
            </a:prstGeom>
          </p:spPr>
          <p:txBody>
            <a:bodyPr anchor="ctr" rtlCol="false" tIns="50800" lIns="50800" bIns="50800" rIns="50800"/>
            <a:lstStyle/>
            <a:p>
              <a:pPr algn="ctr">
                <a:lnSpc>
                  <a:spcPts val="2859"/>
                </a:lnSpc>
              </a:pPr>
            </a:p>
          </p:txBody>
        </p:sp>
      </p:grpSp>
      <p:sp>
        <p:nvSpPr>
          <p:cNvPr name="Freeform 6" id="6"/>
          <p:cNvSpPr/>
          <p:nvPr/>
        </p:nvSpPr>
        <p:spPr>
          <a:xfrm flipH="false" flipV="false" rot="0">
            <a:off x="9432880" y="1526000"/>
            <a:ext cx="7234999" cy="7234999"/>
          </a:xfrm>
          <a:custGeom>
            <a:avLst/>
            <a:gdLst/>
            <a:ahLst/>
            <a:cxnLst/>
            <a:rect r="r" b="b" t="t" l="l"/>
            <a:pathLst>
              <a:path h="7234999" w="7234999">
                <a:moveTo>
                  <a:pt x="0" y="0"/>
                </a:moveTo>
                <a:lnTo>
                  <a:pt x="7234999" y="0"/>
                </a:lnTo>
                <a:lnTo>
                  <a:pt x="7234999" y="7235000"/>
                </a:lnTo>
                <a:lnTo>
                  <a:pt x="0" y="7235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7" id="7"/>
          <p:cNvGrpSpPr/>
          <p:nvPr/>
        </p:nvGrpSpPr>
        <p:grpSpPr>
          <a:xfrm rot="0">
            <a:off x="10106590" y="2201200"/>
            <a:ext cx="5887580" cy="5886078"/>
            <a:chOff x="0" y="0"/>
            <a:chExt cx="6350000" cy="6348380"/>
          </a:xfrm>
        </p:grpSpPr>
        <p:sp>
          <p:nvSpPr>
            <p:cNvPr name="Freeform 8" id="8"/>
            <p:cNvSpPr/>
            <p:nvPr/>
          </p:nvSpPr>
          <p:spPr>
            <a:xfrm flipH="false" flipV="false" rot="0">
              <a:off x="0" y="0"/>
              <a:ext cx="6350000" cy="6348381"/>
            </a:xfrm>
            <a:custGeom>
              <a:avLst/>
              <a:gdLst/>
              <a:ahLst/>
              <a:cxnLst/>
              <a:rect r="r" b="b" t="t" l="l"/>
              <a:pathLst>
                <a:path h="6348381" w="6350000">
                  <a:moveTo>
                    <a:pt x="6350000" y="3174228"/>
                  </a:moveTo>
                  <a:cubicBezTo>
                    <a:pt x="6350000" y="4927214"/>
                    <a:pt x="4928476" y="6348381"/>
                    <a:pt x="3175000" y="6348381"/>
                  </a:cubicBezTo>
                  <a:cubicBezTo>
                    <a:pt x="1421498" y="6348381"/>
                    <a:pt x="0" y="4927214"/>
                    <a:pt x="0" y="3174228"/>
                  </a:cubicBezTo>
                  <a:cubicBezTo>
                    <a:pt x="0" y="1421154"/>
                    <a:pt x="1421498" y="0"/>
                    <a:pt x="3175000" y="0"/>
                  </a:cubicBezTo>
                  <a:cubicBezTo>
                    <a:pt x="4928502" y="0"/>
                    <a:pt x="6350000" y="1421154"/>
                    <a:pt x="6350000" y="3174228"/>
                  </a:cubicBezTo>
                  <a:close/>
                </a:path>
              </a:pathLst>
            </a:custGeom>
            <a:blipFill>
              <a:blip r:embed="rId6"/>
              <a:stretch>
                <a:fillRect l="0" t="-12" r="0" b="-12"/>
              </a:stretch>
            </a:blipFill>
          </p:spPr>
        </p:sp>
      </p:grpSp>
      <p:grpSp>
        <p:nvGrpSpPr>
          <p:cNvPr name="Group 9" id="9"/>
          <p:cNvGrpSpPr/>
          <p:nvPr/>
        </p:nvGrpSpPr>
        <p:grpSpPr>
          <a:xfrm rot="0">
            <a:off x="1028700" y="2404237"/>
            <a:ext cx="59921" cy="2223016"/>
            <a:chOff x="0" y="0"/>
            <a:chExt cx="15782" cy="585486"/>
          </a:xfrm>
        </p:grpSpPr>
        <p:sp>
          <p:nvSpPr>
            <p:cNvPr name="Freeform 10" id="10"/>
            <p:cNvSpPr/>
            <p:nvPr/>
          </p:nvSpPr>
          <p:spPr>
            <a:xfrm flipH="false" flipV="false" rot="0">
              <a:off x="0" y="0"/>
              <a:ext cx="15782" cy="585486"/>
            </a:xfrm>
            <a:custGeom>
              <a:avLst/>
              <a:gdLst/>
              <a:ahLst/>
              <a:cxnLst/>
              <a:rect r="r" b="b" t="t" l="l"/>
              <a:pathLst>
                <a:path h="585486" w="15782">
                  <a:moveTo>
                    <a:pt x="0" y="0"/>
                  </a:moveTo>
                  <a:lnTo>
                    <a:pt x="15782" y="0"/>
                  </a:lnTo>
                  <a:lnTo>
                    <a:pt x="15782" y="585486"/>
                  </a:lnTo>
                  <a:lnTo>
                    <a:pt x="0" y="585486"/>
                  </a:lnTo>
                  <a:close/>
                </a:path>
              </a:pathLst>
            </a:custGeom>
            <a:solidFill>
              <a:srgbClr val="123D33"/>
            </a:solidFill>
            <a:ln cap="sq">
              <a:noFill/>
              <a:prstDash val="solid"/>
              <a:miter/>
            </a:ln>
          </p:spPr>
        </p:sp>
        <p:sp>
          <p:nvSpPr>
            <p:cNvPr name="TextBox 11" id="11"/>
            <p:cNvSpPr txBox="true"/>
            <p:nvPr/>
          </p:nvSpPr>
          <p:spPr>
            <a:xfrm>
              <a:off x="0" y="-19050"/>
              <a:ext cx="15782" cy="604536"/>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12" id="12"/>
          <p:cNvSpPr txBox="true"/>
          <p:nvPr/>
        </p:nvSpPr>
        <p:spPr>
          <a:xfrm rot="0">
            <a:off x="1387521" y="962025"/>
            <a:ext cx="6069309" cy="613208"/>
          </a:xfrm>
          <a:prstGeom prst="rect">
            <a:avLst/>
          </a:prstGeom>
        </p:spPr>
        <p:txBody>
          <a:bodyPr anchor="t" rtlCol="false" tIns="0" lIns="0" bIns="0" rIns="0">
            <a:spAutoFit/>
          </a:bodyPr>
          <a:lstStyle/>
          <a:p>
            <a:pPr algn="l">
              <a:lnSpc>
                <a:spcPts val="5051"/>
              </a:lnSpc>
            </a:pPr>
            <a:r>
              <a:rPr lang="en-US" b="true" sz="3607" spc="-72" u="sng">
                <a:solidFill>
                  <a:srgbClr val="191919"/>
                </a:solidFill>
                <a:latin typeface="Open Sauce Bold"/>
                <a:ea typeface="Open Sauce Bold"/>
                <a:cs typeface="Open Sauce Bold"/>
                <a:sym typeface="Open Sauce Bold"/>
              </a:rPr>
              <a:t>Présentation du projet :</a:t>
            </a:r>
          </a:p>
        </p:txBody>
      </p:sp>
      <p:sp>
        <p:nvSpPr>
          <p:cNvPr name="TextBox 13" id="13"/>
          <p:cNvSpPr txBox="true"/>
          <p:nvPr/>
        </p:nvSpPr>
        <p:spPr>
          <a:xfrm rot="0">
            <a:off x="1387521" y="2212296"/>
            <a:ext cx="8293728" cy="2378757"/>
          </a:xfrm>
          <a:prstGeom prst="rect">
            <a:avLst/>
          </a:prstGeom>
        </p:spPr>
        <p:txBody>
          <a:bodyPr anchor="t" rtlCol="false" tIns="0" lIns="0" bIns="0" rIns="0">
            <a:spAutoFit/>
          </a:bodyPr>
          <a:lstStyle/>
          <a:p>
            <a:pPr algn="l">
              <a:lnSpc>
                <a:spcPts val="9587"/>
              </a:lnSpc>
            </a:pPr>
            <a:r>
              <a:rPr lang="en-US" sz="6848" spc="-136">
                <a:solidFill>
                  <a:srgbClr val="191919"/>
                </a:solidFill>
                <a:latin typeface="League Spartan"/>
                <a:ea typeface="League Spartan"/>
                <a:cs typeface="League Spartan"/>
                <a:sym typeface="League Spartan"/>
              </a:rPr>
              <a:t>Simulation d’une ferme intelligente</a:t>
            </a:r>
          </a:p>
        </p:txBody>
      </p:sp>
      <p:sp>
        <p:nvSpPr>
          <p:cNvPr name="TextBox 14" id="14"/>
          <p:cNvSpPr txBox="true"/>
          <p:nvPr/>
        </p:nvSpPr>
        <p:spPr>
          <a:xfrm rot="0">
            <a:off x="1028700" y="6389053"/>
            <a:ext cx="1763554" cy="349248"/>
          </a:xfrm>
          <a:prstGeom prst="rect">
            <a:avLst/>
          </a:prstGeom>
        </p:spPr>
        <p:txBody>
          <a:bodyPr anchor="t" rtlCol="false" tIns="0" lIns="0" bIns="0" rIns="0">
            <a:spAutoFit/>
          </a:bodyPr>
          <a:lstStyle/>
          <a:p>
            <a:pPr algn="ctr">
              <a:lnSpc>
                <a:spcPts val="2800"/>
              </a:lnSpc>
            </a:pPr>
            <a:r>
              <a:rPr lang="en-US" b="true" sz="2000" u="sng">
                <a:solidFill>
                  <a:srgbClr val="191919"/>
                </a:solidFill>
                <a:latin typeface="Open Sans Bold"/>
                <a:ea typeface="Open Sans Bold"/>
                <a:cs typeface="Open Sans Bold"/>
                <a:sym typeface="Open Sans Bold"/>
              </a:rPr>
              <a:t>présenté par :</a:t>
            </a:r>
          </a:p>
        </p:txBody>
      </p:sp>
      <p:sp>
        <p:nvSpPr>
          <p:cNvPr name="TextBox 15" id="15"/>
          <p:cNvSpPr txBox="true"/>
          <p:nvPr/>
        </p:nvSpPr>
        <p:spPr>
          <a:xfrm rot="0">
            <a:off x="836593" y="6962983"/>
            <a:ext cx="2147768" cy="935355"/>
          </a:xfrm>
          <a:prstGeom prst="rect">
            <a:avLst/>
          </a:prstGeom>
        </p:spPr>
        <p:txBody>
          <a:bodyPr anchor="t" rtlCol="false" tIns="0" lIns="0" bIns="0" rIns="0">
            <a:spAutoFit/>
          </a:bodyPr>
          <a:lstStyle/>
          <a:p>
            <a:pPr algn="ctr">
              <a:lnSpc>
                <a:spcPts val="2519"/>
              </a:lnSpc>
              <a:spcBef>
                <a:spcPct val="0"/>
              </a:spcBef>
            </a:pPr>
            <a:r>
              <a:rPr lang="en-US" sz="1799" spc="55">
                <a:solidFill>
                  <a:srgbClr val="000000"/>
                </a:solidFill>
                <a:latin typeface="Montserrat"/>
                <a:ea typeface="Montserrat"/>
                <a:cs typeface="Montserrat"/>
                <a:sym typeface="Montserrat"/>
              </a:rPr>
              <a:t>Mehdad Hajar</a:t>
            </a:r>
          </a:p>
          <a:p>
            <a:pPr algn="ctr">
              <a:lnSpc>
                <a:spcPts val="2519"/>
              </a:lnSpc>
              <a:spcBef>
                <a:spcPct val="0"/>
              </a:spcBef>
            </a:pPr>
            <a:r>
              <a:rPr lang="en-US" sz="1799" spc="55">
                <a:solidFill>
                  <a:srgbClr val="000000"/>
                </a:solidFill>
                <a:latin typeface="Montserrat"/>
                <a:ea typeface="Montserrat"/>
                <a:cs typeface="Montserrat"/>
                <a:sym typeface="Montserrat"/>
              </a:rPr>
              <a:t>Niaaniaa Salma  </a:t>
            </a:r>
          </a:p>
          <a:p>
            <a:pPr algn="ctr">
              <a:lnSpc>
                <a:spcPts val="2519"/>
              </a:lnSpc>
              <a:spcBef>
                <a:spcPct val="0"/>
              </a:spcBef>
            </a:pPr>
            <a:r>
              <a:rPr lang="en-US" sz="1799" spc="55">
                <a:solidFill>
                  <a:srgbClr val="000000"/>
                </a:solidFill>
                <a:latin typeface="Montserrat"/>
                <a:ea typeface="Montserrat"/>
                <a:cs typeface="Montserrat"/>
                <a:sym typeface="Montserrat"/>
              </a:rPr>
              <a:t>Nora El-Fettouchi</a:t>
            </a:r>
          </a:p>
        </p:txBody>
      </p:sp>
      <p:sp>
        <p:nvSpPr>
          <p:cNvPr name="TextBox 16" id="16"/>
          <p:cNvSpPr txBox="true"/>
          <p:nvPr/>
        </p:nvSpPr>
        <p:spPr>
          <a:xfrm rot="0">
            <a:off x="5282106" y="6389053"/>
            <a:ext cx="1660922" cy="349248"/>
          </a:xfrm>
          <a:prstGeom prst="rect">
            <a:avLst/>
          </a:prstGeom>
        </p:spPr>
        <p:txBody>
          <a:bodyPr anchor="t" rtlCol="false" tIns="0" lIns="0" bIns="0" rIns="0">
            <a:spAutoFit/>
          </a:bodyPr>
          <a:lstStyle/>
          <a:p>
            <a:pPr algn="ctr">
              <a:lnSpc>
                <a:spcPts val="2800"/>
              </a:lnSpc>
            </a:pPr>
            <a:r>
              <a:rPr lang="en-US" b="true" sz="2000" u="sng">
                <a:solidFill>
                  <a:srgbClr val="191919"/>
                </a:solidFill>
                <a:latin typeface="Open Sans Bold"/>
                <a:ea typeface="Open Sans Bold"/>
                <a:cs typeface="Open Sans Bold"/>
                <a:sym typeface="Open Sans Bold"/>
              </a:rPr>
              <a:t>encadré par :</a:t>
            </a:r>
          </a:p>
        </p:txBody>
      </p:sp>
      <p:sp>
        <p:nvSpPr>
          <p:cNvPr name="TextBox 17" id="17"/>
          <p:cNvSpPr txBox="true"/>
          <p:nvPr/>
        </p:nvSpPr>
        <p:spPr>
          <a:xfrm rot="0">
            <a:off x="5066335" y="6962983"/>
            <a:ext cx="2284571" cy="306705"/>
          </a:xfrm>
          <a:prstGeom prst="rect">
            <a:avLst/>
          </a:prstGeom>
        </p:spPr>
        <p:txBody>
          <a:bodyPr anchor="t" rtlCol="false" tIns="0" lIns="0" bIns="0" rIns="0">
            <a:spAutoFit/>
          </a:bodyPr>
          <a:lstStyle/>
          <a:p>
            <a:pPr algn="ctr">
              <a:lnSpc>
                <a:spcPts val="2519"/>
              </a:lnSpc>
            </a:pPr>
            <a:r>
              <a:rPr lang="en-US" sz="1799">
                <a:solidFill>
                  <a:srgbClr val="000000"/>
                </a:solidFill>
                <a:latin typeface="Montserrat"/>
                <a:ea typeface="Montserrat"/>
                <a:cs typeface="Montserrat"/>
                <a:sym typeface="Montserrat"/>
              </a:rPr>
              <a:t>M. Abdelwahab Naji</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FFFFB"/>
        </a:solidFill>
      </p:bgPr>
    </p:bg>
    <p:spTree>
      <p:nvGrpSpPr>
        <p:cNvPr id="1" name=""/>
        <p:cNvGrpSpPr/>
        <p:nvPr/>
      </p:nvGrpSpPr>
      <p:grpSpPr>
        <a:xfrm>
          <a:off x="0" y="0"/>
          <a:ext cx="0" cy="0"/>
          <a:chOff x="0" y="0"/>
          <a:chExt cx="0" cy="0"/>
        </a:xfrm>
      </p:grpSpPr>
      <p:grpSp>
        <p:nvGrpSpPr>
          <p:cNvPr name="Group 2" id="2"/>
          <p:cNvGrpSpPr/>
          <p:nvPr/>
        </p:nvGrpSpPr>
        <p:grpSpPr>
          <a:xfrm rot="0">
            <a:off x="13033625" y="-2972086"/>
            <a:ext cx="5657850" cy="565785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sp>
        <p:sp>
          <p:nvSpPr>
            <p:cNvPr name="TextBox 4" id="4"/>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5" id="5"/>
          <p:cNvGrpSpPr/>
          <p:nvPr/>
        </p:nvGrpSpPr>
        <p:grpSpPr>
          <a:xfrm rot="0">
            <a:off x="-1390959" y="8567821"/>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sp>
        <p:sp>
          <p:nvSpPr>
            <p:cNvPr name="TextBox 7" id="7"/>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8" id="8"/>
          <p:cNvGrpSpPr/>
          <p:nvPr/>
        </p:nvGrpSpPr>
        <p:grpSpPr>
          <a:xfrm rot="0">
            <a:off x="9327121" y="1028700"/>
            <a:ext cx="654889" cy="65488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10" id="10"/>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11" id="11"/>
          <p:cNvSpPr txBox="true"/>
          <p:nvPr/>
        </p:nvSpPr>
        <p:spPr>
          <a:xfrm rot="0">
            <a:off x="5652454" y="3757886"/>
            <a:ext cx="6983093" cy="2666453"/>
          </a:xfrm>
          <a:prstGeom prst="rect">
            <a:avLst/>
          </a:prstGeom>
        </p:spPr>
        <p:txBody>
          <a:bodyPr anchor="t" rtlCol="false" tIns="0" lIns="0" bIns="0" rIns="0">
            <a:spAutoFit/>
          </a:bodyPr>
          <a:lstStyle/>
          <a:p>
            <a:pPr algn="l" marL="565238" indent="-282619" lvl="1">
              <a:lnSpc>
                <a:spcPts val="4345"/>
              </a:lnSpc>
              <a:buFont typeface="Arial"/>
              <a:buChar char="•"/>
            </a:pPr>
            <a:r>
              <a:rPr lang="en-US" sz="2618">
                <a:solidFill>
                  <a:srgbClr val="191919"/>
                </a:solidFill>
                <a:latin typeface="Open Sauce"/>
                <a:ea typeface="Open Sauce"/>
                <a:cs typeface="Open Sauce"/>
                <a:sym typeface="Open Sauce"/>
              </a:rPr>
              <a:t>Introduction</a:t>
            </a:r>
          </a:p>
          <a:p>
            <a:pPr algn="l" marL="565238" indent="-282619" lvl="1">
              <a:lnSpc>
                <a:spcPts val="4345"/>
              </a:lnSpc>
              <a:buFont typeface="Arial"/>
              <a:buChar char="•"/>
            </a:pPr>
            <a:r>
              <a:rPr lang="en-US" sz="2618">
                <a:solidFill>
                  <a:srgbClr val="191919"/>
                </a:solidFill>
                <a:latin typeface="Open Sauce"/>
                <a:ea typeface="Open Sauce"/>
                <a:cs typeface="Open Sauce"/>
                <a:sym typeface="Open Sauce"/>
              </a:rPr>
              <a:t>Définition des Structures de Données</a:t>
            </a:r>
          </a:p>
          <a:p>
            <a:pPr algn="l" marL="565238" indent="-282619" lvl="1">
              <a:lnSpc>
                <a:spcPts val="4345"/>
              </a:lnSpc>
              <a:buFont typeface="Arial"/>
              <a:buChar char="•"/>
            </a:pPr>
            <a:r>
              <a:rPr lang="en-US" sz="2618">
                <a:solidFill>
                  <a:srgbClr val="191919"/>
                </a:solidFill>
                <a:latin typeface="Open Sauce"/>
                <a:ea typeface="Open Sauce"/>
                <a:cs typeface="Open Sauce"/>
                <a:sym typeface="Open Sauce"/>
              </a:rPr>
              <a:t>Prototypes des Fonctions Utilisées</a:t>
            </a:r>
          </a:p>
          <a:p>
            <a:pPr algn="l" marL="565238" indent="-282619" lvl="1">
              <a:lnSpc>
                <a:spcPts val="4345"/>
              </a:lnSpc>
              <a:buFont typeface="Arial"/>
              <a:buChar char="•"/>
            </a:pPr>
            <a:r>
              <a:rPr lang="en-US" sz="2618">
                <a:solidFill>
                  <a:srgbClr val="191919"/>
                </a:solidFill>
                <a:latin typeface="Open Sauce"/>
                <a:ea typeface="Open Sauce"/>
                <a:cs typeface="Open Sauce"/>
                <a:sym typeface="Open Sauce"/>
              </a:rPr>
              <a:t>Difficultés Rencontrées</a:t>
            </a:r>
          </a:p>
          <a:p>
            <a:pPr algn="l" marL="565238" indent="-282619" lvl="1">
              <a:lnSpc>
                <a:spcPts val="4345"/>
              </a:lnSpc>
              <a:buFont typeface="Arial"/>
              <a:buChar char="•"/>
            </a:pPr>
            <a:r>
              <a:rPr lang="en-US" sz="2618">
                <a:solidFill>
                  <a:srgbClr val="191919"/>
                </a:solidFill>
                <a:latin typeface="Open Sauce"/>
                <a:ea typeface="Open Sauce"/>
                <a:cs typeface="Open Sauce"/>
                <a:sym typeface="Open Sauce"/>
              </a:rPr>
              <a:t>Perspectives</a:t>
            </a:r>
          </a:p>
        </p:txBody>
      </p:sp>
      <p:sp>
        <p:nvSpPr>
          <p:cNvPr name="TextBox 12" id="12"/>
          <p:cNvSpPr txBox="true"/>
          <p:nvPr/>
        </p:nvSpPr>
        <p:spPr>
          <a:xfrm rot="0">
            <a:off x="5652454" y="2752439"/>
            <a:ext cx="3226244" cy="571258"/>
          </a:xfrm>
          <a:prstGeom prst="rect">
            <a:avLst/>
          </a:prstGeom>
        </p:spPr>
        <p:txBody>
          <a:bodyPr anchor="t" rtlCol="false" tIns="0" lIns="0" bIns="0" rIns="0">
            <a:spAutoFit/>
          </a:bodyPr>
          <a:lstStyle/>
          <a:p>
            <a:pPr algn="ctr">
              <a:lnSpc>
                <a:spcPts val="4375"/>
              </a:lnSpc>
            </a:pPr>
            <a:r>
              <a:rPr lang="en-US" sz="4206" u="sng">
                <a:solidFill>
                  <a:srgbClr val="000000"/>
                </a:solidFill>
                <a:latin typeface="Chau Philomene"/>
                <a:ea typeface="Chau Philomene"/>
                <a:cs typeface="Chau Philomene"/>
                <a:sym typeface="Chau Philomene"/>
              </a:rPr>
              <a:t>SOMMAIRE</a:t>
            </a:r>
          </a:p>
        </p:txBody>
      </p:sp>
      <p:grpSp>
        <p:nvGrpSpPr>
          <p:cNvPr name="Group 13" id="13"/>
          <p:cNvGrpSpPr/>
          <p:nvPr/>
        </p:nvGrpSpPr>
        <p:grpSpPr>
          <a:xfrm rot="0">
            <a:off x="5325009" y="7912933"/>
            <a:ext cx="654889" cy="65488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15" id="15"/>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EFFFFB"/>
        </a:solidFill>
      </p:bgPr>
    </p:bg>
    <p:spTree>
      <p:nvGrpSpPr>
        <p:cNvPr id="1" name=""/>
        <p:cNvGrpSpPr/>
        <p:nvPr/>
      </p:nvGrpSpPr>
      <p:grpSpPr>
        <a:xfrm>
          <a:off x="0" y="0"/>
          <a:ext cx="0" cy="0"/>
          <a:chOff x="0" y="0"/>
          <a:chExt cx="0" cy="0"/>
        </a:xfrm>
      </p:grpSpPr>
      <p:grpSp>
        <p:nvGrpSpPr>
          <p:cNvPr name="Group 2" id="2"/>
          <p:cNvGrpSpPr/>
          <p:nvPr/>
        </p:nvGrpSpPr>
        <p:grpSpPr>
          <a:xfrm rot="0">
            <a:off x="6326610" y="1028700"/>
            <a:ext cx="5593768" cy="1428682"/>
            <a:chOff x="0" y="0"/>
            <a:chExt cx="1473256" cy="376278"/>
          </a:xfrm>
        </p:grpSpPr>
        <p:sp>
          <p:nvSpPr>
            <p:cNvPr name="Freeform 3" id="3"/>
            <p:cNvSpPr/>
            <p:nvPr/>
          </p:nvSpPr>
          <p:spPr>
            <a:xfrm flipH="false" flipV="false" rot="0">
              <a:off x="0" y="0"/>
              <a:ext cx="1473256" cy="376278"/>
            </a:xfrm>
            <a:custGeom>
              <a:avLst/>
              <a:gdLst/>
              <a:ahLst/>
              <a:cxnLst/>
              <a:rect r="r" b="b" t="t" l="l"/>
              <a:pathLst>
                <a:path h="376278" w="1473256">
                  <a:moveTo>
                    <a:pt x="34601" y="0"/>
                  </a:moveTo>
                  <a:lnTo>
                    <a:pt x="1438655" y="0"/>
                  </a:lnTo>
                  <a:cubicBezTo>
                    <a:pt x="1457765" y="0"/>
                    <a:pt x="1473256" y="15491"/>
                    <a:pt x="1473256" y="34601"/>
                  </a:cubicBezTo>
                  <a:lnTo>
                    <a:pt x="1473256" y="341678"/>
                  </a:lnTo>
                  <a:cubicBezTo>
                    <a:pt x="1473256" y="350854"/>
                    <a:pt x="1469610" y="359655"/>
                    <a:pt x="1463122" y="366144"/>
                  </a:cubicBezTo>
                  <a:cubicBezTo>
                    <a:pt x="1456633" y="372633"/>
                    <a:pt x="1447832" y="376278"/>
                    <a:pt x="1438655" y="376278"/>
                  </a:cubicBezTo>
                  <a:lnTo>
                    <a:pt x="34601" y="376278"/>
                  </a:lnTo>
                  <a:cubicBezTo>
                    <a:pt x="15491" y="376278"/>
                    <a:pt x="0" y="360787"/>
                    <a:pt x="0" y="341678"/>
                  </a:cubicBezTo>
                  <a:lnTo>
                    <a:pt x="0" y="34601"/>
                  </a:lnTo>
                  <a:cubicBezTo>
                    <a:pt x="0" y="25424"/>
                    <a:pt x="3645" y="16623"/>
                    <a:pt x="10134" y="10134"/>
                  </a:cubicBezTo>
                  <a:cubicBezTo>
                    <a:pt x="16623" y="3645"/>
                    <a:pt x="25424" y="0"/>
                    <a:pt x="34601" y="0"/>
                  </a:cubicBezTo>
                  <a:close/>
                </a:path>
              </a:pathLst>
            </a:custGeom>
            <a:solidFill>
              <a:srgbClr val="106861"/>
            </a:solidFill>
            <a:ln cap="rnd">
              <a:noFill/>
              <a:prstDash val="solid"/>
              <a:round/>
            </a:ln>
          </p:spPr>
        </p:sp>
        <p:sp>
          <p:nvSpPr>
            <p:cNvPr name="TextBox 4" id="4"/>
            <p:cNvSpPr txBox="true"/>
            <p:nvPr/>
          </p:nvSpPr>
          <p:spPr>
            <a:xfrm>
              <a:off x="0" y="-19050"/>
              <a:ext cx="1473256" cy="395328"/>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5" id="5"/>
          <p:cNvSpPr txBox="true"/>
          <p:nvPr/>
        </p:nvSpPr>
        <p:spPr>
          <a:xfrm rot="0">
            <a:off x="5669478" y="1101760"/>
            <a:ext cx="6928538" cy="1158738"/>
          </a:xfrm>
          <a:prstGeom prst="rect">
            <a:avLst/>
          </a:prstGeom>
        </p:spPr>
        <p:txBody>
          <a:bodyPr anchor="t" rtlCol="false" tIns="0" lIns="0" bIns="0" rIns="0">
            <a:spAutoFit/>
          </a:bodyPr>
          <a:lstStyle/>
          <a:p>
            <a:pPr algn="ctr" marL="0" indent="0" lvl="0">
              <a:lnSpc>
                <a:spcPts val="9582"/>
              </a:lnSpc>
              <a:spcBef>
                <a:spcPct val="0"/>
              </a:spcBef>
            </a:pPr>
            <a:r>
              <a:rPr lang="en-US" b="true" sz="6844" spc="-136">
                <a:solidFill>
                  <a:srgbClr val="FDFBFB"/>
                </a:solidFill>
                <a:latin typeface="Open Sauce Bold"/>
                <a:ea typeface="Open Sauce Bold"/>
                <a:cs typeface="Open Sauce Bold"/>
                <a:sym typeface="Open Sauce Bold"/>
              </a:rPr>
              <a:t>Introduction</a:t>
            </a:r>
          </a:p>
        </p:txBody>
      </p:sp>
      <p:grpSp>
        <p:nvGrpSpPr>
          <p:cNvPr name="Group 6" id="6"/>
          <p:cNvGrpSpPr/>
          <p:nvPr/>
        </p:nvGrpSpPr>
        <p:grpSpPr>
          <a:xfrm rot="0">
            <a:off x="16113923" y="9258300"/>
            <a:ext cx="327444" cy="32744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8" id="8"/>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9" id="9"/>
          <p:cNvGrpSpPr/>
          <p:nvPr/>
        </p:nvGrpSpPr>
        <p:grpSpPr>
          <a:xfrm rot="0">
            <a:off x="15648108" y="9258300"/>
            <a:ext cx="327444" cy="32744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11" id="11"/>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12" id="12"/>
          <p:cNvGrpSpPr/>
          <p:nvPr/>
        </p:nvGrpSpPr>
        <p:grpSpPr>
          <a:xfrm rot="0">
            <a:off x="15161723" y="9258300"/>
            <a:ext cx="327444" cy="32744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14" id="14"/>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15" id="15"/>
          <p:cNvSpPr txBox="true"/>
          <p:nvPr/>
        </p:nvSpPr>
        <p:spPr>
          <a:xfrm rot="0">
            <a:off x="2696576" y="3651946"/>
            <a:ext cx="12874342" cy="3257550"/>
          </a:xfrm>
          <a:prstGeom prst="rect">
            <a:avLst/>
          </a:prstGeom>
        </p:spPr>
        <p:txBody>
          <a:bodyPr anchor="t" rtlCol="false" tIns="0" lIns="0" bIns="0" rIns="0">
            <a:spAutoFit/>
          </a:bodyPr>
          <a:lstStyle/>
          <a:p>
            <a:pPr algn="ctr">
              <a:lnSpc>
                <a:spcPts val="3749"/>
              </a:lnSpc>
            </a:pPr>
            <a:r>
              <a:rPr lang="en-US" sz="2499">
                <a:solidFill>
                  <a:srgbClr val="000000"/>
                </a:solidFill>
                <a:latin typeface="Aleo"/>
                <a:ea typeface="Aleo"/>
                <a:cs typeface="Aleo"/>
                <a:sym typeface="Aleo"/>
              </a:rPr>
              <a:t>L'agriculture est un secteur vital pour répondre aux besoins alimentaires de la population mondiale croissante. Cependant, les défis liés à l'efficacité des ressources, comme l'eau et l'énergie, ainsi que les conditions climatiques imprévisibles, rendent la gestion des fermes de plus en plus complexe. Dans ce contexte, les technologies d'agriculture intelligente, qui utilisent des capteurs et des systèmes automatisés, offrent une solution prometteuse. Notre projet s'inscrit dans ce cadre en cherchant à développer un système de gestion de ferme basé sur des capteurs connectés et des algorithmes de gestion des ressources.</a:t>
            </a:r>
          </a:p>
        </p:txBody>
      </p:sp>
      <p:grpSp>
        <p:nvGrpSpPr>
          <p:cNvPr name="Group 16" id="16"/>
          <p:cNvGrpSpPr/>
          <p:nvPr/>
        </p:nvGrpSpPr>
        <p:grpSpPr>
          <a:xfrm rot="0">
            <a:off x="-1390959" y="8567821"/>
            <a:ext cx="3086100" cy="308610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sp>
        <p:sp>
          <p:nvSpPr>
            <p:cNvPr name="TextBox 18" id="18"/>
            <p:cNvSpPr txBox="true"/>
            <p:nvPr/>
          </p:nvSpPr>
          <p:spPr>
            <a:xfrm>
              <a:off x="76200" y="57150"/>
              <a:ext cx="660400" cy="679450"/>
            </a:xfrm>
            <a:prstGeom prst="rect">
              <a:avLst/>
            </a:prstGeom>
          </p:spPr>
          <p:txBody>
            <a:bodyPr anchor="ctr" rtlCol="false" tIns="50800" lIns="50800" bIns="50800" rIns="50800"/>
            <a:lstStyle/>
            <a:p>
              <a:pPr algn="ctr" marL="0" indent="0" lvl="0">
                <a:lnSpc>
                  <a:spcPts val="2859"/>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EFFFFB"/>
        </a:solidFill>
      </p:bgPr>
    </p:bg>
    <p:spTree>
      <p:nvGrpSpPr>
        <p:cNvPr id="1" name=""/>
        <p:cNvGrpSpPr/>
        <p:nvPr/>
      </p:nvGrpSpPr>
      <p:grpSpPr>
        <a:xfrm>
          <a:off x="0" y="0"/>
          <a:ext cx="0" cy="0"/>
          <a:chOff x="0" y="0"/>
          <a:chExt cx="0" cy="0"/>
        </a:xfrm>
      </p:grpSpPr>
      <p:grpSp>
        <p:nvGrpSpPr>
          <p:cNvPr name="Group 2" id="2"/>
          <p:cNvGrpSpPr/>
          <p:nvPr/>
        </p:nvGrpSpPr>
        <p:grpSpPr>
          <a:xfrm rot="0">
            <a:off x="-1997137" y="7075637"/>
            <a:ext cx="5578401" cy="557840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106861"/>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3684175" y="7005833"/>
            <a:ext cx="452472" cy="45247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8" id="8"/>
          <p:cNvGrpSpPr/>
          <p:nvPr/>
        </p:nvGrpSpPr>
        <p:grpSpPr>
          <a:xfrm rot="0">
            <a:off x="15017929" y="-2533783"/>
            <a:ext cx="5002094" cy="500209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alpha val="32941"/>
              </a:srgbClr>
            </a:solidFill>
            <a:ln w="742950" cap="sq">
              <a:solidFill>
                <a:srgbClr val="106861">
                  <a:alpha val="32941"/>
                </a:srgbClr>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1" id="11"/>
          <p:cNvGrpSpPr/>
          <p:nvPr/>
        </p:nvGrpSpPr>
        <p:grpSpPr>
          <a:xfrm rot="0">
            <a:off x="4809335" y="8388753"/>
            <a:ext cx="1183417" cy="118341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w="742950" cap="sq">
              <a:solidFill>
                <a:srgbClr val="106861"/>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TextBox 14" id="14"/>
          <p:cNvSpPr txBox="true"/>
          <p:nvPr/>
        </p:nvSpPr>
        <p:spPr>
          <a:xfrm rot="0">
            <a:off x="1028700" y="952500"/>
            <a:ext cx="7257191" cy="712470"/>
          </a:xfrm>
          <a:prstGeom prst="rect">
            <a:avLst/>
          </a:prstGeom>
        </p:spPr>
        <p:txBody>
          <a:bodyPr anchor="t" rtlCol="false" tIns="0" lIns="0" bIns="0" rIns="0">
            <a:spAutoFit/>
          </a:bodyPr>
          <a:lstStyle/>
          <a:p>
            <a:pPr algn="ctr">
              <a:lnSpc>
                <a:spcPts val="5880"/>
              </a:lnSpc>
            </a:pPr>
            <a:r>
              <a:rPr lang="en-US" sz="4200" u="sng">
                <a:solidFill>
                  <a:srgbClr val="000000"/>
                </a:solidFill>
                <a:latin typeface="Chau Philomene"/>
                <a:ea typeface="Chau Philomene"/>
                <a:cs typeface="Chau Philomene"/>
                <a:sym typeface="Chau Philomene"/>
              </a:rPr>
              <a:t>Définition du problème :</a:t>
            </a:r>
          </a:p>
        </p:txBody>
      </p:sp>
      <p:sp>
        <p:nvSpPr>
          <p:cNvPr name="TextBox 15" id="15"/>
          <p:cNvSpPr txBox="true"/>
          <p:nvPr/>
        </p:nvSpPr>
        <p:spPr>
          <a:xfrm rot="0">
            <a:off x="2091052" y="3065434"/>
            <a:ext cx="14105897" cy="3257550"/>
          </a:xfrm>
          <a:prstGeom prst="rect">
            <a:avLst/>
          </a:prstGeom>
        </p:spPr>
        <p:txBody>
          <a:bodyPr anchor="t" rtlCol="false" tIns="0" lIns="0" bIns="0" rIns="0">
            <a:spAutoFit/>
          </a:bodyPr>
          <a:lstStyle/>
          <a:p>
            <a:pPr algn="ctr">
              <a:lnSpc>
                <a:spcPts val="3749"/>
              </a:lnSpc>
            </a:pPr>
            <a:r>
              <a:rPr lang="en-US" sz="2499">
                <a:solidFill>
                  <a:srgbClr val="000000"/>
                </a:solidFill>
                <a:latin typeface="Aleo"/>
                <a:ea typeface="Aleo"/>
                <a:cs typeface="Aleo"/>
                <a:sym typeface="Aleo"/>
              </a:rPr>
              <a:t>Dans les fermes traditionnelles, il est souvent difficile de surveiller et de gérer efficacement les ressources telles que l'eau et l'énergie. Par exemple, l'irrigation peut être activée même lorsque le sol est déjà suffisamment humide, ce qui entraîne un gaspillage d'eau. De plus, les agriculteurs doivent souvent se rendre physiquement sur place pour vérifier les conditions des champs, ce qui est inefficace en termes de temps et d'efforts. Ce projet vise à résoudre ce problème en développant une solution automatisée et connectée basée sur des capteurs pour surveiller l'humidité, la température et d'autres variables, afin de réduire le gaspillage de ressources et d'améliorer l'efficacité.</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grpSp>
        <p:nvGrpSpPr>
          <p:cNvPr name="Group 2" id="2"/>
          <p:cNvGrpSpPr/>
          <p:nvPr/>
        </p:nvGrpSpPr>
        <p:grpSpPr>
          <a:xfrm rot="0">
            <a:off x="420250" y="386886"/>
            <a:ext cx="9822743" cy="1283627"/>
            <a:chOff x="0" y="0"/>
            <a:chExt cx="2098032" cy="274169"/>
          </a:xfrm>
        </p:grpSpPr>
        <p:sp>
          <p:nvSpPr>
            <p:cNvPr name="Freeform 3" id="3"/>
            <p:cNvSpPr/>
            <p:nvPr/>
          </p:nvSpPr>
          <p:spPr>
            <a:xfrm flipH="false" flipV="false" rot="0">
              <a:off x="0" y="0"/>
              <a:ext cx="2098032" cy="274169"/>
            </a:xfrm>
            <a:custGeom>
              <a:avLst/>
              <a:gdLst/>
              <a:ahLst/>
              <a:cxnLst/>
              <a:rect r="r" b="b" t="t" l="l"/>
              <a:pathLst>
                <a:path h="274169" w="2098032">
                  <a:moveTo>
                    <a:pt x="0" y="0"/>
                  </a:moveTo>
                  <a:lnTo>
                    <a:pt x="2098032" y="0"/>
                  </a:lnTo>
                  <a:lnTo>
                    <a:pt x="2098032" y="274169"/>
                  </a:lnTo>
                  <a:lnTo>
                    <a:pt x="0" y="274169"/>
                  </a:lnTo>
                  <a:close/>
                </a:path>
              </a:pathLst>
            </a:custGeom>
            <a:solidFill>
              <a:srgbClr val="AEEA00">
                <a:alpha val="49804"/>
              </a:srgbClr>
            </a:solidFill>
          </p:spPr>
        </p:sp>
      </p:grpSp>
      <p:sp>
        <p:nvSpPr>
          <p:cNvPr name="TextBox 4" id="4"/>
          <p:cNvSpPr txBox="true"/>
          <p:nvPr/>
        </p:nvSpPr>
        <p:spPr>
          <a:xfrm rot="0">
            <a:off x="556831" y="388073"/>
            <a:ext cx="9185702" cy="1540123"/>
          </a:xfrm>
          <a:prstGeom prst="rect">
            <a:avLst/>
          </a:prstGeom>
        </p:spPr>
        <p:txBody>
          <a:bodyPr anchor="t" rtlCol="false" tIns="0" lIns="0" bIns="0" rIns="0">
            <a:spAutoFit/>
          </a:bodyPr>
          <a:lstStyle/>
          <a:p>
            <a:pPr algn="l" marL="0" indent="0" lvl="0">
              <a:lnSpc>
                <a:spcPts val="6211"/>
              </a:lnSpc>
              <a:spcBef>
                <a:spcPct val="0"/>
              </a:spcBef>
            </a:pPr>
            <a:r>
              <a:rPr lang="en-US" b="true" sz="4436" spc="-88">
                <a:solidFill>
                  <a:srgbClr val="000000"/>
                </a:solidFill>
                <a:latin typeface="Open Sauce Bold"/>
                <a:ea typeface="Open Sauce Bold"/>
                <a:cs typeface="Open Sauce Bold"/>
                <a:sym typeface="Open Sauce Bold"/>
              </a:rPr>
              <a:t>DÉFINITION DES STRUCTURES DE DONNÉES </a:t>
            </a:r>
          </a:p>
        </p:txBody>
      </p:sp>
      <p:grpSp>
        <p:nvGrpSpPr>
          <p:cNvPr name="Group 5" id="5"/>
          <p:cNvGrpSpPr/>
          <p:nvPr/>
        </p:nvGrpSpPr>
        <p:grpSpPr>
          <a:xfrm rot="-10800000">
            <a:off x="5818101" y="3533019"/>
            <a:ext cx="6099348" cy="4891757"/>
            <a:chOff x="0" y="0"/>
            <a:chExt cx="3119392" cy="2501793"/>
          </a:xfrm>
        </p:grpSpPr>
        <p:sp>
          <p:nvSpPr>
            <p:cNvPr name="Freeform 6" id="6"/>
            <p:cNvSpPr/>
            <p:nvPr/>
          </p:nvSpPr>
          <p:spPr>
            <a:xfrm flipH="false" flipV="false" rot="0">
              <a:off x="0" y="0"/>
              <a:ext cx="3119392" cy="2501793"/>
            </a:xfrm>
            <a:custGeom>
              <a:avLst/>
              <a:gdLst/>
              <a:ahLst/>
              <a:cxnLst/>
              <a:rect r="r" b="b" t="t" l="l"/>
              <a:pathLst>
                <a:path h="2501793" w="3119392">
                  <a:moveTo>
                    <a:pt x="40618" y="0"/>
                  </a:moveTo>
                  <a:lnTo>
                    <a:pt x="3078774" y="0"/>
                  </a:lnTo>
                  <a:cubicBezTo>
                    <a:pt x="3089546" y="0"/>
                    <a:pt x="3099878" y="4279"/>
                    <a:pt x="3107495" y="11897"/>
                  </a:cubicBezTo>
                  <a:cubicBezTo>
                    <a:pt x="3115112" y="19514"/>
                    <a:pt x="3119392" y="29845"/>
                    <a:pt x="3119392" y="40618"/>
                  </a:cubicBezTo>
                  <a:lnTo>
                    <a:pt x="3119392" y="2461175"/>
                  </a:lnTo>
                  <a:cubicBezTo>
                    <a:pt x="3119392" y="2483608"/>
                    <a:pt x="3101207" y="2501793"/>
                    <a:pt x="3078774" y="2501793"/>
                  </a:cubicBezTo>
                  <a:lnTo>
                    <a:pt x="40618" y="2501793"/>
                  </a:lnTo>
                  <a:cubicBezTo>
                    <a:pt x="18185" y="2501793"/>
                    <a:pt x="0" y="2483608"/>
                    <a:pt x="0" y="2461175"/>
                  </a:cubicBezTo>
                  <a:lnTo>
                    <a:pt x="0" y="40618"/>
                  </a:lnTo>
                  <a:cubicBezTo>
                    <a:pt x="0" y="18185"/>
                    <a:pt x="18185" y="0"/>
                    <a:pt x="40618" y="0"/>
                  </a:cubicBezTo>
                  <a:close/>
                </a:path>
              </a:pathLst>
            </a:custGeom>
            <a:solidFill>
              <a:srgbClr val="FFFFFF"/>
            </a:solidFill>
            <a:ln w="123825" cap="rnd">
              <a:solidFill>
                <a:srgbClr val="106861"/>
              </a:solidFill>
              <a:prstDash val="solid"/>
              <a:round/>
            </a:ln>
          </p:spPr>
        </p:sp>
        <p:sp>
          <p:nvSpPr>
            <p:cNvPr name="TextBox 7" id="7"/>
            <p:cNvSpPr txBox="true"/>
            <p:nvPr/>
          </p:nvSpPr>
          <p:spPr>
            <a:xfrm>
              <a:off x="0" y="-38100"/>
              <a:ext cx="3119392" cy="2539893"/>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8" id="8"/>
          <p:cNvGrpSpPr/>
          <p:nvPr/>
        </p:nvGrpSpPr>
        <p:grpSpPr>
          <a:xfrm rot="-10800000">
            <a:off x="12299478" y="3736042"/>
            <a:ext cx="5318924" cy="4528253"/>
            <a:chOff x="0" y="0"/>
            <a:chExt cx="2876077" cy="2448541"/>
          </a:xfrm>
        </p:grpSpPr>
        <p:sp>
          <p:nvSpPr>
            <p:cNvPr name="Freeform 9" id="9"/>
            <p:cNvSpPr/>
            <p:nvPr/>
          </p:nvSpPr>
          <p:spPr>
            <a:xfrm flipH="false" flipV="false" rot="0">
              <a:off x="0" y="0"/>
              <a:ext cx="2876077" cy="2448541"/>
            </a:xfrm>
            <a:custGeom>
              <a:avLst/>
              <a:gdLst/>
              <a:ahLst/>
              <a:cxnLst/>
              <a:rect r="r" b="b" t="t" l="l"/>
              <a:pathLst>
                <a:path h="2448541" w="2876077">
                  <a:moveTo>
                    <a:pt x="46577" y="0"/>
                  </a:moveTo>
                  <a:lnTo>
                    <a:pt x="2829500" y="0"/>
                  </a:lnTo>
                  <a:cubicBezTo>
                    <a:pt x="2855224" y="0"/>
                    <a:pt x="2876077" y="20853"/>
                    <a:pt x="2876077" y="46577"/>
                  </a:cubicBezTo>
                  <a:lnTo>
                    <a:pt x="2876077" y="2401964"/>
                  </a:lnTo>
                  <a:cubicBezTo>
                    <a:pt x="2876077" y="2427688"/>
                    <a:pt x="2855224" y="2448541"/>
                    <a:pt x="2829500" y="2448541"/>
                  </a:cubicBezTo>
                  <a:lnTo>
                    <a:pt x="46577" y="2448541"/>
                  </a:lnTo>
                  <a:cubicBezTo>
                    <a:pt x="20853" y="2448541"/>
                    <a:pt x="0" y="2427688"/>
                    <a:pt x="0" y="2401964"/>
                  </a:cubicBezTo>
                  <a:lnTo>
                    <a:pt x="0" y="46577"/>
                  </a:lnTo>
                  <a:cubicBezTo>
                    <a:pt x="0" y="20853"/>
                    <a:pt x="20853" y="0"/>
                    <a:pt x="46577" y="0"/>
                  </a:cubicBezTo>
                  <a:close/>
                </a:path>
              </a:pathLst>
            </a:custGeom>
            <a:solidFill>
              <a:srgbClr val="FFFFFF"/>
            </a:solidFill>
            <a:ln w="123825" cap="rnd">
              <a:solidFill>
                <a:srgbClr val="106861"/>
              </a:solidFill>
              <a:prstDash val="solid"/>
              <a:round/>
            </a:ln>
          </p:spPr>
        </p:sp>
        <p:sp>
          <p:nvSpPr>
            <p:cNvPr name="TextBox 10" id="10"/>
            <p:cNvSpPr txBox="true"/>
            <p:nvPr/>
          </p:nvSpPr>
          <p:spPr>
            <a:xfrm>
              <a:off x="0" y="-38100"/>
              <a:ext cx="2876077" cy="2486641"/>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1" id="11"/>
          <p:cNvSpPr/>
          <p:nvPr/>
        </p:nvSpPr>
        <p:spPr>
          <a:xfrm flipH="false" flipV="false" rot="0">
            <a:off x="6045706" y="3707746"/>
            <a:ext cx="5644139" cy="4438179"/>
          </a:xfrm>
          <a:custGeom>
            <a:avLst/>
            <a:gdLst/>
            <a:ahLst/>
            <a:cxnLst/>
            <a:rect r="r" b="b" t="t" l="l"/>
            <a:pathLst>
              <a:path h="4438179" w="5644139">
                <a:moveTo>
                  <a:pt x="0" y="0"/>
                </a:moveTo>
                <a:lnTo>
                  <a:pt x="5644138" y="0"/>
                </a:lnTo>
                <a:lnTo>
                  <a:pt x="5644138" y="4438179"/>
                </a:lnTo>
                <a:lnTo>
                  <a:pt x="0" y="4438179"/>
                </a:lnTo>
                <a:lnTo>
                  <a:pt x="0" y="0"/>
                </a:lnTo>
                <a:close/>
              </a:path>
            </a:pathLst>
          </a:custGeom>
          <a:blipFill>
            <a:blip r:embed="rId2"/>
            <a:stretch>
              <a:fillRect l="-2523" t="0" r="-774" b="0"/>
            </a:stretch>
          </a:blipFill>
        </p:spPr>
      </p:sp>
      <p:sp>
        <p:nvSpPr>
          <p:cNvPr name="Freeform 12" id="12"/>
          <p:cNvSpPr/>
          <p:nvPr/>
        </p:nvSpPr>
        <p:spPr>
          <a:xfrm flipH="false" flipV="false" rot="0">
            <a:off x="12688827" y="4072126"/>
            <a:ext cx="4540226" cy="3856085"/>
          </a:xfrm>
          <a:custGeom>
            <a:avLst/>
            <a:gdLst/>
            <a:ahLst/>
            <a:cxnLst/>
            <a:rect r="r" b="b" t="t" l="l"/>
            <a:pathLst>
              <a:path h="3856085" w="4540226">
                <a:moveTo>
                  <a:pt x="0" y="0"/>
                </a:moveTo>
                <a:lnTo>
                  <a:pt x="4540226" y="0"/>
                </a:lnTo>
                <a:lnTo>
                  <a:pt x="4540226" y="3856085"/>
                </a:lnTo>
                <a:lnTo>
                  <a:pt x="0" y="3856085"/>
                </a:lnTo>
                <a:lnTo>
                  <a:pt x="0" y="0"/>
                </a:lnTo>
                <a:close/>
              </a:path>
            </a:pathLst>
          </a:custGeom>
          <a:blipFill>
            <a:blip r:embed="rId3"/>
            <a:stretch>
              <a:fillRect l="-1778" t="-2093" r="0" b="0"/>
            </a:stretch>
          </a:blipFill>
        </p:spPr>
      </p:sp>
      <p:sp>
        <p:nvSpPr>
          <p:cNvPr name="TextBox 13" id="13"/>
          <p:cNvSpPr txBox="true"/>
          <p:nvPr/>
        </p:nvSpPr>
        <p:spPr>
          <a:xfrm rot="0">
            <a:off x="6642397" y="2831110"/>
            <a:ext cx="4946055" cy="406146"/>
          </a:xfrm>
          <a:prstGeom prst="rect">
            <a:avLst/>
          </a:prstGeom>
        </p:spPr>
        <p:txBody>
          <a:bodyPr anchor="t" rtlCol="false" tIns="0" lIns="0" bIns="0" rIns="0">
            <a:spAutoFit/>
          </a:bodyPr>
          <a:lstStyle/>
          <a:p>
            <a:pPr algn="ctr">
              <a:lnSpc>
                <a:spcPts val="3267"/>
              </a:lnSpc>
              <a:spcBef>
                <a:spcPct val="0"/>
              </a:spcBef>
            </a:pPr>
            <a:r>
              <a:rPr lang="en-US" b="true" sz="2700" spc="83">
                <a:solidFill>
                  <a:srgbClr val="106861"/>
                </a:solidFill>
                <a:latin typeface="Open Sauce Bold"/>
                <a:ea typeface="Open Sauce Bold"/>
                <a:cs typeface="Open Sauce Bold"/>
                <a:sym typeface="Open Sauce Bold"/>
              </a:rPr>
              <a:t>2. Structure serre et serres</a:t>
            </a:r>
          </a:p>
        </p:txBody>
      </p:sp>
      <p:sp>
        <p:nvSpPr>
          <p:cNvPr name="TextBox 14" id="14"/>
          <p:cNvSpPr txBox="true"/>
          <p:nvPr/>
        </p:nvSpPr>
        <p:spPr>
          <a:xfrm rot="0">
            <a:off x="12630504" y="2831110"/>
            <a:ext cx="4884341" cy="815721"/>
          </a:xfrm>
          <a:prstGeom prst="rect">
            <a:avLst/>
          </a:prstGeom>
        </p:spPr>
        <p:txBody>
          <a:bodyPr anchor="t" rtlCol="false" tIns="0" lIns="0" bIns="0" rIns="0">
            <a:spAutoFit/>
          </a:bodyPr>
          <a:lstStyle/>
          <a:p>
            <a:pPr algn="ctr">
              <a:lnSpc>
                <a:spcPts val="3267"/>
              </a:lnSpc>
            </a:pPr>
            <a:r>
              <a:rPr lang="en-US" b="true" sz="2700" spc="83">
                <a:solidFill>
                  <a:srgbClr val="106861"/>
                </a:solidFill>
                <a:latin typeface="Open Sauce Bold"/>
                <a:ea typeface="Open Sauce Bold"/>
                <a:cs typeface="Open Sauce Bold"/>
                <a:sym typeface="Open Sauce Bold"/>
              </a:rPr>
              <a:t>3. Structure champ_ouvert </a:t>
            </a:r>
          </a:p>
          <a:p>
            <a:pPr algn="ctr">
              <a:lnSpc>
                <a:spcPts val="3267"/>
              </a:lnSpc>
              <a:spcBef>
                <a:spcPct val="0"/>
              </a:spcBef>
            </a:pPr>
            <a:r>
              <a:rPr lang="en-US" b="true" sz="2700" spc="83">
                <a:solidFill>
                  <a:srgbClr val="106861"/>
                </a:solidFill>
                <a:latin typeface="Open Sauce Bold"/>
                <a:ea typeface="Open Sauce Bold"/>
                <a:cs typeface="Open Sauce Bold"/>
                <a:sym typeface="Open Sauce Bold"/>
              </a:rPr>
              <a:t>et champs</a:t>
            </a:r>
          </a:p>
        </p:txBody>
      </p:sp>
      <p:grpSp>
        <p:nvGrpSpPr>
          <p:cNvPr name="Group 15" id="15"/>
          <p:cNvGrpSpPr/>
          <p:nvPr/>
        </p:nvGrpSpPr>
        <p:grpSpPr>
          <a:xfrm rot="-10800000">
            <a:off x="632009" y="4025871"/>
            <a:ext cx="4753616" cy="2919675"/>
            <a:chOff x="0" y="0"/>
            <a:chExt cx="2525666" cy="1551266"/>
          </a:xfrm>
        </p:grpSpPr>
        <p:sp>
          <p:nvSpPr>
            <p:cNvPr name="Freeform 16" id="16"/>
            <p:cNvSpPr/>
            <p:nvPr/>
          </p:nvSpPr>
          <p:spPr>
            <a:xfrm flipH="false" flipV="false" rot="0">
              <a:off x="0" y="0"/>
              <a:ext cx="2525666" cy="1551266"/>
            </a:xfrm>
            <a:custGeom>
              <a:avLst/>
              <a:gdLst/>
              <a:ahLst/>
              <a:cxnLst/>
              <a:rect r="r" b="b" t="t" l="l"/>
              <a:pathLst>
                <a:path h="1551266" w="2525666">
                  <a:moveTo>
                    <a:pt x="52116" y="0"/>
                  </a:moveTo>
                  <a:lnTo>
                    <a:pt x="2473550" y="0"/>
                  </a:lnTo>
                  <a:cubicBezTo>
                    <a:pt x="2487372" y="0"/>
                    <a:pt x="2500628" y="5491"/>
                    <a:pt x="2510401" y="15265"/>
                  </a:cubicBezTo>
                  <a:cubicBezTo>
                    <a:pt x="2520175" y="25038"/>
                    <a:pt x="2525666" y="38294"/>
                    <a:pt x="2525666" y="52116"/>
                  </a:cubicBezTo>
                  <a:lnTo>
                    <a:pt x="2525666" y="1499150"/>
                  </a:lnTo>
                  <a:cubicBezTo>
                    <a:pt x="2525666" y="1512972"/>
                    <a:pt x="2520175" y="1526228"/>
                    <a:pt x="2510401" y="1536002"/>
                  </a:cubicBezTo>
                  <a:cubicBezTo>
                    <a:pt x="2500628" y="1545775"/>
                    <a:pt x="2487372" y="1551266"/>
                    <a:pt x="2473550" y="1551266"/>
                  </a:cubicBezTo>
                  <a:lnTo>
                    <a:pt x="52116" y="1551266"/>
                  </a:lnTo>
                  <a:cubicBezTo>
                    <a:pt x="38294" y="1551266"/>
                    <a:pt x="25038" y="1545775"/>
                    <a:pt x="15265" y="1536002"/>
                  </a:cubicBezTo>
                  <a:cubicBezTo>
                    <a:pt x="5491" y="1526228"/>
                    <a:pt x="0" y="1512972"/>
                    <a:pt x="0" y="1499150"/>
                  </a:cubicBezTo>
                  <a:lnTo>
                    <a:pt x="0" y="52116"/>
                  </a:lnTo>
                  <a:cubicBezTo>
                    <a:pt x="0" y="38294"/>
                    <a:pt x="5491" y="25038"/>
                    <a:pt x="15265" y="15265"/>
                  </a:cubicBezTo>
                  <a:cubicBezTo>
                    <a:pt x="25038" y="5491"/>
                    <a:pt x="38294" y="0"/>
                    <a:pt x="52116" y="0"/>
                  </a:cubicBezTo>
                  <a:close/>
                </a:path>
              </a:pathLst>
            </a:custGeom>
            <a:solidFill>
              <a:srgbClr val="FFFFFF"/>
            </a:solidFill>
            <a:ln w="123825" cap="rnd">
              <a:solidFill>
                <a:srgbClr val="106861"/>
              </a:solidFill>
              <a:prstDash val="solid"/>
              <a:round/>
            </a:ln>
          </p:spPr>
        </p:sp>
        <p:sp>
          <p:nvSpPr>
            <p:cNvPr name="TextBox 17" id="17"/>
            <p:cNvSpPr txBox="true"/>
            <p:nvPr/>
          </p:nvSpPr>
          <p:spPr>
            <a:xfrm>
              <a:off x="0" y="-38100"/>
              <a:ext cx="2525666" cy="1589366"/>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8" id="18"/>
          <p:cNvSpPr/>
          <p:nvPr/>
        </p:nvSpPr>
        <p:spPr>
          <a:xfrm flipH="false" flipV="false" rot="0">
            <a:off x="954344" y="4348515"/>
            <a:ext cx="4108946" cy="2274387"/>
          </a:xfrm>
          <a:custGeom>
            <a:avLst/>
            <a:gdLst/>
            <a:ahLst/>
            <a:cxnLst/>
            <a:rect r="r" b="b" t="t" l="l"/>
            <a:pathLst>
              <a:path h="2274387" w="4108946">
                <a:moveTo>
                  <a:pt x="0" y="0"/>
                </a:moveTo>
                <a:lnTo>
                  <a:pt x="4108946" y="0"/>
                </a:lnTo>
                <a:lnTo>
                  <a:pt x="4108946" y="2274387"/>
                </a:lnTo>
                <a:lnTo>
                  <a:pt x="0" y="2274387"/>
                </a:lnTo>
                <a:lnTo>
                  <a:pt x="0" y="0"/>
                </a:lnTo>
                <a:close/>
              </a:path>
            </a:pathLst>
          </a:custGeom>
          <a:blipFill>
            <a:blip r:embed="rId4"/>
            <a:stretch>
              <a:fillRect l="-312" t="0" r="-7057" b="0"/>
            </a:stretch>
          </a:blipFill>
        </p:spPr>
      </p:sp>
      <p:sp>
        <p:nvSpPr>
          <p:cNvPr name="TextBox 19" id="19"/>
          <p:cNvSpPr txBox="true"/>
          <p:nvPr/>
        </p:nvSpPr>
        <p:spPr>
          <a:xfrm rot="0">
            <a:off x="1250754" y="2948458"/>
            <a:ext cx="3458975" cy="806001"/>
          </a:xfrm>
          <a:prstGeom prst="rect">
            <a:avLst/>
          </a:prstGeom>
        </p:spPr>
        <p:txBody>
          <a:bodyPr anchor="t" rtlCol="false" tIns="0" lIns="0" bIns="0" rIns="0">
            <a:spAutoFit/>
          </a:bodyPr>
          <a:lstStyle/>
          <a:p>
            <a:pPr algn="ctr">
              <a:lnSpc>
                <a:spcPts val="3269"/>
              </a:lnSpc>
              <a:spcBef>
                <a:spcPct val="0"/>
              </a:spcBef>
            </a:pPr>
            <a:r>
              <a:rPr lang="en-US" b="true" sz="2702" spc="83">
                <a:solidFill>
                  <a:srgbClr val="106861"/>
                </a:solidFill>
                <a:latin typeface="Open Sauce Bold"/>
                <a:ea typeface="Open Sauce Bold"/>
                <a:cs typeface="Open Sauce Bold"/>
                <a:sym typeface="Open Sauce Bold"/>
              </a:rPr>
              <a:t>1.</a:t>
            </a:r>
            <a:r>
              <a:rPr lang="en-US" b="true" sz="2702" spc="83">
                <a:solidFill>
                  <a:srgbClr val="106861"/>
                </a:solidFill>
                <a:latin typeface="Open Sauce Bold"/>
                <a:ea typeface="Open Sauce Bold"/>
                <a:cs typeface="Open Sauce Bold"/>
                <a:sym typeface="Open Sauce Bold"/>
              </a:rPr>
              <a:t>Structure capteur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grpSp>
        <p:nvGrpSpPr>
          <p:cNvPr name="Group 2" id="2"/>
          <p:cNvGrpSpPr/>
          <p:nvPr/>
        </p:nvGrpSpPr>
        <p:grpSpPr>
          <a:xfrm rot="363053">
            <a:off x="-3968507" y="-3406381"/>
            <a:ext cx="5578401" cy="557840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363053">
            <a:off x="2202786" y="-346776"/>
            <a:ext cx="1010697" cy="101069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8" id="8"/>
          <p:cNvGrpSpPr/>
          <p:nvPr/>
        </p:nvGrpSpPr>
        <p:grpSpPr>
          <a:xfrm rot="-10800000">
            <a:off x="608957" y="3242696"/>
            <a:ext cx="5636705" cy="5820075"/>
            <a:chOff x="0" y="0"/>
            <a:chExt cx="2671748" cy="2758664"/>
          </a:xfrm>
        </p:grpSpPr>
        <p:sp>
          <p:nvSpPr>
            <p:cNvPr name="Freeform 9" id="9"/>
            <p:cNvSpPr/>
            <p:nvPr/>
          </p:nvSpPr>
          <p:spPr>
            <a:xfrm flipH="false" flipV="false" rot="0">
              <a:off x="0" y="0"/>
              <a:ext cx="2671748" cy="2758664"/>
            </a:xfrm>
            <a:custGeom>
              <a:avLst/>
              <a:gdLst/>
              <a:ahLst/>
              <a:cxnLst/>
              <a:rect r="r" b="b" t="t" l="l"/>
              <a:pathLst>
                <a:path h="2758664" w="2671748">
                  <a:moveTo>
                    <a:pt x="43951" y="0"/>
                  </a:moveTo>
                  <a:lnTo>
                    <a:pt x="2627796" y="0"/>
                  </a:lnTo>
                  <a:cubicBezTo>
                    <a:pt x="2652070" y="0"/>
                    <a:pt x="2671748" y="19678"/>
                    <a:pt x="2671748" y="43951"/>
                  </a:cubicBezTo>
                  <a:lnTo>
                    <a:pt x="2671748" y="2714712"/>
                  </a:lnTo>
                  <a:cubicBezTo>
                    <a:pt x="2671748" y="2726369"/>
                    <a:pt x="2667117" y="2737548"/>
                    <a:pt x="2658875" y="2745791"/>
                  </a:cubicBezTo>
                  <a:cubicBezTo>
                    <a:pt x="2650632" y="2754033"/>
                    <a:pt x="2639453" y="2758664"/>
                    <a:pt x="2627796" y="2758664"/>
                  </a:cubicBezTo>
                  <a:lnTo>
                    <a:pt x="43951" y="2758664"/>
                  </a:lnTo>
                  <a:cubicBezTo>
                    <a:pt x="32295" y="2758664"/>
                    <a:pt x="21116" y="2754033"/>
                    <a:pt x="12873" y="2745791"/>
                  </a:cubicBezTo>
                  <a:cubicBezTo>
                    <a:pt x="4631" y="2737548"/>
                    <a:pt x="0" y="2726369"/>
                    <a:pt x="0" y="2714712"/>
                  </a:cubicBezTo>
                  <a:lnTo>
                    <a:pt x="0" y="43951"/>
                  </a:lnTo>
                  <a:cubicBezTo>
                    <a:pt x="0" y="19678"/>
                    <a:pt x="19678" y="0"/>
                    <a:pt x="43951" y="0"/>
                  </a:cubicBezTo>
                  <a:close/>
                </a:path>
              </a:pathLst>
            </a:custGeom>
            <a:solidFill>
              <a:srgbClr val="FFFFFF"/>
            </a:solidFill>
            <a:ln w="123825" cap="rnd">
              <a:solidFill>
                <a:srgbClr val="106861"/>
              </a:solidFill>
              <a:prstDash val="solid"/>
              <a:round/>
            </a:ln>
          </p:spPr>
        </p:sp>
        <p:sp>
          <p:nvSpPr>
            <p:cNvPr name="TextBox 10" id="10"/>
            <p:cNvSpPr txBox="true"/>
            <p:nvPr/>
          </p:nvSpPr>
          <p:spPr>
            <a:xfrm>
              <a:off x="0" y="-38100"/>
              <a:ext cx="2671748" cy="2796764"/>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1" id="11"/>
          <p:cNvGrpSpPr/>
          <p:nvPr/>
        </p:nvGrpSpPr>
        <p:grpSpPr>
          <a:xfrm rot="-10800000">
            <a:off x="12809360" y="3950592"/>
            <a:ext cx="5239174" cy="3063821"/>
            <a:chOff x="0" y="0"/>
            <a:chExt cx="2672178" cy="1562665"/>
          </a:xfrm>
        </p:grpSpPr>
        <p:sp>
          <p:nvSpPr>
            <p:cNvPr name="Freeform 12" id="12"/>
            <p:cNvSpPr/>
            <p:nvPr/>
          </p:nvSpPr>
          <p:spPr>
            <a:xfrm flipH="false" flipV="false" rot="0">
              <a:off x="0" y="0"/>
              <a:ext cx="2672179" cy="1562665"/>
            </a:xfrm>
            <a:custGeom>
              <a:avLst/>
              <a:gdLst/>
              <a:ahLst/>
              <a:cxnLst/>
              <a:rect r="r" b="b" t="t" l="l"/>
              <a:pathLst>
                <a:path h="1562665" w="2672179">
                  <a:moveTo>
                    <a:pt x="47286" y="0"/>
                  </a:moveTo>
                  <a:lnTo>
                    <a:pt x="2624892" y="0"/>
                  </a:lnTo>
                  <a:cubicBezTo>
                    <a:pt x="2637433" y="0"/>
                    <a:pt x="2649461" y="4982"/>
                    <a:pt x="2658329" y="13850"/>
                  </a:cubicBezTo>
                  <a:cubicBezTo>
                    <a:pt x="2667197" y="22718"/>
                    <a:pt x="2672179" y="34745"/>
                    <a:pt x="2672179" y="47286"/>
                  </a:cubicBezTo>
                  <a:lnTo>
                    <a:pt x="2672179" y="1515379"/>
                  </a:lnTo>
                  <a:cubicBezTo>
                    <a:pt x="2672179" y="1527920"/>
                    <a:pt x="2667197" y="1539948"/>
                    <a:pt x="2658329" y="1548816"/>
                  </a:cubicBezTo>
                  <a:cubicBezTo>
                    <a:pt x="2649461" y="1557683"/>
                    <a:pt x="2637433" y="1562665"/>
                    <a:pt x="2624892" y="1562665"/>
                  </a:cubicBezTo>
                  <a:lnTo>
                    <a:pt x="47286" y="1562665"/>
                  </a:lnTo>
                  <a:cubicBezTo>
                    <a:pt x="21171" y="1562665"/>
                    <a:pt x="0" y="1541495"/>
                    <a:pt x="0" y="1515379"/>
                  </a:cubicBezTo>
                  <a:lnTo>
                    <a:pt x="0" y="47286"/>
                  </a:lnTo>
                  <a:cubicBezTo>
                    <a:pt x="0" y="34745"/>
                    <a:pt x="4982" y="22718"/>
                    <a:pt x="13850" y="13850"/>
                  </a:cubicBezTo>
                  <a:cubicBezTo>
                    <a:pt x="22718" y="4982"/>
                    <a:pt x="34745" y="0"/>
                    <a:pt x="47286" y="0"/>
                  </a:cubicBezTo>
                  <a:close/>
                </a:path>
              </a:pathLst>
            </a:custGeom>
            <a:solidFill>
              <a:srgbClr val="FFFFFF"/>
            </a:solidFill>
            <a:ln w="123825" cap="rnd">
              <a:solidFill>
                <a:srgbClr val="106861"/>
              </a:solidFill>
              <a:prstDash val="solid"/>
              <a:round/>
            </a:ln>
          </p:spPr>
        </p:sp>
        <p:sp>
          <p:nvSpPr>
            <p:cNvPr name="TextBox 13" id="13"/>
            <p:cNvSpPr txBox="true"/>
            <p:nvPr/>
          </p:nvSpPr>
          <p:spPr>
            <a:xfrm>
              <a:off x="0" y="-38100"/>
              <a:ext cx="2672178" cy="1600765"/>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4" id="14"/>
          <p:cNvGrpSpPr/>
          <p:nvPr/>
        </p:nvGrpSpPr>
        <p:grpSpPr>
          <a:xfrm rot="-10800000">
            <a:off x="6654452" y="3622967"/>
            <a:ext cx="5708020" cy="4907132"/>
            <a:chOff x="0" y="0"/>
            <a:chExt cx="2911308" cy="2502825"/>
          </a:xfrm>
        </p:grpSpPr>
        <p:sp>
          <p:nvSpPr>
            <p:cNvPr name="Freeform 15" id="15"/>
            <p:cNvSpPr/>
            <p:nvPr/>
          </p:nvSpPr>
          <p:spPr>
            <a:xfrm flipH="false" flipV="false" rot="0">
              <a:off x="0" y="0"/>
              <a:ext cx="2911308" cy="2502825"/>
            </a:xfrm>
            <a:custGeom>
              <a:avLst/>
              <a:gdLst/>
              <a:ahLst/>
              <a:cxnLst/>
              <a:rect r="r" b="b" t="t" l="l"/>
              <a:pathLst>
                <a:path h="2502825" w="2911308">
                  <a:moveTo>
                    <a:pt x="43402" y="0"/>
                  </a:moveTo>
                  <a:lnTo>
                    <a:pt x="2867905" y="0"/>
                  </a:lnTo>
                  <a:cubicBezTo>
                    <a:pt x="2879416" y="0"/>
                    <a:pt x="2890456" y="4573"/>
                    <a:pt x="2898595" y="12712"/>
                  </a:cubicBezTo>
                  <a:cubicBezTo>
                    <a:pt x="2906735" y="20852"/>
                    <a:pt x="2911308" y="31891"/>
                    <a:pt x="2911308" y="43402"/>
                  </a:cubicBezTo>
                  <a:lnTo>
                    <a:pt x="2911308" y="2459422"/>
                  </a:lnTo>
                  <a:cubicBezTo>
                    <a:pt x="2911308" y="2483393"/>
                    <a:pt x="2891876" y="2502825"/>
                    <a:pt x="2867905" y="2502825"/>
                  </a:cubicBezTo>
                  <a:lnTo>
                    <a:pt x="43402" y="2502825"/>
                  </a:lnTo>
                  <a:cubicBezTo>
                    <a:pt x="31891" y="2502825"/>
                    <a:pt x="20852" y="2498252"/>
                    <a:pt x="12712" y="2490112"/>
                  </a:cubicBezTo>
                  <a:cubicBezTo>
                    <a:pt x="4573" y="2481973"/>
                    <a:pt x="0" y="2470933"/>
                    <a:pt x="0" y="2459422"/>
                  </a:cubicBezTo>
                  <a:lnTo>
                    <a:pt x="0" y="43402"/>
                  </a:lnTo>
                  <a:cubicBezTo>
                    <a:pt x="0" y="19432"/>
                    <a:pt x="19432" y="0"/>
                    <a:pt x="43402" y="0"/>
                  </a:cubicBezTo>
                  <a:close/>
                </a:path>
              </a:pathLst>
            </a:custGeom>
            <a:solidFill>
              <a:srgbClr val="FFFFFF"/>
            </a:solidFill>
            <a:ln w="123825" cap="rnd">
              <a:solidFill>
                <a:srgbClr val="106861"/>
              </a:solidFill>
              <a:prstDash val="solid"/>
              <a:round/>
            </a:ln>
          </p:spPr>
        </p:sp>
        <p:sp>
          <p:nvSpPr>
            <p:cNvPr name="TextBox 16" id="16"/>
            <p:cNvSpPr txBox="true"/>
            <p:nvPr/>
          </p:nvSpPr>
          <p:spPr>
            <a:xfrm>
              <a:off x="0" y="-38100"/>
              <a:ext cx="2911308" cy="2540925"/>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7" id="17"/>
          <p:cNvSpPr/>
          <p:nvPr/>
        </p:nvSpPr>
        <p:spPr>
          <a:xfrm flipH="false" flipV="false" rot="0">
            <a:off x="906265" y="3613282"/>
            <a:ext cx="4970961" cy="4816616"/>
          </a:xfrm>
          <a:custGeom>
            <a:avLst/>
            <a:gdLst/>
            <a:ahLst/>
            <a:cxnLst/>
            <a:rect r="r" b="b" t="t" l="l"/>
            <a:pathLst>
              <a:path h="4816616" w="4970961">
                <a:moveTo>
                  <a:pt x="0" y="0"/>
                </a:moveTo>
                <a:lnTo>
                  <a:pt x="4970961" y="0"/>
                </a:lnTo>
                <a:lnTo>
                  <a:pt x="4970961" y="4816616"/>
                </a:lnTo>
                <a:lnTo>
                  <a:pt x="0" y="4816616"/>
                </a:lnTo>
                <a:lnTo>
                  <a:pt x="0" y="0"/>
                </a:lnTo>
                <a:close/>
              </a:path>
            </a:pathLst>
          </a:custGeom>
          <a:blipFill>
            <a:blip r:embed="rId2"/>
            <a:stretch>
              <a:fillRect l="-2725" t="0" r="0" b="0"/>
            </a:stretch>
          </a:blipFill>
        </p:spPr>
      </p:sp>
      <p:sp>
        <p:nvSpPr>
          <p:cNvPr name="Freeform 18" id="18"/>
          <p:cNvSpPr/>
          <p:nvPr/>
        </p:nvSpPr>
        <p:spPr>
          <a:xfrm flipH="false" flipV="false" rot="0">
            <a:off x="6930805" y="3950592"/>
            <a:ext cx="5155312" cy="4183409"/>
          </a:xfrm>
          <a:custGeom>
            <a:avLst/>
            <a:gdLst/>
            <a:ahLst/>
            <a:cxnLst/>
            <a:rect r="r" b="b" t="t" l="l"/>
            <a:pathLst>
              <a:path h="4183409" w="5155312">
                <a:moveTo>
                  <a:pt x="0" y="0"/>
                </a:moveTo>
                <a:lnTo>
                  <a:pt x="5155312" y="0"/>
                </a:lnTo>
                <a:lnTo>
                  <a:pt x="5155312" y="4183409"/>
                </a:lnTo>
                <a:lnTo>
                  <a:pt x="0" y="4183409"/>
                </a:lnTo>
                <a:lnTo>
                  <a:pt x="0" y="0"/>
                </a:lnTo>
                <a:close/>
              </a:path>
            </a:pathLst>
          </a:custGeom>
          <a:blipFill>
            <a:blip r:embed="rId3"/>
            <a:stretch>
              <a:fillRect l="0" t="0" r="0" b="0"/>
            </a:stretch>
          </a:blipFill>
        </p:spPr>
      </p:sp>
      <p:sp>
        <p:nvSpPr>
          <p:cNvPr name="TextBox 19" id="19"/>
          <p:cNvSpPr txBox="true"/>
          <p:nvPr/>
        </p:nvSpPr>
        <p:spPr>
          <a:xfrm rot="0">
            <a:off x="1601510" y="1888501"/>
            <a:ext cx="4436014" cy="931545"/>
          </a:xfrm>
          <a:prstGeom prst="rect">
            <a:avLst/>
          </a:prstGeom>
        </p:spPr>
        <p:txBody>
          <a:bodyPr anchor="t" rtlCol="false" tIns="0" lIns="0" bIns="0" rIns="0">
            <a:spAutoFit/>
          </a:bodyPr>
          <a:lstStyle/>
          <a:p>
            <a:pPr algn="ctr">
              <a:lnSpc>
                <a:spcPts val="3779"/>
              </a:lnSpc>
              <a:spcBef>
                <a:spcPct val="0"/>
              </a:spcBef>
            </a:pPr>
            <a:r>
              <a:rPr lang="en-US" b="true" sz="2700">
                <a:solidFill>
                  <a:srgbClr val="106861"/>
                </a:solidFill>
                <a:latin typeface="Open Sauce Bold"/>
                <a:ea typeface="Open Sauce Bold"/>
                <a:cs typeface="Open Sauce Bold"/>
                <a:sym typeface="Open Sauce Bold"/>
              </a:rPr>
              <a:t>4. Structure reserve_eau et reserves_eau</a:t>
            </a:r>
          </a:p>
        </p:txBody>
      </p:sp>
      <p:sp>
        <p:nvSpPr>
          <p:cNvPr name="TextBox 20" id="20"/>
          <p:cNvSpPr txBox="true"/>
          <p:nvPr/>
        </p:nvSpPr>
        <p:spPr>
          <a:xfrm rot="0">
            <a:off x="6758518" y="1932335"/>
            <a:ext cx="5139000" cy="931545"/>
          </a:xfrm>
          <a:prstGeom prst="rect">
            <a:avLst/>
          </a:prstGeom>
        </p:spPr>
        <p:txBody>
          <a:bodyPr anchor="t" rtlCol="false" tIns="0" lIns="0" bIns="0" rIns="0">
            <a:spAutoFit/>
          </a:bodyPr>
          <a:lstStyle/>
          <a:p>
            <a:pPr algn="ctr">
              <a:lnSpc>
                <a:spcPts val="3779"/>
              </a:lnSpc>
              <a:spcBef>
                <a:spcPct val="0"/>
              </a:spcBef>
            </a:pPr>
            <a:r>
              <a:rPr lang="en-US" b="true" sz="2700">
                <a:solidFill>
                  <a:srgbClr val="106861"/>
                </a:solidFill>
                <a:latin typeface="Open Sauce Bold"/>
                <a:ea typeface="Open Sauce Bold"/>
                <a:cs typeface="Open Sauce Bold"/>
                <a:sym typeface="Open Sauce Bold"/>
              </a:rPr>
              <a:t>5. Structure panneau_sol et panneaux_sol</a:t>
            </a:r>
          </a:p>
        </p:txBody>
      </p:sp>
      <p:sp>
        <p:nvSpPr>
          <p:cNvPr name="Freeform 21" id="21"/>
          <p:cNvSpPr/>
          <p:nvPr/>
        </p:nvSpPr>
        <p:spPr>
          <a:xfrm flipH="false" flipV="false" rot="0">
            <a:off x="13054909" y="4239941"/>
            <a:ext cx="4841225" cy="2414226"/>
          </a:xfrm>
          <a:custGeom>
            <a:avLst/>
            <a:gdLst/>
            <a:ahLst/>
            <a:cxnLst/>
            <a:rect r="r" b="b" t="t" l="l"/>
            <a:pathLst>
              <a:path h="2414226" w="4841225">
                <a:moveTo>
                  <a:pt x="0" y="0"/>
                </a:moveTo>
                <a:lnTo>
                  <a:pt x="4841225" y="0"/>
                </a:lnTo>
                <a:lnTo>
                  <a:pt x="4841225" y="2414226"/>
                </a:lnTo>
                <a:lnTo>
                  <a:pt x="0" y="2414226"/>
                </a:lnTo>
                <a:lnTo>
                  <a:pt x="0" y="0"/>
                </a:lnTo>
                <a:close/>
              </a:path>
            </a:pathLst>
          </a:custGeom>
          <a:blipFill>
            <a:blip r:embed="rId4"/>
            <a:stretch>
              <a:fillRect l="0" t="0" r="0" b="0"/>
            </a:stretch>
          </a:blipFill>
        </p:spPr>
      </p:sp>
      <p:sp>
        <p:nvSpPr>
          <p:cNvPr name="TextBox 22" id="22"/>
          <p:cNvSpPr txBox="true"/>
          <p:nvPr/>
        </p:nvSpPr>
        <p:spPr>
          <a:xfrm rot="0">
            <a:off x="12621418" y="2612420"/>
            <a:ext cx="5139000" cy="455295"/>
          </a:xfrm>
          <a:prstGeom prst="rect">
            <a:avLst/>
          </a:prstGeom>
        </p:spPr>
        <p:txBody>
          <a:bodyPr anchor="t" rtlCol="false" tIns="0" lIns="0" bIns="0" rIns="0">
            <a:spAutoFit/>
          </a:bodyPr>
          <a:lstStyle/>
          <a:p>
            <a:pPr algn="ctr">
              <a:lnSpc>
                <a:spcPts val="3779"/>
              </a:lnSpc>
              <a:spcBef>
                <a:spcPct val="0"/>
              </a:spcBef>
            </a:pPr>
            <a:r>
              <a:rPr lang="en-US" b="true" sz="2700">
                <a:solidFill>
                  <a:srgbClr val="106861"/>
                </a:solidFill>
                <a:latin typeface="Open Sauce Bold"/>
                <a:ea typeface="Open Sauce Bold"/>
                <a:cs typeface="Open Sauce Bold"/>
                <a:sym typeface="Open Sauce Bold"/>
              </a:rPr>
              <a:t>6.Structure de la ferme </a:t>
            </a:r>
          </a:p>
        </p:txBody>
      </p:sp>
      <p:sp>
        <p:nvSpPr>
          <p:cNvPr name="Freeform 23" id="23"/>
          <p:cNvSpPr/>
          <p:nvPr/>
        </p:nvSpPr>
        <p:spPr>
          <a:xfrm flipH="true" flipV="true" rot="0">
            <a:off x="16214760" y="8213760"/>
            <a:ext cx="2089080" cy="2089080"/>
          </a:xfrm>
          <a:custGeom>
            <a:avLst/>
            <a:gdLst/>
            <a:ahLst/>
            <a:cxnLst/>
            <a:rect r="r" b="b" t="t" l="l"/>
            <a:pathLst>
              <a:path h="2089080" w="2089080">
                <a:moveTo>
                  <a:pt x="2089080" y="2089080"/>
                </a:moveTo>
                <a:lnTo>
                  <a:pt x="0" y="2089080"/>
                </a:lnTo>
                <a:lnTo>
                  <a:pt x="0" y="0"/>
                </a:lnTo>
                <a:lnTo>
                  <a:pt x="2089080" y="0"/>
                </a:lnTo>
                <a:lnTo>
                  <a:pt x="2089080" y="208908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14954640" y="4021334"/>
            <a:ext cx="3695540" cy="7418054"/>
          </a:xfrm>
          <a:custGeom>
            <a:avLst/>
            <a:gdLst/>
            <a:ahLst/>
            <a:cxnLst/>
            <a:rect r="r" b="b" t="t" l="l"/>
            <a:pathLst>
              <a:path h="7418054" w="3695540">
                <a:moveTo>
                  <a:pt x="0" y="0"/>
                </a:moveTo>
                <a:lnTo>
                  <a:pt x="3695539" y="0"/>
                </a:lnTo>
                <a:lnTo>
                  <a:pt x="3695539" y="7418055"/>
                </a:lnTo>
                <a:lnTo>
                  <a:pt x="0" y="74180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10800000">
            <a:off x="2049095" y="2405683"/>
            <a:ext cx="6304506" cy="5259712"/>
            <a:chOff x="0" y="0"/>
            <a:chExt cx="1859411" cy="1551266"/>
          </a:xfrm>
        </p:grpSpPr>
        <p:sp>
          <p:nvSpPr>
            <p:cNvPr name="Freeform 4" id="4"/>
            <p:cNvSpPr/>
            <p:nvPr/>
          </p:nvSpPr>
          <p:spPr>
            <a:xfrm flipH="false" flipV="false" rot="0">
              <a:off x="0" y="0"/>
              <a:ext cx="1859411" cy="1551266"/>
            </a:xfrm>
            <a:custGeom>
              <a:avLst/>
              <a:gdLst/>
              <a:ahLst/>
              <a:cxnLst/>
              <a:rect r="r" b="b" t="t" l="l"/>
              <a:pathLst>
                <a:path h="1551266" w="1859411">
                  <a:moveTo>
                    <a:pt x="39296" y="0"/>
                  </a:moveTo>
                  <a:lnTo>
                    <a:pt x="1820115" y="0"/>
                  </a:lnTo>
                  <a:cubicBezTo>
                    <a:pt x="1830537" y="0"/>
                    <a:pt x="1840532" y="4140"/>
                    <a:pt x="1847902" y="11510"/>
                  </a:cubicBezTo>
                  <a:cubicBezTo>
                    <a:pt x="1855271" y="18879"/>
                    <a:pt x="1859411" y="28874"/>
                    <a:pt x="1859411" y="39296"/>
                  </a:cubicBezTo>
                  <a:lnTo>
                    <a:pt x="1859411" y="1511970"/>
                  </a:lnTo>
                  <a:cubicBezTo>
                    <a:pt x="1859411" y="1533673"/>
                    <a:pt x="1841818" y="1551266"/>
                    <a:pt x="1820115" y="1551266"/>
                  </a:cubicBezTo>
                  <a:lnTo>
                    <a:pt x="39296" y="1551266"/>
                  </a:lnTo>
                  <a:cubicBezTo>
                    <a:pt x="17593" y="1551266"/>
                    <a:pt x="0" y="1533673"/>
                    <a:pt x="0" y="1511970"/>
                  </a:cubicBezTo>
                  <a:lnTo>
                    <a:pt x="0" y="39296"/>
                  </a:lnTo>
                  <a:cubicBezTo>
                    <a:pt x="0" y="17593"/>
                    <a:pt x="17593" y="0"/>
                    <a:pt x="39296" y="0"/>
                  </a:cubicBezTo>
                  <a:close/>
                </a:path>
              </a:pathLst>
            </a:custGeom>
            <a:solidFill>
              <a:srgbClr val="FFFFFF"/>
            </a:solidFill>
            <a:ln w="123825" cap="rnd">
              <a:solidFill>
                <a:srgbClr val="106861"/>
              </a:solidFill>
              <a:prstDash val="solid"/>
              <a:round/>
            </a:ln>
          </p:spPr>
        </p:sp>
        <p:sp>
          <p:nvSpPr>
            <p:cNvPr name="TextBox 5" id="5"/>
            <p:cNvSpPr txBox="true"/>
            <p:nvPr/>
          </p:nvSpPr>
          <p:spPr>
            <a:xfrm>
              <a:off x="0" y="-38100"/>
              <a:ext cx="1859411" cy="1589366"/>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6" id="6"/>
          <p:cNvSpPr/>
          <p:nvPr/>
        </p:nvSpPr>
        <p:spPr>
          <a:xfrm flipH="false" flipV="false" rot="0">
            <a:off x="2485604" y="2795857"/>
            <a:ext cx="5365391" cy="4479363"/>
          </a:xfrm>
          <a:custGeom>
            <a:avLst/>
            <a:gdLst/>
            <a:ahLst/>
            <a:cxnLst/>
            <a:rect r="r" b="b" t="t" l="l"/>
            <a:pathLst>
              <a:path h="4479363" w="5365391">
                <a:moveTo>
                  <a:pt x="0" y="0"/>
                </a:moveTo>
                <a:lnTo>
                  <a:pt x="5365391" y="0"/>
                </a:lnTo>
                <a:lnTo>
                  <a:pt x="5365391" y="4479363"/>
                </a:lnTo>
                <a:lnTo>
                  <a:pt x="0" y="4479363"/>
                </a:lnTo>
                <a:lnTo>
                  <a:pt x="0" y="0"/>
                </a:lnTo>
                <a:close/>
              </a:path>
            </a:pathLst>
          </a:custGeom>
          <a:blipFill>
            <a:blip r:embed="rId4"/>
            <a:stretch>
              <a:fillRect l="0" t="0" r="0" b="0"/>
            </a:stretch>
          </a:blipFill>
        </p:spPr>
      </p:sp>
      <p:grpSp>
        <p:nvGrpSpPr>
          <p:cNvPr name="Group 7" id="7"/>
          <p:cNvGrpSpPr/>
          <p:nvPr/>
        </p:nvGrpSpPr>
        <p:grpSpPr>
          <a:xfrm rot="-10800000">
            <a:off x="10103502" y="2057832"/>
            <a:ext cx="6613182" cy="6282205"/>
            <a:chOff x="0" y="0"/>
            <a:chExt cx="2177239" cy="2068272"/>
          </a:xfrm>
        </p:grpSpPr>
        <p:sp>
          <p:nvSpPr>
            <p:cNvPr name="Freeform 8" id="8"/>
            <p:cNvSpPr/>
            <p:nvPr/>
          </p:nvSpPr>
          <p:spPr>
            <a:xfrm flipH="false" flipV="false" rot="0">
              <a:off x="0" y="0"/>
              <a:ext cx="2177239" cy="2068272"/>
            </a:xfrm>
            <a:custGeom>
              <a:avLst/>
              <a:gdLst/>
              <a:ahLst/>
              <a:cxnLst/>
              <a:rect r="r" b="b" t="t" l="l"/>
              <a:pathLst>
                <a:path h="2068272" w="2177239">
                  <a:moveTo>
                    <a:pt x="37462" y="0"/>
                  </a:moveTo>
                  <a:lnTo>
                    <a:pt x="2139777" y="0"/>
                  </a:lnTo>
                  <a:cubicBezTo>
                    <a:pt x="2149713" y="0"/>
                    <a:pt x="2159241" y="3947"/>
                    <a:pt x="2166267" y="10972"/>
                  </a:cubicBezTo>
                  <a:cubicBezTo>
                    <a:pt x="2173292" y="17998"/>
                    <a:pt x="2177239" y="27526"/>
                    <a:pt x="2177239" y="37462"/>
                  </a:cubicBezTo>
                  <a:lnTo>
                    <a:pt x="2177239" y="2030811"/>
                  </a:lnTo>
                  <a:cubicBezTo>
                    <a:pt x="2177239" y="2051500"/>
                    <a:pt x="2160467" y="2068272"/>
                    <a:pt x="2139777" y="2068272"/>
                  </a:cubicBezTo>
                  <a:lnTo>
                    <a:pt x="37462" y="2068272"/>
                  </a:lnTo>
                  <a:cubicBezTo>
                    <a:pt x="27526" y="2068272"/>
                    <a:pt x="17998" y="2064325"/>
                    <a:pt x="10972" y="2057300"/>
                  </a:cubicBezTo>
                  <a:cubicBezTo>
                    <a:pt x="3947" y="2050274"/>
                    <a:pt x="0" y="2040746"/>
                    <a:pt x="0" y="2030811"/>
                  </a:cubicBezTo>
                  <a:lnTo>
                    <a:pt x="0" y="37462"/>
                  </a:lnTo>
                  <a:cubicBezTo>
                    <a:pt x="0" y="27526"/>
                    <a:pt x="3947" y="17998"/>
                    <a:pt x="10972" y="10972"/>
                  </a:cubicBezTo>
                  <a:cubicBezTo>
                    <a:pt x="17998" y="3947"/>
                    <a:pt x="27526" y="0"/>
                    <a:pt x="37462" y="0"/>
                  </a:cubicBezTo>
                  <a:close/>
                </a:path>
              </a:pathLst>
            </a:custGeom>
            <a:solidFill>
              <a:srgbClr val="FFFFFF"/>
            </a:solidFill>
            <a:ln w="123825" cap="rnd">
              <a:solidFill>
                <a:srgbClr val="106861"/>
              </a:solidFill>
              <a:prstDash val="solid"/>
              <a:round/>
            </a:ln>
          </p:spPr>
        </p:sp>
        <p:sp>
          <p:nvSpPr>
            <p:cNvPr name="TextBox 9" id="9"/>
            <p:cNvSpPr txBox="true"/>
            <p:nvPr/>
          </p:nvSpPr>
          <p:spPr>
            <a:xfrm>
              <a:off x="0" y="-38100"/>
              <a:ext cx="2177239" cy="2106372"/>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0" id="10"/>
          <p:cNvSpPr/>
          <p:nvPr/>
        </p:nvSpPr>
        <p:spPr>
          <a:xfrm flipH="false" flipV="false" rot="0">
            <a:off x="10568388" y="2451955"/>
            <a:ext cx="5451144" cy="5480139"/>
          </a:xfrm>
          <a:custGeom>
            <a:avLst/>
            <a:gdLst/>
            <a:ahLst/>
            <a:cxnLst/>
            <a:rect r="r" b="b" t="t" l="l"/>
            <a:pathLst>
              <a:path h="5480139" w="5451144">
                <a:moveTo>
                  <a:pt x="0" y="0"/>
                </a:moveTo>
                <a:lnTo>
                  <a:pt x="5451144" y="0"/>
                </a:lnTo>
                <a:lnTo>
                  <a:pt x="5451144" y="5480140"/>
                </a:lnTo>
                <a:lnTo>
                  <a:pt x="0" y="5480140"/>
                </a:lnTo>
                <a:lnTo>
                  <a:pt x="0" y="0"/>
                </a:lnTo>
                <a:close/>
              </a:path>
            </a:pathLst>
          </a:custGeom>
          <a:blipFill>
            <a:blip r:embed="rId5"/>
            <a:stretch>
              <a:fillRect l="0" t="0" r="0" b="0"/>
            </a:stretch>
          </a:blipFill>
        </p:spPr>
      </p:sp>
      <p:sp>
        <p:nvSpPr>
          <p:cNvPr name="TextBox 11" id="11"/>
          <p:cNvSpPr txBox="true"/>
          <p:nvPr/>
        </p:nvSpPr>
        <p:spPr>
          <a:xfrm rot="0">
            <a:off x="11561403" y="973328"/>
            <a:ext cx="3465113" cy="863219"/>
          </a:xfrm>
          <a:prstGeom prst="rect">
            <a:avLst/>
          </a:prstGeom>
        </p:spPr>
        <p:txBody>
          <a:bodyPr anchor="t" rtlCol="false" tIns="0" lIns="0" bIns="0" rIns="0">
            <a:spAutoFit/>
          </a:bodyPr>
          <a:lstStyle/>
          <a:p>
            <a:pPr algn="ctr">
              <a:lnSpc>
                <a:spcPts val="3387"/>
              </a:lnSpc>
              <a:spcBef>
                <a:spcPct val="0"/>
              </a:spcBef>
            </a:pPr>
            <a:r>
              <a:rPr lang="en-US" b="true" sz="2799" spc="86">
                <a:solidFill>
                  <a:srgbClr val="035D61"/>
                </a:solidFill>
                <a:latin typeface="Open Sauce Bold"/>
                <a:ea typeface="Open Sauce Bold"/>
                <a:cs typeface="Open Sauce Bold"/>
                <a:sym typeface="Open Sauce Bold"/>
              </a:rPr>
              <a:t>8. Structure notification et file</a:t>
            </a:r>
          </a:p>
        </p:txBody>
      </p:sp>
      <p:sp>
        <p:nvSpPr>
          <p:cNvPr name="TextBox 12" id="12"/>
          <p:cNvSpPr txBox="true"/>
          <p:nvPr/>
        </p:nvSpPr>
        <p:spPr>
          <a:xfrm rot="0">
            <a:off x="2851029" y="1019175"/>
            <a:ext cx="4215827" cy="1291844"/>
          </a:xfrm>
          <a:prstGeom prst="rect">
            <a:avLst/>
          </a:prstGeom>
        </p:spPr>
        <p:txBody>
          <a:bodyPr anchor="t" rtlCol="false" tIns="0" lIns="0" bIns="0" rIns="0">
            <a:spAutoFit/>
          </a:bodyPr>
          <a:lstStyle/>
          <a:p>
            <a:pPr algn="ctr">
              <a:lnSpc>
                <a:spcPts val="3387"/>
              </a:lnSpc>
            </a:pPr>
            <a:r>
              <a:rPr lang="en-US" b="true" sz="2799" spc="86">
                <a:solidFill>
                  <a:srgbClr val="035D61"/>
                </a:solidFill>
                <a:latin typeface="Open Sauce Bold"/>
                <a:ea typeface="Open Sauce Bold"/>
                <a:cs typeface="Open Sauce Bold"/>
                <a:sym typeface="Open Sauce Bold"/>
              </a:rPr>
              <a:t>7. Structure alerte et alertes</a:t>
            </a:r>
          </a:p>
          <a:p>
            <a:pPr algn="ctr">
              <a:lnSpc>
                <a:spcPts val="3387"/>
              </a:lnSpc>
              <a:spcBef>
                <a:spcPct val="0"/>
              </a:spcBef>
            </a:pPr>
          </a:p>
        </p:txBody>
      </p:sp>
      <p:sp>
        <p:nvSpPr>
          <p:cNvPr name="Freeform 13" id="13"/>
          <p:cNvSpPr/>
          <p:nvPr/>
        </p:nvSpPr>
        <p:spPr>
          <a:xfrm flipH="false" flipV="false" rot="-10800000">
            <a:off x="-465877" y="-4635036"/>
            <a:ext cx="3695540" cy="7418054"/>
          </a:xfrm>
          <a:custGeom>
            <a:avLst/>
            <a:gdLst/>
            <a:ahLst/>
            <a:cxnLst/>
            <a:rect r="r" b="b" t="t" l="l"/>
            <a:pathLst>
              <a:path h="7418054" w="3695540">
                <a:moveTo>
                  <a:pt x="0" y="0"/>
                </a:moveTo>
                <a:lnTo>
                  <a:pt x="3695540" y="0"/>
                </a:lnTo>
                <a:lnTo>
                  <a:pt x="3695540" y="7418054"/>
                </a:lnTo>
                <a:lnTo>
                  <a:pt x="0" y="74180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grpSp>
        <p:nvGrpSpPr>
          <p:cNvPr name="Group 2" id="2"/>
          <p:cNvGrpSpPr/>
          <p:nvPr/>
        </p:nvGrpSpPr>
        <p:grpSpPr>
          <a:xfrm rot="0">
            <a:off x="420250" y="302486"/>
            <a:ext cx="7764799" cy="1014697"/>
            <a:chOff x="0" y="0"/>
            <a:chExt cx="2098032" cy="274169"/>
          </a:xfrm>
        </p:grpSpPr>
        <p:sp>
          <p:nvSpPr>
            <p:cNvPr name="Freeform 3" id="3"/>
            <p:cNvSpPr/>
            <p:nvPr/>
          </p:nvSpPr>
          <p:spPr>
            <a:xfrm flipH="false" flipV="false" rot="0">
              <a:off x="0" y="0"/>
              <a:ext cx="2098032" cy="274169"/>
            </a:xfrm>
            <a:custGeom>
              <a:avLst/>
              <a:gdLst/>
              <a:ahLst/>
              <a:cxnLst/>
              <a:rect r="r" b="b" t="t" l="l"/>
              <a:pathLst>
                <a:path h="274169" w="2098032">
                  <a:moveTo>
                    <a:pt x="0" y="0"/>
                  </a:moveTo>
                  <a:lnTo>
                    <a:pt x="2098032" y="0"/>
                  </a:lnTo>
                  <a:lnTo>
                    <a:pt x="2098032" y="274169"/>
                  </a:lnTo>
                  <a:lnTo>
                    <a:pt x="0" y="274169"/>
                  </a:lnTo>
                  <a:close/>
                </a:path>
              </a:pathLst>
            </a:custGeom>
            <a:solidFill>
              <a:srgbClr val="AEEA00">
                <a:alpha val="49804"/>
              </a:srgbClr>
            </a:solidFill>
          </p:spPr>
        </p:sp>
      </p:grpSp>
      <p:sp>
        <p:nvSpPr>
          <p:cNvPr name="Freeform 4" id="4"/>
          <p:cNvSpPr/>
          <p:nvPr/>
        </p:nvSpPr>
        <p:spPr>
          <a:xfrm flipH="false" flipV="false" rot="-5400000">
            <a:off x="1062194" y="3914904"/>
            <a:ext cx="1015539" cy="2086127"/>
          </a:xfrm>
          <a:custGeom>
            <a:avLst/>
            <a:gdLst/>
            <a:ahLst/>
            <a:cxnLst/>
            <a:rect r="r" b="b" t="t" l="l"/>
            <a:pathLst>
              <a:path h="2086127" w="1015539">
                <a:moveTo>
                  <a:pt x="0" y="0"/>
                </a:moveTo>
                <a:lnTo>
                  <a:pt x="1015539" y="0"/>
                </a:lnTo>
                <a:lnTo>
                  <a:pt x="1015539" y="2086127"/>
                </a:lnTo>
                <a:lnTo>
                  <a:pt x="0" y="2086127"/>
                </a:lnTo>
                <a:lnTo>
                  <a:pt x="0" y="0"/>
                </a:lnTo>
                <a:close/>
              </a:path>
            </a:pathLst>
          </a:custGeom>
          <a:blipFill>
            <a:blip r:embed="rId2">
              <a:extLst>
                <a:ext uri="{96DAC541-7B7A-43D3-8B79-37D633B846F1}">
                  <asvg:svgBlip xmlns:asvg="http://schemas.microsoft.com/office/drawing/2016/SVG/main" r:embed="rId3"/>
                </a:ext>
              </a:extLst>
            </a:blip>
            <a:stretch>
              <a:fillRect l="-105420" t="0" r="0" b="0"/>
            </a:stretch>
          </a:blipFill>
          <a:ln cap="sq">
            <a:noFill/>
            <a:prstDash val="solid"/>
            <a:miter/>
          </a:ln>
        </p:spPr>
      </p:sp>
      <p:sp>
        <p:nvSpPr>
          <p:cNvPr name="Freeform 5" id="5"/>
          <p:cNvSpPr/>
          <p:nvPr/>
        </p:nvSpPr>
        <p:spPr>
          <a:xfrm flipH="false" flipV="false" rot="-5400000">
            <a:off x="620718" y="4545049"/>
            <a:ext cx="1841376" cy="1841376"/>
          </a:xfrm>
          <a:custGeom>
            <a:avLst/>
            <a:gdLst/>
            <a:ahLst/>
            <a:cxnLst/>
            <a:rect r="r" b="b" t="t" l="l"/>
            <a:pathLst>
              <a:path h="1841376" w="1841376">
                <a:moveTo>
                  <a:pt x="0" y="0"/>
                </a:moveTo>
                <a:lnTo>
                  <a:pt x="1841376" y="0"/>
                </a:lnTo>
                <a:lnTo>
                  <a:pt x="1841376" y="1841376"/>
                </a:lnTo>
                <a:lnTo>
                  <a:pt x="0" y="18413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AutoShape 6" id="6"/>
          <p:cNvSpPr/>
          <p:nvPr/>
        </p:nvSpPr>
        <p:spPr>
          <a:xfrm>
            <a:off x="1569963" y="6386425"/>
            <a:ext cx="0" cy="467846"/>
          </a:xfrm>
          <a:prstGeom prst="line">
            <a:avLst/>
          </a:prstGeom>
          <a:ln cap="rnd" w="38100">
            <a:solidFill>
              <a:srgbClr val="106861"/>
            </a:solidFill>
            <a:prstDash val="sysDot"/>
            <a:headEnd type="none" len="sm" w="sm"/>
            <a:tailEnd type="oval" len="lg" w="lg"/>
          </a:ln>
        </p:spPr>
      </p:sp>
      <p:sp>
        <p:nvSpPr>
          <p:cNvPr name="Freeform 7" id="7"/>
          <p:cNvSpPr/>
          <p:nvPr/>
        </p:nvSpPr>
        <p:spPr>
          <a:xfrm flipH="true" flipV="true" rot="-5400000">
            <a:off x="3122666" y="4930443"/>
            <a:ext cx="1015539" cy="2086127"/>
          </a:xfrm>
          <a:custGeom>
            <a:avLst/>
            <a:gdLst/>
            <a:ahLst/>
            <a:cxnLst/>
            <a:rect r="r" b="b" t="t" l="l"/>
            <a:pathLst>
              <a:path h="2086127" w="1015539">
                <a:moveTo>
                  <a:pt x="1015539" y="2086127"/>
                </a:moveTo>
                <a:lnTo>
                  <a:pt x="0" y="2086127"/>
                </a:lnTo>
                <a:lnTo>
                  <a:pt x="0" y="0"/>
                </a:lnTo>
                <a:lnTo>
                  <a:pt x="1015539" y="0"/>
                </a:lnTo>
                <a:lnTo>
                  <a:pt x="1015539" y="2086127"/>
                </a:lnTo>
                <a:close/>
              </a:path>
            </a:pathLst>
          </a:custGeom>
          <a:blipFill>
            <a:blip r:embed="rId6">
              <a:extLst>
                <a:ext uri="{96DAC541-7B7A-43D3-8B79-37D633B846F1}">
                  <asvg:svgBlip xmlns:asvg="http://schemas.microsoft.com/office/drawing/2016/SVG/main" r:embed="rId7"/>
                </a:ext>
              </a:extLst>
            </a:blip>
            <a:stretch>
              <a:fillRect l="-105420" t="0" r="0" b="0"/>
            </a:stretch>
          </a:blipFill>
        </p:spPr>
      </p:sp>
      <p:sp>
        <p:nvSpPr>
          <p:cNvPr name="Freeform 8" id="8"/>
          <p:cNvSpPr/>
          <p:nvPr/>
        </p:nvSpPr>
        <p:spPr>
          <a:xfrm flipH="false" flipV="false" rot="-5400000">
            <a:off x="2709748" y="4545049"/>
            <a:ext cx="1841376" cy="1841376"/>
          </a:xfrm>
          <a:custGeom>
            <a:avLst/>
            <a:gdLst/>
            <a:ahLst/>
            <a:cxnLst/>
            <a:rect r="r" b="b" t="t" l="l"/>
            <a:pathLst>
              <a:path h="1841376" w="1841376">
                <a:moveTo>
                  <a:pt x="0" y="0"/>
                </a:moveTo>
                <a:lnTo>
                  <a:pt x="1841376" y="0"/>
                </a:lnTo>
                <a:lnTo>
                  <a:pt x="1841376" y="1841376"/>
                </a:lnTo>
                <a:lnTo>
                  <a:pt x="0" y="18413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AutoShape 9" id="9"/>
          <p:cNvSpPr/>
          <p:nvPr/>
        </p:nvSpPr>
        <p:spPr>
          <a:xfrm flipH="true" flipV="true">
            <a:off x="3599757" y="4077024"/>
            <a:ext cx="3218" cy="467835"/>
          </a:xfrm>
          <a:prstGeom prst="line">
            <a:avLst/>
          </a:prstGeom>
          <a:ln cap="rnd" w="38100">
            <a:solidFill>
              <a:srgbClr val="AEEA00"/>
            </a:solidFill>
            <a:prstDash val="sysDot"/>
            <a:headEnd type="none" len="sm" w="sm"/>
            <a:tailEnd type="oval" len="lg" w="lg"/>
          </a:ln>
        </p:spPr>
      </p:sp>
      <p:sp>
        <p:nvSpPr>
          <p:cNvPr name="Freeform 10" id="10"/>
          <p:cNvSpPr/>
          <p:nvPr/>
        </p:nvSpPr>
        <p:spPr>
          <a:xfrm flipH="false" flipV="false" rot="-5400000">
            <a:off x="5179140" y="3914992"/>
            <a:ext cx="1015539" cy="2086127"/>
          </a:xfrm>
          <a:custGeom>
            <a:avLst/>
            <a:gdLst/>
            <a:ahLst/>
            <a:cxnLst/>
            <a:rect r="r" b="b" t="t" l="l"/>
            <a:pathLst>
              <a:path h="2086127" w="1015539">
                <a:moveTo>
                  <a:pt x="0" y="0"/>
                </a:moveTo>
                <a:lnTo>
                  <a:pt x="1015539" y="0"/>
                </a:lnTo>
                <a:lnTo>
                  <a:pt x="1015539" y="2086127"/>
                </a:lnTo>
                <a:lnTo>
                  <a:pt x="0" y="2086127"/>
                </a:lnTo>
                <a:lnTo>
                  <a:pt x="0" y="0"/>
                </a:lnTo>
                <a:close/>
              </a:path>
            </a:pathLst>
          </a:custGeom>
          <a:blipFill>
            <a:blip r:embed="rId2">
              <a:extLst>
                <a:ext uri="{96DAC541-7B7A-43D3-8B79-37D633B846F1}">
                  <asvg:svgBlip xmlns:asvg="http://schemas.microsoft.com/office/drawing/2016/SVG/main" r:embed="rId3"/>
                </a:ext>
              </a:extLst>
            </a:blip>
            <a:stretch>
              <a:fillRect l="-105420" t="0" r="0" b="0"/>
            </a:stretch>
          </a:blipFill>
          <a:ln cap="sq">
            <a:noFill/>
            <a:prstDash val="solid"/>
            <a:miter/>
          </a:ln>
        </p:spPr>
      </p:sp>
      <p:sp>
        <p:nvSpPr>
          <p:cNvPr name="Freeform 11" id="11"/>
          <p:cNvSpPr/>
          <p:nvPr/>
        </p:nvSpPr>
        <p:spPr>
          <a:xfrm flipH="false" flipV="false" rot="-5400000">
            <a:off x="4737665" y="4545137"/>
            <a:ext cx="1841376" cy="1841376"/>
          </a:xfrm>
          <a:custGeom>
            <a:avLst/>
            <a:gdLst/>
            <a:ahLst/>
            <a:cxnLst/>
            <a:rect r="r" b="b" t="t" l="l"/>
            <a:pathLst>
              <a:path h="1841376" w="1841376">
                <a:moveTo>
                  <a:pt x="0" y="0"/>
                </a:moveTo>
                <a:lnTo>
                  <a:pt x="1841376" y="0"/>
                </a:lnTo>
                <a:lnTo>
                  <a:pt x="1841376" y="1841376"/>
                </a:lnTo>
                <a:lnTo>
                  <a:pt x="0" y="18413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AutoShape 12" id="12"/>
          <p:cNvSpPr/>
          <p:nvPr/>
        </p:nvSpPr>
        <p:spPr>
          <a:xfrm>
            <a:off x="5686910" y="6386513"/>
            <a:ext cx="0" cy="467846"/>
          </a:xfrm>
          <a:prstGeom prst="line">
            <a:avLst/>
          </a:prstGeom>
          <a:ln cap="rnd" w="38100">
            <a:solidFill>
              <a:srgbClr val="106861"/>
            </a:solidFill>
            <a:prstDash val="sysDot"/>
            <a:headEnd type="none" len="sm" w="sm"/>
            <a:tailEnd type="oval" len="lg" w="lg"/>
          </a:ln>
        </p:spPr>
      </p:sp>
      <p:sp>
        <p:nvSpPr>
          <p:cNvPr name="Freeform 13" id="13"/>
          <p:cNvSpPr/>
          <p:nvPr/>
        </p:nvSpPr>
        <p:spPr>
          <a:xfrm flipH="true" flipV="true" rot="-5400000">
            <a:off x="7239613" y="4930531"/>
            <a:ext cx="1015539" cy="2086127"/>
          </a:xfrm>
          <a:custGeom>
            <a:avLst/>
            <a:gdLst/>
            <a:ahLst/>
            <a:cxnLst/>
            <a:rect r="r" b="b" t="t" l="l"/>
            <a:pathLst>
              <a:path h="2086127" w="1015539">
                <a:moveTo>
                  <a:pt x="1015539" y="2086127"/>
                </a:moveTo>
                <a:lnTo>
                  <a:pt x="0" y="2086127"/>
                </a:lnTo>
                <a:lnTo>
                  <a:pt x="0" y="0"/>
                </a:lnTo>
                <a:lnTo>
                  <a:pt x="1015539" y="0"/>
                </a:lnTo>
                <a:lnTo>
                  <a:pt x="1015539" y="2086127"/>
                </a:lnTo>
                <a:close/>
              </a:path>
            </a:pathLst>
          </a:custGeom>
          <a:blipFill>
            <a:blip r:embed="rId6">
              <a:extLst>
                <a:ext uri="{96DAC541-7B7A-43D3-8B79-37D633B846F1}">
                  <asvg:svgBlip xmlns:asvg="http://schemas.microsoft.com/office/drawing/2016/SVG/main" r:embed="rId7"/>
                </a:ext>
              </a:extLst>
            </a:blip>
            <a:stretch>
              <a:fillRect l="-105420" t="0" r="0" b="0"/>
            </a:stretch>
          </a:blipFill>
          <a:ln cap="sq">
            <a:noFill/>
            <a:prstDash val="solid"/>
            <a:miter/>
          </a:ln>
        </p:spPr>
      </p:sp>
      <p:sp>
        <p:nvSpPr>
          <p:cNvPr name="Freeform 14" id="14"/>
          <p:cNvSpPr/>
          <p:nvPr/>
        </p:nvSpPr>
        <p:spPr>
          <a:xfrm flipH="false" flipV="false" rot="-5400000">
            <a:off x="6826694" y="4545137"/>
            <a:ext cx="1841376" cy="1841376"/>
          </a:xfrm>
          <a:custGeom>
            <a:avLst/>
            <a:gdLst/>
            <a:ahLst/>
            <a:cxnLst/>
            <a:rect r="r" b="b" t="t" l="l"/>
            <a:pathLst>
              <a:path h="1841376" w="1841376">
                <a:moveTo>
                  <a:pt x="0" y="0"/>
                </a:moveTo>
                <a:lnTo>
                  <a:pt x="1841377" y="0"/>
                </a:lnTo>
                <a:lnTo>
                  <a:pt x="1841377" y="1841376"/>
                </a:lnTo>
                <a:lnTo>
                  <a:pt x="0" y="18413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AutoShape 15" id="15"/>
          <p:cNvSpPr/>
          <p:nvPr/>
        </p:nvSpPr>
        <p:spPr>
          <a:xfrm flipH="true" flipV="true">
            <a:off x="7716704" y="4077112"/>
            <a:ext cx="3218" cy="467835"/>
          </a:xfrm>
          <a:prstGeom prst="line">
            <a:avLst/>
          </a:prstGeom>
          <a:ln cap="rnd" w="38100">
            <a:solidFill>
              <a:srgbClr val="AEEA00"/>
            </a:solidFill>
            <a:prstDash val="sysDot"/>
            <a:headEnd type="none" len="sm" w="sm"/>
            <a:tailEnd type="oval" len="lg" w="lg"/>
          </a:ln>
        </p:spPr>
      </p:sp>
      <p:sp>
        <p:nvSpPr>
          <p:cNvPr name="Freeform 16" id="16"/>
          <p:cNvSpPr/>
          <p:nvPr/>
        </p:nvSpPr>
        <p:spPr>
          <a:xfrm flipH="false" flipV="false" rot="-5400000">
            <a:off x="9299481" y="3914992"/>
            <a:ext cx="1015539" cy="2086127"/>
          </a:xfrm>
          <a:custGeom>
            <a:avLst/>
            <a:gdLst/>
            <a:ahLst/>
            <a:cxnLst/>
            <a:rect r="r" b="b" t="t" l="l"/>
            <a:pathLst>
              <a:path h="2086127" w="1015539">
                <a:moveTo>
                  <a:pt x="0" y="0"/>
                </a:moveTo>
                <a:lnTo>
                  <a:pt x="1015539" y="0"/>
                </a:lnTo>
                <a:lnTo>
                  <a:pt x="1015539" y="2086127"/>
                </a:lnTo>
                <a:lnTo>
                  <a:pt x="0" y="2086127"/>
                </a:lnTo>
                <a:lnTo>
                  <a:pt x="0" y="0"/>
                </a:lnTo>
                <a:close/>
              </a:path>
            </a:pathLst>
          </a:custGeom>
          <a:blipFill>
            <a:blip r:embed="rId2">
              <a:extLst>
                <a:ext uri="{96DAC541-7B7A-43D3-8B79-37D633B846F1}">
                  <asvg:svgBlip xmlns:asvg="http://schemas.microsoft.com/office/drawing/2016/SVG/main" r:embed="rId3"/>
                </a:ext>
              </a:extLst>
            </a:blip>
            <a:stretch>
              <a:fillRect l="-105420" t="0" r="0" b="0"/>
            </a:stretch>
          </a:blipFill>
          <a:ln cap="sq">
            <a:noFill/>
            <a:prstDash val="solid"/>
            <a:miter/>
          </a:ln>
        </p:spPr>
      </p:sp>
      <p:sp>
        <p:nvSpPr>
          <p:cNvPr name="Freeform 17" id="17"/>
          <p:cNvSpPr/>
          <p:nvPr/>
        </p:nvSpPr>
        <p:spPr>
          <a:xfrm flipH="false" flipV="false" rot="-5400000">
            <a:off x="8858005" y="4545137"/>
            <a:ext cx="1841376" cy="1841376"/>
          </a:xfrm>
          <a:custGeom>
            <a:avLst/>
            <a:gdLst/>
            <a:ahLst/>
            <a:cxnLst/>
            <a:rect r="r" b="b" t="t" l="l"/>
            <a:pathLst>
              <a:path h="1841376" w="1841376">
                <a:moveTo>
                  <a:pt x="0" y="0"/>
                </a:moveTo>
                <a:lnTo>
                  <a:pt x="1841377" y="0"/>
                </a:lnTo>
                <a:lnTo>
                  <a:pt x="1841377" y="1841376"/>
                </a:lnTo>
                <a:lnTo>
                  <a:pt x="0" y="18413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AutoShape 18" id="18"/>
          <p:cNvSpPr/>
          <p:nvPr/>
        </p:nvSpPr>
        <p:spPr>
          <a:xfrm>
            <a:off x="9807250" y="6386513"/>
            <a:ext cx="0" cy="467846"/>
          </a:xfrm>
          <a:prstGeom prst="line">
            <a:avLst/>
          </a:prstGeom>
          <a:ln cap="rnd" w="38100">
            <a:solidFill>
              <a:srgbClr val="106861"/>
            </a:solidFill>
            <a:prstDash val="sysDot"/>
            <a:headEnd type="none" len="sm" w="sm"/>
            <a:tailEnd type="oval" len="lg" w="lg"/>
          </a:ln>
        </p:spPr>
      </p:sp>
      <p:sp>
        <p:nvSpPr>
          <p:cNvPr name="Freeform 19" id="19"/>
          <p:cNvSpPr/>
          <p:nvPr/>
        </p:nvSpPr>
        <p:spPr>
          <a:xfrm flipH="true" flipV="true" rot="-5400000">
            <a:off x="11354586" y="4930443"/>
            <a:ext cx="1015539" cy="2086127"/>
          </a:xfrm>
          <a:custGeom>
            <a:avLst/>
            <a:gdLst/>
            <a:ahLst/>
            <a:cxnLst/>
            <a:rect r="r" b="b" t="t" l="l"/>
            <a:pathLst>
              <a:path h="2086127" w="1015539">
                <a:moveTo>
                  <a:pt x="1015539" y="2086127"/>
                </a:moveTo>
                <a:lnTo>
                  <a:pt x="0" y="2086127"/>
                </a:lnTo>
                <a:lnTo>
                  <a:pt x="0" y="0"/>
                </a:lnTo>
                <a:lnTo>
                  <a:pt x="1015539" y="0"/>
                </a:lnTo>
                <a:lnTo>
                  <a:pt x="1015539" y="2086127"/>
                </a:lnTo>
                <a:close/>
              </a:path>
            </a:pathLst>
          </a:custGeom>
          <a:blipFill>
            <a:blip r:embed="rId6">
              <a:extLst>
                <a:ext uri="{96DAC541-7B7A-43D3-8B79-37D633B846F1}">
                  <asvg:svgBlip xmlns:asvg="http://schemas.microsoft.com/office/drawing/2016/SVG/main" r:embed="rId7"/>
                </a:ext>
              </a:extLst>
            </a:blip>
            <a:stretch>
              <a:fillRect l="-105420" t="0" r="0" b="0"/>
            </a:stretch>
          </a:blipFill>
          <a:ln cap="sq">
            <a:noFill/>
            <a:prstDash val="solid"/>
            <a:miter/>
          </a:ln>
        </p:spPr>
      </p:sp>
      <p:sp>
        <p:nvSpPr>
          <p:cNvPr name="Freeform 20" id="20"/>
          <p:cNvSpPr/>
          <p:nvPr/>
        </p:nvSpPr>
        <p:spPr>
          <a:xfrm flipH="false" flipV="false" rot="-5400000">
            <a:off x="10941667" y="4545049"/>
            <a:ext cx="1841376" cy="1841376"/>
          </a:xfrm>
          <a:custGeom>
            <a:avLst/>
            <a:gdLst/>
            <a:ahLst/>
            <a:cxnLst/>
            <a:rect r="r" b="b" t="t" l="l"/>
            <a:pathLst>
              <a:path h="1841376" w="1841376">
                <a:moveTo>
                  <a:pt x="0" y="0"/>
                </a:moveTo>
                <a:lnTo>
                  <a:pt x="1841377" y="0"/>
                </a:lnTo>
                <a:lnTo>
                  <a:pt x="1841377" y="1841376"/>
                </a:lnTo>
                <a:lnTo>
                  <a:pt x="0" y="18413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AutoShape 21" id="21"/>
          <p:cNvSpPr/>
          <p:nvPr/>
        </p:nvSpPr>
        <p:spPr>
          <a:xfrm flipH="true" flipV="true">
            <a:off x="11831677" y="4077024"/>
            <a:ext cx="3218" cy="467835"/>
          </a:xfrm>
          <a:prstGeom prst="line">
            <a:avLst/>
          </a:prstGeom>
          <a:ln cap="rnd" w="38100">
            <a:solidFill>
              <a:srgbClr val="AEEA00"/>
            </a:solidFill>
            <a:prstDash val="sysDot"/>
            <a:headEnd type="none" len="sm" w="sm"/>
            <a:tailEnd type="oval" len="lg" w="lg"/>
          </a:ln>
        </p:spPr>
      </p:sp>
      <p:sp>
        <p:nvSpPr>
          <p:cNvPr name="Freeform 22" id="22"/>
          <p:cNvSpPr/>
          <p:nvPr/>
        </p:nvSpPr>
        <p:spPr>
          <a:xfrm flipH="false" flipV="false" rot="-5400000">
            <a:off x="13416373" y="3914992"/>
            <a:ext cx="1015539" cy="2086127"/>
          </a:xfrm>
          <a:custGeom>
            <a:avLst/>
            <a:gdLst/>
            <a:ahLst/>
            <a:cxnLst/>
            <a:rect r="r" b="b" t="t" l="l"/>
            <a:pathLst>
              <a:path h="2086127" w="1015539">
                <a:moveTo>
                  <a:pt x="0" y="0"/>
                </a:moveTo>
                <a:lnTo>
                  <a:pt x="1015539" y="0"/>
                </a:lnTo>
                <a:lnTo>
                  <a:pt x="1015539" y="2086127"/>
                </a:lnTo>
                <a:lnTo>
                  <a:pt x="0" y="2086127"/>
                </a:lnTo>
                <a:lnTo>
                  <a:pt x="0" y="0"/>
                </a:lnTo>
                <a:close/>
              </a:path>
            </a:pathLst>
          </a:custGeom>
          <a:blipFill>
            <a:blip r:embed="rId2">
              <a:extLst>
                <a:ext uri="{96DAC541-7B7A-43D3-8B79-37D633B846F1}">
                  <asvg:svgBlip xmlns:asvg="http://schemas.microsoft.com/office/drawing/2016/SVG/main" r:embed="rId3"/>
                </a:ext>
              </a:extLst>
            </a:blip>
            <a:stretch>
              <a:fillRect l="-105420" t="0" r="0" b="0"/>
            </a:stretch>
          </a:blipFill>
          <a:ln cap="sq">
            <a:noFill/>
            <a:prstDash val="solid"/>
            <a:miter/>
          </a:ln>
        </p:spPr>
      </p:sp>
      <p:sp>
        <p:nvSpPr>
          <p:cNvPr name="Freeform 23" id="23"/>
          <p:cNvSpPr/>
          <p:nvPr/>
        </p:nvSpPr>
        <p:spPr>
          <a:xfrm flipH="false" flipV="false" rot="-5400000">
            <a:off x="12974898" y="4545137"/>
            <a:ext cx="1841376" cy="1841376"/>
          </a:xfrm>
          <a:custGeom>
            <a:avLst/>
            <a:gdLst/>
            <a:ahLst/>
            <a:cxnLst/>
            <a:rect r="r" b="b" t="t" l="l"/>
            <a:pathLst>
              <a:path h="1841376" w="1841376">
                <a:moveTo>
                  <a:pt x="0" y="0"/>
                </a:moveTo>
                <a:lnTo>
                  <a:pt x="1841376" y="0"/>
                </a:lnTo>
                <a:lnTo>
                  <a:pt x="1841376" y="1841376"/>
                </a:lnTo>
                <a:lnTo>
                  <a:pt x="0" y="18413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AutoShape 24" id="24"/>
          <p:cNvSpPr/>
          <p:nvPr/>
        </p:nvSpPr>
        <p:spPr>
          <a:xfrm>
            <a:off x="13924143" y="6386513"/>
            <a:ext cx="0" cy="467846"/>
          </a:xfrm>
          <a:prstGeom prst="line">
            <a:avLst/>
          </a:prstGeom>
          <a:ln cap="rnd" w="38100">
            <a:solidFill>
              <a:srgbClr val="106861"/>
            </a:solidFill>
            <a:prstDash val="sysDot"/>
            <a:headEnd type="none" len="sm" w="sm"/>
            <a:tailEnd type="oval" len="lg" w="lg"/>
          </a:ln>
        </p:spPr>
      </p:sp>
      <p:sp>
        <p:nvSpPr>
          <p:cNvPr name="Freeform 25" id="25"/>
          <p:cNvSpPr/>
          <p:nvPr/>
        </p:nvSpPr>
        <p:spPr>
          <a:xfrm flipH="true" flipV="true" rot="-5400000">
            <a:off x="15418243" y="4957804"/>
            <a:ext cx="1015539" cy="2086127"/>
          </a:xfrm>
          <a:custGeom>
            <a:avLst/>
            <a:gdLst/>
            <a:ahLst/>
            <a:cxnLst/>
            <a:rect r="r" b="b" t="t" l="l"/>
            <a:pathLst>
              <a:path h="2086127" w="1015539">
                <a:moveTo>
                  <a:pt x="1015539" y="2086127"/>
                </a:moveTo>
                <a:lnTo>
                  <a:pt x="0" y="2086127"/>
                </a:lnTo>
                <a:lnTo>
                  <a:pt x="0" y="0"/>
                </a:lnTo>
                <a:lnTo>
                  <a:pt x="1015539" y="0"/>
                </a:lnTo>
                <a:lnTo>
                  <a:pt x="1015539" y="2086127"/>
                </a:lnTo>
                <a:close/>
              </a:path>
            </a:pathLst>
          </a:custGeom>
          <a:blipFill>
            <a:blip r:embed="rId6">
              <a:extLst>
                <a:ext uri="{96DAC541-7B7A-43D3-8B79-37D633B846F1}">
                  <asvg:svgBlip xmlns:asvg="http://schemas.microsoft.com/office/drawing/2016/SVG/main" r:embed="rId7"/>
                </a:ext>
              </a:extLst>
            </a:blip>
            <a:stretch>
              <a:fillRect l="-105420" t="0" r="0" b="0"/>
            </a:stretch>
          </a:blipFill>
          <a:ln cap="sq">
            <a:noFill/>
            <a:prstDash val="solid"/>
            <a:miter/>
          </a:ln>
        </p:spPr>
      </p:sp>
      <p:sp>
        <p:nvSpPr>
          <p:cNvPr name="Freeform 26" id="26"/>
          <p:cNvSpPr/>
          <p:nvPr/>
        </p:nvSpPr>
        <p:spPr>
          <a:xfrm flipH="false" flipV="false" rot="-5400000">
            <a:off x="15005324" y="4572410"/>
            <a:ext cx="1841376" cy="1841376"/>
          </a:xfrm>
          <a:custGeom>
            <a:avLst/>
            <a:gdLst/>
            <a:ahLst/>
            <a:cxnLst/>
            <a:rect r="r" b="b" t="t" l="l"/>
            <a:pathLst>
              <a:path h="1841376" w="1841376">
                <a:moveTo>
                  <a:pt x="0" y="0"/>
                </a:moveTo>
                <a:lnTo>
                  <a:pt x="1841376" y="0"/>
                </a:lnTo>
                <a:lnTo>
                  <a:pt x="1841376" y="1841376"/>
                </a:lnTo>
                <a:lnTo>
                  <a:pt x="0" y="18413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AutoShape 27" id="27"/>
          <p:cNvSpPr/>
          <p:nvPr/>
        </p:nvSpPr>
        <p:spPr>
          <a:xfrm flipH="true" flipV="true">
            <a:off x="15895334" y="4104386"/>
            <a:ext cx="3218" cy="467835"/>
          </a:xfrm>
          <a:prstGeom prst="line">
            <a:avLst/>
          </a:prstGeom>
          <a:ln cap="rnd" w="38100">
            <a:solidFill>
              <a:srgbClr val="AEEA00"/>
            </a:solidFill>
            <a:prstDash val="sysDot"/>
            <a:headEnd type="none" len="sm" w="sm"/>
            <a:tailEnd type="oval" len="lg" w="lg"/>
          </a:ln>
        </p:spPr>
      </p:sp>
      <p:sp>
        <p:nvSpPr>
          <p:cNvPr name="Freeform 28" id="28"/>
          <p:cNvSpPr/>
          <p:nvPr/>
        </p:nvSpPr>
        <p:spPr>
          <a:xfrm flipH="false" flipV="false" rot="0">
            <a:off x="15518524" y="5029183"/>
            <a:ext cx="763214" cy="971684"/>
          </a:xfrm>
          <a:custGeom>
            <a:avLst/>
            <a:gdLst/>
            <a:ahLst/>
            <a:cxnLst/>
            <a:rect r="r" b="b" t="t" l="l"/>
            <a:pathLst>
              <a:path h="971684" w="763214">
                <a:moveTo>
                  <a:pt x="0" y="0"/>
                </a:moveTo>
                <a:lnTo>
                  <a:pt x="763213" y="0"/>
                </a:lnTo>
                <a:lnTo>
                  <a:pt x="763213" y="971685"/>
                </a:lnTo>
                <a:lnTo>
                  <a:pt x="0" y="9716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29" id="29"/>
          <p:cNvSpPr/>
          <p:nvPr/>
        </p:nvSpPr>
        <p:spPr>
          <a:xfrm flipH="false" flipV="false" rot="0">
            <a:off x="1028700" y="4867783"/>
            <a:ext cx="1087354" cy="1087354"/>
          </a:xfrm>
          <a:custGeom>
            <a:avLst/>
            <a:gdLst/>
            <a:ahLst/>
            <a:cxnLst/>
            <a:rect r="r" b="b" t="t" l="l"/>
            <a:pathLst>
              <a:path h="1087354" w="1087354">
                <a:moveTo>
                  <a:pt x="0" y="0"/>
                </a:moveTo>
                <a:lnTo>
                  <a:pt x="1087354" y="0"/>
                </a:lnTo>
                <a:lnTo>
                  <a:pt x="1087354" y="1087354"/>
                </a:lnTo>
                <a:lnTo>
                  <a:pt x="0" y="108735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0" id="30"/>
          <p:cNvSpPr/>
          <p:nvPr/>
        </p:nvSpPr>
        <p:spPr>
          <a:xfrm flipH="false" flipV="false" rot="0">
            <a:off x="3250878" y="5056926"/>
            <a:ext cx="859569" cy="681404"/>
          </a:xfrm>
          <a:custGeom>
            <a:avLst/>
            <a:gdLst/>
            <a:ahLst/>
            <a:cxnLst/>
            <a:rect r="r" b="b" t="t" l="l"/>
            <a:pathLst>
              <a:path h="681404" w="859569">
                <a:moveTo>
                  <a:pt x="0" y="0"/>
                </a:moveTo>
                <a:lnTo>
                  <a:pt x="859568" y="0"/>
                </a:lnTo>
                <a:lnTo>
                  <a:pt x="859568" y="681404"/>
                </a:lnTo>
                <a:lnTo>
                  <a:pt x="0" y="68140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1" id="31"/>
          <p:cNvSpPr/>
          <p:nvPr/>
        </p:nvSpPr>
        <p:spPr>
          <a:xfrm flipH="false" flipV="false" rot="0">
            <a:off x="7309110" y="4986190"/>
            <a:ext cx="875939" cy="867976"/>
          </a:xfrm>
          <a:custGeom>
            <a:avLst/>
            <a:gdLst/>
            <a:ahLst/>
            <a:cxnLst/>
            <a:rect r="r" b="b" t="t" l="l"/>
            <a:pathLst>
              <a:path h="867976" w="875939">
                <a:moveTo>
                  <a:pt x="0" y="0"/>
                </a:moveTo>
                <a:lnTo>
                  <a:pt x="875940" y="0"/>
                </a:lnTo>
                <a:lnTo>
                  <a:pt x="875940" y="867976"/>
                </a:lnTo>
                <a:lnTo>
                  <a:pt x="0" y="8679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2" id="32"/>
          <p:cNvSpPr/>
          <p:nvPr/>
        </p:nvSpPr>
        <p:spPr>
          <a:xfrm flipH="false" flipV="false" rot="0">
            <a:off x="11383714" y="5054313"/>
            <a:ext cx="1096891" cy="877571"/>
          </a:xfrm>
          <a:custGeom>
            <a:avLst/>
            <a:gdLst/>
            <a:ahLst/>
            <a:cxnLst/>
            <a:rect r="r" b="b" t="t" l="l"/>
            <a:pathLst>
              <a:path h="877571" w="1096891">
                <a:moveTo>
                  <a:pt x="0" y="0"/>
                </a:moveTo>
                <a:lnTo>
                  <a:pt x="1096891" y="0"/>
                </a:lnTo>
                <a:lnTo>
                  <a:pt x="1096891" y="877571"/>
                </a:lnTo>
                <a:lnTo>
                  <a:pt x="0" y="87757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3" id="33"/>
          <p:cNvSpPr/>
          <p:nvPr/>
        </p:nvSpPr>
        <p:spPr>
          <a:xfrm flipH="false" flipV="false" rot="0">
            <a:off x="5227418" y="4992297"/>
            <a:ext cx="861869" cy="861869"/>
          </a:xfrm>
          <a:custGeom>
            <a:avLst/>
            <a:gdLst/>
            <a:ahLst/>
            <a:cxnLst/>
            <a:rect r="r" b="b" t="t" l="l"/>
            <a:pathLst>
              <a:path h="861869" w="861869">
                <a:moveTo>
                  <a:pt x="0" y="0"/>
                </a:moveTo>
                <a:lnTo>
                  <a:pt x="861869" y="0"/>
                </a:lnTo>
                <a:lnTo>
                  <a:pt x="861869" y="861869"/>
                </a:lnTo>
                <a:lnTo>
                  <a:pt x="0" y="86186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34" id="34"/>
          <p:cNvSpPr/>
          <p:nvPr/>
        </p:nvSpPr>
        <p:spPr>
          <a:xfrm flipH="false" flipV="false" rot="0">
            <a:off x="9352924" y="5055411"/>
            <a:ext cx="903890" cy="899726"/>
          </a:xfrm>
          <a:custGeom>
            <a:avLst/>
            <a:gdLst/>
            <a:ahLst/>
            <a:cxnLst/>
            <a:rect r="r" b="b" t="t" l="l"/>
            <a:pathLst>
              <a:path h="899726" w="903890">
                <a:moveTo>
                  <a:pt x="0" y="0"/>
                </a:moveTo>
                <a:lnTo>
                  <a:pt x="903890" y="0"/>
                </a:lnTo>
                <a:lnTo>
                  <a:pt x="903890" y="899726"/>
                </a:lnTo>
                <a:lnTo>
                  <a:pt x="0" y="89972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35" id="35"/>
          <p:cNvSpPr/>
          <p:nvPr/>
        </p:nvSpPr>
        <p:spPr>
          <a:xfrm flipH="false" flipV="false" rot="0">
            <a:off x="13372144" y="4916600"/>
            <a:ext cx="1098450" cy="1098450"/>
          </a:xfrm>
          <a:custGeom>
            <a:avLst/>
            <a:gdLst/>
            <a:ahLst/>
            <a:cxnLst/>
            <a:rect r="r" b="b" t="t" l="l"/>
            <a:pathLst>
              <a:path h="1098450" w="1098450">
                <a:moveTo>
                  <a:pt x="0" y="0"/>
                </a:moveTo>
                <a:lnTo>
                  <a:pt x="1098449" y="0"/>
                </a:lnTo>
                <a:lnTo>
                  <a:pt x="1098449" y="1098450"/>
                </a:lnTo>
                <a:lnTo>
                  <a:pt x="0" y="1098450"/>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36" id="36"/>
          <p:cNvSpPr txBox="true"/>
          <p:nvPr/>
        </p:nvSpPr>
        <p:spPr>
          <a:xfrm rot="0">
            <a:off x="526900" y="557977"/>
            <a:ext cx="6710161" cy="979546"/>
          </a:xfrm>
          <a:prstGeom prst="rect">
            <a:avLst/>
          </a:prstGeom>
        </p:spPr>
        <p:txBody>
          <a:bodyPr anchor="t" rtlCol="false" tIns="0" lIns="0" bIns="0" rIns="0">
            <a:spAutoFit/>
          </a:bodyPr>
          <a:lstStyle/>
          <a:p>
            <a:pPr algn="l">
              <a:lnSpc>
                <a:spcPts val="3843"/>
              </a:lnSpc>
            </a:pPr>
            <a:r>
              <a:rPr lang="en-US" sz="3695">
                <a:solidFill>
                  <a:srgbClr val="000000"/>
                </a:solidFill>
                <a:latin typeface="Poppins Bold"/>
                <a:ea typeface="Poppins Bold"/>
                <a:cs typeface="Poppins Bold"/>
                <a:sym typeface="Poppins Bold"/>
              </a:rPr>
              <a:t>PROTOTYPES DES FONCTIONS UTILISÉES</a:t>
            </a:r>
          </a:p>
        </p:txBody>
      </p:sp>
      <p:sp>
        <p:nvSpPr>
          <p:cNvPr name="TextBox 37" id="37"/>
          <p:cNvSpPr txBox="true"/>
          <p:nvPr/>
        </p:nvSpPr>
        <p:spPr>
          <a:xfrm rot="0">
            <a:off x="539727" y="6942782"/>
            <a:ext cx="2060473" cy="581532"/>
          </a:xfrm>
          <a:prstGeom prst="rect">
            <a:avLst/>
          </a:prstGeom>
        </p:spPr>
        <p:txBody>
          <a:bodyPr anchor="t" rtlCol="false" tIns="0" lIns="0" bIns="0" rIns="0">
            <a:spAutoFit/>
          </a:bodyPr>
          <a:lstStyle/>
          <a:p>
            <a:pPr algn="ctr" marL="0" indent="0" lvl="0">
              <a:lnSpc>
                <a:spcPts val="2336"/>
              </a:lnSpc>
              <a:spcBef>
                <a:spcPct val="0"/>
              </a:spcBef>
            </a:pPr>
            <a:r>
              <a:rPr lang="en-US" b="true" sz="1825">
                <a:solidFill>
                  <a:srgbClr val="343432"/>
                </a:solidFill>
                <a:latin typeface="Open Sauce Bold"/>
                <a:ea typeface="Open Sauce Bold"/>
                <a:cs typeface="Open Sauce Bold"/>
                <a:sym typeface="Open Sauce Bold"/>
              </a:rPr>
              <a:t>gestions des alertes</a:t>
            </a:r>
          </a:p>
        </p:txBody>
      </p:sp>
      <p:sp>
        <p:nvSpPr>
          <p:cNvPr name="TextBox 38" id="38"/>
          <p:cNvSpPr txBox="true"/>
          <p:nvPr/>
        </p:nvSpPr>
        <p:spPr>
          <a:xfrm rot="0">
            <a:off x="2568850" y="3339272"/>
            <a:ext cx="2060473" cy="581532"/>
          </a:xfrm>
          <a:prstGeom prst="rect">
            <a:avLst/>
          </a:prstGeom>
        </p:spPr>
        <p:txBody>
          <a:bodyPr anchor="t" rtlCol="false" tIns="0" lIns="0" bIns="0" rIns="0">
            <a:spAutoFit/>
          </a:bodyPr>
          <a:lstStyle/>
          <a:p>
            <a:pPr algn="ctr" marL="0" indent="0" lvl="0">
              <a:lnSpc>
                <a:spcPts val="2336"/>
              </a:lnSpc>
              <a:spcBef>
                <a:spcPct val="0"/>
              </a:spcBef>
            </a:pPr>
            <a:r>
              <a:rPr lang="en-US" b="true" sz="1825">
                <a:solidFill>
                  <a:srgbClr val="343432"/>
                </a:solidFill>
                <a:latin typeface="Open Sauce Bold"/>
                <a:ea typeface="Open Sauce Bold"/>
                <a:cs typeface="Open Sauce Bold"/>
                <a:sym typeface="Open Sauce Bold"/>
              </a:rPr>
              <a:t>gestion des notifications</a:t>
            </a:r>
          </a:p>
        </p:txBody>
      </p:sp>
      <p:sp>
        <p:nvSpPr>
          <p:cNvPr name="TextBox 39" id="39"/>
          <p:cNvSpPr txBox="true"/>
          <p:nvPr/>
        </p:nvSpPr>
        <p:spPr>
          <a:xfrm rot="0">
            <a:off x="4694882" y="6942782"/>
            <a:ext cx="2060473" cy="876807"/>
          </a:xfrm>
          <a:prstGeom prst="rect">
            <a:avLst/>
          </a:prstGeom>
        </p:spPr>
        <p:txBody>
          <a:bodyPr anchor="t" rtlCol="false" tIns="0" lIns="0" bIns="0" rIns="0">
            <a:spAutoFit/>
          </a:bodyPr>
          <a:lstStyle/>
          <a:p>
            <a:pPr algn="ctr" marL="0" indent="0" lvl="0">
              <a:lnSpc>
                <a:spcPts val="2336"/>
              </a:lnSpc>
              <a:spcBef>
                <a:spcPct val="0"/>
              </a:spcBef>
            </a:pPr>
            <a:r>
              <a:rPr lang="en-US" b="true" sz="1825">
                <a:solidFill>
                  <a:srgbClr val="343432"/>
                </a:solidFill>
                <a:latin typeface="Open Sauce Bold"/>
                <a:ea typeface="Open Sauce Bold"/>
                <a:cs typeface="Open Sauce Bold"/>
                <a:sym typeface="Open Sauce Bold"/>
              </a:rPr>
              <a:t> gestion des fichier d'historique</a:t>
            </a:r>
          </a:p>
        </p:txBody>
      </p:sp>
      <p:sp>
        <p:nvSpPr>
          <p:cNvPr name="TextBox 40" id="40"/>
          <p:cNvSpPr txBox="true"/>
          <p:nvPr/>
        </p:nvSpPr>
        <p:spPr>
          <a:xfrm rot="0">
            <a:off x="6502611" y="2874389"/>
            <a:ext cx="2641389" cy="876807"/>
          </a:xfrm>
          <a:prstGeom prst="rect">
            <a:avLst/>
          </a:prstGeom>
        </p:spPr>
        <p:txBody>
          <a:bodyPr anchor="t" rtlCol="false" tIns="0" lIns="0" bIns="0" rIns="0">
            <a:spAutoFit/>
          </a:bodyPr>
          <a:lstStyle/>
          <a:p>
            <a:pPr algn="ctr" marL="0" indent="0" lvl="0">
              <a:lnSpc>
                <a:spcPts val="2336"/>
              </a:lnSpc>
              <a:spcBef>
                <a:spcPct val="0"/>
              </a:spcBef>
            </a:pPr>
            <a:r>
              <a:rPr lang="en-US" b="true" sz="1825">
                <a:solidFill>
                  <a:srgbClr val="343432"/>
                </a:solidFill>
                <a:latin typeface="Open Sauce Bold"/>
                <a:ea typeface="Open Sauce Bold"/>
                <a:cs typeface="Open Sauce Bold"/>
                <a:sym typeface="Open Sauce Bold"/>
              </a:rPr>
              <a:t>Fonctions d’affichage ,d’ajout et de suppression</a:t>
            </a:r>
          </a:p>
        </p:txBody>
      </p:sp>
      <p:sp>
        <p:nvSpPr>
          <p:cNvPr name="TextBox 41" id="41"/>
          <p:cNvSpPr txBox="true"/>
          <p:nvPr/>
        </p:nvSpPr>
        <p:spPr>
          <a:xfrm rot="0">
            <a:off x="8881194" y="6933510"/>
            <a:ext cx="2060473" cy="1172082"/>
          </a:xfrm>
          <a:prstGeom prst="rect">
            <a:avLst/>
          </a:prstGeom>
        </p:spPr>
        <p:txBody>
          <a:bodyPr anchor="t" rtlCol="false" tIns="0" lIns="0" bIns="0" rIns="0">
            <a:spAutoFit/>
          </a:bodyPr>
          <a:lstStyle/>
          <a:p>
            <a:pPr algn="ctr" marL="0" indent="0" lvl="0">
              <a:lnSpc>
                <a:spcPts val="2336"/>
              </a:lnSpc>
              <a:spcBef>
                <a:spcPct val="0"/>
              </a:spcBef>
            </a:pPr>
            <a:r>
              <a:rPr lang="en-US" b="true" sz="1825">
                <a:solidFill>
                  <a:srgbClr val="343432"/>
                </a:solidFill>
                <a:latin typeface="Open Sauce Bold"/>
                <a:ea typeface="Open Sauce Bold"/>
                <a:cs typeface="Open Sauce Bold"/>
                <a:sym typeface="Open Sauce Bold"/>
              </a:rPr>
              <a:t>Fonctions pour changer les valeurs des capteurs</a:t>
            </a:r>
            <a:r>
              <a:rPr lang="en-US" b="true" sz="1825">
                <a:solidFill>
                  <a:srgbClr val="343432"/>
                </a:solidFill>
                <a:latin typeface="Open Sauce Bold"/>
                <a:ea typeface="Open Sauce Bold"/>
                <a:cs typeface="Open Sauce Bold"/>
                <a:sym typeface="Open Sauce Bold"/>
              </a:rPr>
              <a:t> </a:t>
            </a:r>
          </a:p>
        </p:txBody>
      </p:sp>
      <p:sp>
        <p:nvSpPr>
          <p:cNvPr name="TextBox 42" id="42"/>
          <p:cNvSpPr txBox="true"/>
          <p:nvPr/>
        </p:nvSpPr>
        <p:spPr>
          <a:xfrm rot="0">
            <a:off x="10941667" y="3327538"/>
            <a:ext cx="2060473" cy="581532"/>
          </a:xfrm>
          <a:prstGeom prst="rect">
            <a:avLst/>
          </a:prstGeom>
        </p:spPr>
        <p:txBody>
          <a:bodyPr anchor="t" rtlCol="false" tIns="0" lIns="0" bIns="0" rIns="0">
            <a:spAutoFit/>
          </a:bodyPr>
          <a:lstStyle/>
          <a:p>
            <a:pPr algn="ctr" marL="0" indent="0" lvl="0">
              <a:lnSpc>
                <a:spcPts val="2336"/>
              </a:lnSpc>
              <a:spcBef>
                <a:spcPct val="0"/>
              </a:spcBef>
            </a:pPr>
            <a:r>
              <a:rPr lang="en-US" b="true" sz="1825">
                <a:solidFill>
                  <a:srgbClr val="343432"/>
                </a:solidFill>
                <a:latin typeface="Open Sauce Bold"/>
                <a:ea typeface="Open Sauce Bold"/>
                <a:cs typeface="Open Sauce Bold"/>
                <a:sym typeface="Open Sauce Bold"/>
              </a:rPr>
              <a:t>Fonctions d’ajustement</a:t>
            </a:r>
          </a:p>
        </p:txBody>
      </p:sp>
      <p:sp>
        <p:nvSpPr>
          <p:cNvPr name="TextBox 43" id="43"/>
          <p:cNvSpPr txBox="true"/>
          <p:nvPr/>
        </p:nvSpPr>
        <p:spPr>
          <a:xfrm rot="0">
            <a:off x="12783044" y="6844834"/>
            <a:ext cx="2060473" cy="581532"/>
          </a:xfrm>
          <a:prstGeom prst="rect">
            <a:avLst/>
          </a:prstGeom>
        </p:spPr>
        <p:txBody>
          <a:bodyPr anchor="t" rtlCol="false" tIns="0" lIns="0" bIns="0" rIns="0">
            <a:spAutoFit/>
          </a:bodyPr>
          <a:lstStyle/>
          <a:p>
            <a:pPr algn="ctr" marL="0" indent="0" lvl="0">
              <a:lnSpc>
                <a:spcPts val="2336"/>
              </a:lnSpc>
              <a:spcBef>
                <a:spcPct val="0"/>
              </a:spcBef>
            </a:pPr>
            <a:r>
              <a:rPr lang="en-US" b="true" sz="1825">
                <a:solidFill>
                  <a:srgbClr val="343432"/>
                </a:solidFill>
                <a:latin typeface="Open Sauce Bold"/>
                <a:ea typeface="Open Sauce Bold"/>
                <a:cs typeface="Open Sauce Bold"/>
                <a:sym typeface="Open Sauce Bold"/>
              </a:rPr>
              <a:t>Fonctions de gestion</a:t>
            </a:r>
          </a:p>
        </p:txBody>
      </p:sp>
      <p:sp>
        <p:nvSpPr>
          <p:cNvPr name="TextBox 44" id="44"/>
          <p:cNvSpPr txBox="true"/>
          <p:nvPr/>
        </p:nvSpPr>
        <p:spPr>
          <a:xfrm rot="0">
            <a:off x="14967206" y="3626957"/>
            <a:ext cx="2060473" cy="286257"/>
          </a:xfrm>
          <a:prstGeom prst="rect">
            <a:avLst/>
          </a:prstGeom>
        </p:spPr>
        <p:txBody>
          <a:bodyPr anchor="t" rtlCol="false" tIns="0" lIns="0" bIns="0" rIns="0">
            <a:spAutoFit/>
          </a:bodyPr>
          <a:lstStyle/>
          <a:p>
            <a:pPr algn="ctr" marL="0" indent="0" lvl="0">
              <a:lnSpc>
                <a:spcPts val="2336"/>
              </a:lnSpc>
              <a:spcBef>
                <a:spcPct val="0"/>
              </a:spcBef>
            </a:pPr>
            <a:r>
              <a:rPr lang="en-US" b="true" sz="1825">
                <a:solidFill>
                  <a:srgbClr val="343432"/>
                </a:solidFill>
                <a:latin typeface="Open Sauce Bold"/>
                <a:ea typeface="Open Sauce Bold"/>
                <a:cs typeface="Open Sauce Bold"/>
                <a:sym typeface="Open Sauce Bold"/>
              </a:rPr>
              <a:t>fonction main()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2371233" y="1054279"/>
            <a:ext cx="15521775" cy="2949137"/>
          </a:xfrm>
          <a:custGeom>
            <a:avLst/>
            <a:gdLst/>
            <a:ahLst/>
            <a:cxnLst/>
            <a:rect r="r" b="b" t="t" l="l"/>
            <a:pathLst>
              <a:path h="2949137" w="15521775">
                <a:moveTo>
                  <a:pt x="0" y="0"/>
                </a:moveTo>
                <a:lnTo>
                  <a:pt x="15521775" y="0"/>
                </a:lnTo>
                <a:lnTo>
                  <a:pt x="15521775" y="2949137"/>
                </a:lnTo>
                <a:lnTo>
                  <a:pt x="0" y="2949137"/>
                </a:lnTo>
                <a:lnTo>
                  <a:pt x="0" y="0"/>
                </a:lnTo>
                <a:close/>
              </a:path>
            </a:pathLst>
          </a:custGeom>
          <a:blipFill>
            <a:blip r:embed="rId2"/>
            <a:stretch>
              <a:fillRect l="0" t="0" r="0" b="0"/>
            </a:stretch>
          </a:blipFill>
          <a:ln w="38100" cap="sq">
            <a:solidFill>
              <a:srgbClr val="035D61"/>
            </a:solidFill>
            <a:prstDash val="solid"/>
            <a:miter/>
          </a:ln>
        </p:spPr>
      </p:sp>
      <p:sp>
        <p:nvSpPr>
          <p:cNvPr name="Freeform 3" id="3"/>
          <p:cNvSpPr/>
          <p:nvPr/>
        </p:nvSpPr>
        <p:spPr>
          <a:xfrm flipH="false" flipV="false" rot="0">
            <a:off x="2371233" y="4264196"/>
            <a:ext cx="15521775" cy="5937079"/>
          </a:xfrm>
          <a:custGeom>
            <a:avLst/>
            <a:gdLst/>
            <a:ahLst/>
            <a:cxnLst/>
            <a:rect r="r" b="b" t="t" l="l"/>
            <a:pathLst>
              <a:path h="5937079" w="15521775">
                <a:moveTo>
                  <a:pt x="0" y="0"/>
                </a:moveTo>
                <a:lnTo>
                  <a:pt x="15521775" y="0"/>
                </a:lnTo>
                <a:lnTo>
                  <a:pt x="15521775" y="5937079"/>
                </a:lnTo>
                <a:lnTo>
                  <a:pt x="0" y="5937079"/>
                </a:lnTo>
                <a:lnTo>
                  <a:pt x="0" y="0"/>
                </a:lnTo>
                <a:close/>
              </a:path>
            </a:pathLst>
          </a:custGeom>
          <a:blipFill>
            <a:blip r:embed="rId3"/>
            <a:stretch>
              <a:fillRect l="0" t="0" r="0" b="0"/>
            </a:stretch>
          </a:blipFill>
          <a:ln w="38100" cap="sq">
            <a:solidFill>
              <a:srgbClr val="106861"/>
            </a:solidFill>
            <a:prstDash val="solid"/>
            <a:miter/>
          </a:ln>
        </p:spPr>
      </p:sp>
      <p:sp>
        <p:nvSpPr>
          <p:cNvPr name="TextBox 4" id="4"/>
          <p:cNvSpPr txBox="true"/>
          <p:nvPr/>
        </p:nvSpPr>
        <p:spPr>
          <a:xfrm rot="0">
            <a:off x="95250" y="2029738"/>
            <a:ext cx="2065139" cy="941070"/>
          </a:xfrm>
          <a:prstGeom prst="rect">
            <a:avLst/>
          </a:prstGeom>
        </p:spPr>
        <p:txBody>
          <a:bodyPr anchor="t" rtlCol="false" tIns="0" lIns="0" bIns="0" rIns="0">
            <a:spAutoFit/>
          </a:bodyPr>
          <a:lstStyle/>
          <a:p>
            <a:pPr algn="ctr">
              <a:lnSpc>
                <a:spcPts val="3779"/>
              </a:lnSpc>
              <a:spcBef>
                <a:spcPct val="0"/>
              </a:spcBef>
            </a:pPr>
            <a:r>
              <a:rPr lang="en-US" b="true" sz="2700" spc="83">
                <a:solidFill>
                  <a:srgbClr val="035D61"/>
                </a:solidFill>
                <a:latin typeface="Aleo Bold"/>
                <a:ea typeface="Aleo Bold"/>
                <a:cs typeface="Aleo Bold"/>
                <a:sym typeface="Aleo Bold"/>
              </a:rPr>
              <a:t> Fonction :</a:t>
            </a:r>
          </a:p>
          <a:p>
            <a:pPr algn="ctr">
              <a:lnSpc>
                <a:spcPts val="3779"/>
              </a:lnSpc>
              <a:spcBef>
                <a:spcPct val="0"/>
              </a:spcBef>
            </a:pPr>
            <a:r>
              <a:rPr lang="en-US" b="true" sz="2700" spc="83">
                <a:solidFill>
                  <a:srgbClr val="035D61"/>
                </a:solidFill>
                <a:latin typeface="Aleo Bold"/>
                <a:ea typeface="Aleo Bold"/>
                <a:cs typeface="Aleo Bold"/>
                <a:sym typeface="Aleo Bold"/>
              </a:rPr>
              <a:t> creat_alerte</a:t>
            </a:r>
          </a:p>
        </p:txBody>
      </p:sp>
      <p:sp>
        <p:nvSpPr>
          <p:cNvPr name="TextBox 5" id="5"/>
          <p:cNvSpPr txBox="true"/>
          <p:nvPr/>
        </p:nvSpPr>
        <p:spPr>
          <a:xfrm rot="0">
            <a:off x="279835" y="-25422"/>
            <a:ext cx="10466686" cy="795020"/>
          </a:xfrm>
          <a:prstGeom prst="rect">
            <a:avLst/>
          </a:prstGeom>
        </p:spPr>
        <p:txBody>
          <a:bodyPr anchor="t" rtlCol="false" tIns="0" lIns="0" bIns="0" rIns="0">
            <a:spAutoFit/>
          </a:bodyPr>
          <a:lstStyle/>
          <a:p>
            <a:pPr algn="ctr">
              <a:lnSpc>
                <a:spcPts val="6580"/>
              </a:lnSpc>
              <a:spcBef>
                <a:spcPct val="0"/>
              </a:spcBef>
            </a:pPr>
            <a:r>
              <a:rPr lang="en-US" b="true" sz="4700">
                <a:solidFill>
                  <a:srgbClr val="123D33"/>
                </a:solidFill>
                <a:latin typeface="Open Sauce Bold"/>
                <a:ea typeface="Open Sauce Bold"/>
                <a:cs typeface="Open Sauce Bold"/>
                <a:sym typeface="Open Sauce Bold"/>
              </a:rPr>
              <a:t>Fonctions de gestions des alertes :</a:t>
            </a:r>
          </a:p>
        </p:txBody>
      </p:sp>
      <p:sp>
        <p:nvSpPr>
          <p:cNvPr name="TextBox 6" id="6"/>
          <p:cNvSpPr txBox="true"/>
          <p:nvPr/>
        </p:nvSpPr>
        <p:spPr>
          <a:xfrm rot="0">
            <a:off x="279835" y="6121170"/>
            <a:ext cx="1880554" cy="1417320"/>
          </a:xfrm>
          <a:prstGeom prst="rect">
            <a:avLst/>
          </a:prstGeom>
        </p:spPr>
        <p:txBody>
          <a:bodyPr anchor="t" rtlCol="false" tIns="0" lIns="0" bIns="0" rIns="0">
            <a:spAutoFit/>
          </a:bodyPr>
          <a:lstStyle/>
          <a:p>
            <a:pPr algn="ctr">
              <a:lnSpc>
                <a:spcPts val="3779"/>
              </a:lnSpc>
              <a:spcBef>
                <a:spcPct val="0"/>
              </a:spcBef>
            </a:pPr>
            <a:r>
              <a:rPr lang="en-US" b="true" sz="2700">
                <a:solidFill>
                  <a:srgbClr val="035D61"/>
                </a:solidFill>
                <a:latin typeface="Aleo Bold"/>
                <a:ea typeface="Aleo Bold"/>
                <a:cs typeface="Aleo Bold"/>
                <a:sym typeface="Aleo Bold"/>
              </a:rPr>
              <a:t>Fonction : ajouter_alertes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676946" y="2080020"/>
            <a:ext cx="16687046" cy="2208682"/>
          </a:xfrm>
          <a:custGeom>
            <a:avLst/>
            <a:gdLst/>
            <a:ahLst/>
            <a:cxnLst/>
            <a:rect r="r" b="b" t="t" l="l"/>
            <a:pathLst>
              <a:path h="2208682" w="16687046">
                <a:moveTo>
                  <a:pt x="0" y="0"/>
                </a:moveTo>
                <a:lnTo>
                  <a:pt x="16687046" y="0"/>
                </a:lnTo>
                <a:lnTo>
                  <a:pt x="16687046" y="2208682"/>
                </a:lnTo>
                <a:lnTo>
                  <a:pt x="0" y="2208682"/>
                </a:lnTo>
                <a:lnTo>
                  <a:pt x="0" y="0"/>
                </a:lnTo>
                <a:close/>
              </a:path>
            </a:pathLst>
          </a:custGeom>
          <a:blipFill>
            <a:blip r:embed="rId2"/>
            <a:stretch>
              <a:fillRect l="0" t="0" r="-845" b="0"/>
            </a:stretch>
          </a:blipFill>
          <a:ln w="38100" cap="sq">
            <a:solidFill>
              <a:srgbClr val="106861"/>
            </a:solidFill>
            <a:prstDash val="solid"/>
            <a:miter/>
          </a:ln>
        </p:spPr>
      </p:sp>
      <p:sp>
        <p:nvSpPr>
          <p:cNvPr name="Freeform 3" id="3"/>
          <p:cNvSpPr/>
          <p:nvPr/>
        </p:nvSpPr>
        <p:spPr>
          <a:xfrm flipH="false" flipV="false" rot="0">
            <a:off x="676946" y="4800906"/>
            <a:ext cx="17050395" cy="4923302"/>
          </a:xfrm>
          <a:custGeom>
            <a:avLst/>
            <a:gdLst/>
            <a:ahLst/>
            <a:cxnLst/>
            <a:rect r="r" b="b" t="t" l="l"/>
            <a:pathLst>
              <a:path h="4923302" w="17050395">
                <a:moveTo>
                  <a:pt x="0" y="0"/>
                </a:moveTo>
                <a:lnTo>
                  <a:pt x="17050395" y="0"/>
                </a:lnTo>
                <a:lnTo>
                  <a:pt x="17050395" y="4923302"/>
                </a:lnTo>
                <a:lnTo>
                  <a:pt x="0" y="4923302"/>
                </a:lnTo>
                <a:lnTo>
                  <a:pt x="0" y="0"/>
                </a:lnTo>
                <a:close/>
              </a:path>
            </a:pathLst>
          </a:custGeom>
          <a:blipFill>
            <a:blip r:embed="rId3"/>
            <a:stretch>
              <a:fillRect l="0" t="0" r="0" b="0"/>
            </a:stretch>
          </a:blipFill>
          <a:ln w="38100" cap="sq">
            <a:solidFill>
              <a:srgbClr val="106861"/>
            </a:solidFill>
            <a:prstDash val="solid"/>
            <a:miter/>
          </a:ln>
        </p:spPr>
      </p:sp>
      <p:sp>
        <p:nvSpPr>
          <p:cNvPr name="TextBox 4" id="4"/>
          <p:cNvSpPr txBox="true"/>
          <p:nvPr/>
        </p:nvSpPr>
        <p:spPr>
          <a:xfrm rot="0">
            <a:off x="676946" y="233680"/>
            <a:ext cx="7483971" cy="795020"/>
          </a:xfrm>
          <a:prstGeom prst="rect">
            <a:avLst/>
          </a:prstGeom>
        </p:spPr>
        <p:txBody>
          <a:bodyPr anchor="t" rtlCol="false" tIns="0" lIns="0" bIns="0" rIns="0">
            <a:spAutoFit/>
          </a:bodyPr>
          <a:lstStyle/>
          <a:p>
            <a:pPr algn="ctr">
              <a:lnSpc>
                <a:spcPts val="6580"/>
              </a:lnSpc>
              <a:spcBef>
                <a:spcPct val="0"/>
              </a:spcBef>
            </a:pPr>
            <a:r>
              <a:rPr lang="en-US" b="true" sz="4700">
                <a:solidFill>
                  <a:srgbClr val="123D33"/>
                </a:solidFill>
                <a:latin typeface="Open Sauce Bold"/>
                <a:ea typeface="Open Sauce Bold"/>
                <a:cs typeface="Open Sauce Bold"/>
                <a:sym typeface="Open Sauce Bold"/>
              </a:rPr>
              <a:t>Gestion des notifications</a:t>
            </a:r>
          </a:p>
        </p:txBody>
      </p:sp>
      <p:sp>
        <p:nvSpPr>
          <p:cNvPr name="TextBox 5" id="5"/>
          <p:cNvSpPr txBox="true"/>
          <p:nvPr/>
        </p:nvSpPr>
        <p:spPr>
          <a:xfrm rot="0">
            <a:off x="733425" y="1123950"/>
            <a:ext cx="3331964" cy="464820"/>
          </a:xfrm>
          <a:prstGeom prst="rect">
            <a:avLst/>
          </a:prstGeom>
        </p:spPr>
        <p:txBody>
          <a:bodyPr anchor="t" rtlCol="false" tIns="0" lIns="0" bIns="0" rIns="0">
            <a:spAutoFit/>
          </a:bodyPr>
          <a:lstStyle/>
          <a:p>
            <a:pPr algn="ctr">
              <a:lnSpc>
                <a:spcPts val="3779"/>
              </a:lnSpc>
              <a:spcBef>
                <a:spcPct val="0"/>
              </a:spcBef>
            </a:pPr>
            <a:r>
              <a:rPr lang="en-US" b="true" sz="2700">
                <a:solidFill>
                  <a:srgbClr val="106861"/>
                </a:solidFill>
                <a:latin typeface="Aleo Bold"/>
                <a:ea typeface="Aleo Bold"/>
                <a:cs typeface="Aleo Bold"/>
                <a:sym typeface="Aleo Bold"/>
              </a:rPr>
              <a:t>Fonction : creat_notif</a:t>
            </a:r>
          </a:p>
        </p:txBody>
      </p:sp>
      <p:sp>
        <p:nvSpPr>
          <p:cNvPr name="TextBox 6" id="6"/>
          <p:cNvSpPr txBox="true"/>
          <p:nvPr/>
        </p:nvSpPr>
        <p:spPr>
          <a:xfrm rot="0">
            <a:off x="953370" y="4231552"/>
            <a:ext cx="2779117" cy="464820"/>
          </a:xfrm>
          <a:prstGeom prst="rect">
            <a:avLst/>
          </a:prstGeom>
        </p:spPr>
        <p:txBody>
          <a:bodyPr anchor="t" rtlCol="false" tIns="0" lIns="0" bIns="0" rIns="0">
            <a:spAutoFit/>
          </a:bodyPr>
          <a:lstStyle/>
          <a:p>
            <a:pPr algn="ctr">
              <a:lnSpc>
                <a:spcPts val="3779"/>
              </a:lnSpc>
              <a:spcBef>
                <a:spcPct val="0"/>
              </a:spcBef>
            </a:pPr>
            <a:r>
              <a:rPr lang="en-US" b="true" sz="2700">
                <a:solidFill>
                  <a:srgbClr val="106861"/>
                </a:solidFill>
                <a:latin typeface="Aleo Bold"/>
                <a:ea typeface="Aleo Bold"/>
                <a:cs typeface="Aleo Bold"/>
                <a:sym typeface="Aleo Bold"/>
              </a:rPr>
              <a:t>Fonction :  Enfiler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7873462" y="5143500"/>
            <a:ext cx="9813137" cy="4818806"/>
          </a:xfrm>
          <a:custGeom>
            <a:avLst/>
            <a:gdLst/>
            <a:ahLst/>
            <a:cxnLst/>
            <a:rect r="r" b="b" t="t" l="l"/>
            <a:pathLst>
              <a:path h="4818806" w="9813137">
                <a:moveTo>
                  <a:pt x="0" y="0"/>
                </a:moveTo>
                <a:lnTo>
                  <a:pt x="9813137" y="0"/>
                </a:lnTo>
                <a:lnTo>
                  <a:pt x="9813137" y="4818806"/>
                </a:lnTo>
                <a:lnTo>
                  <a:pt x="0" y="4818806"/>
                </a:lnTo>
                <a:lnTo>
                  <a:pt x="0" y="0"/>
                </a:lnTo>
                <a:close/>
              </a:path>
            </a:pathLst>
          </a:custGeom>
          <a:blipFill>
            <a:blip r:embed="rId2"/>
            <a:stretch>
              <a:fillRect l="0" t="0" r="0" b="-13564"/>
            </a:stretch>
          </a:blipFill>
          <a:ln w="38100" cap="sq">
            <a:solidFill>
              <a:srgbClr val="035D61"/>
            </a:solidFill>
            <a:prstDash val="solid"/>
            <a:miter/>
          </a:ln>
        </p:spPr>
      </p:sp>
      <p:sp>
        <p:nvSpPr>
          <p:cNvPr name="TextBox 3" id="3"/>
          <p:cNvSpPr txBox="true"/>
          <p:nvPr/>
        </p:nvSpPr>
        <p:spPr>
          <a:xfrm rot="0">
            <a:off x="2931055" y="7053793"/>
            <a:ext cx="2512616" cy="941070"/>
          </a:xfrm>
          <a:prstGeom prst="rect">
            <a:avLst/>
          </a:prstGeom>
        </p:spPr>
        <p:txBody>
          <a:bodyPr anchor="t" rtlCol="false" tIns="0" lIns="0" bIns="0" rIns="0">
            <a:spAutoFit/>
          </a:bodyPr>
          <a:lstStyle/>
          <a:p>
            <a:pPr algn="ctr">
              <a:lnSpc>
                <a:spcPts val="3779"/>
              </a:lnSpc>
              <a:spcBef>
                <a:spcPct val="0"/>
              </a:spcBef>
            </a:pPr>
            <a:r>
              <a:rPr lang="en-US" b="true" sz="2700">
                <a:solidFill>
                  <a:srgbClr val="106861"/>
                </a:solidFill>
                <a:latin typeface="Aleo Bold"/>
                <a:ea typeface="Aleo Bold"/>
                <a:cs typeface="Aleo Bold"/>
                <a:sym typeface="Aleo Bold"/>
              </a:rPr>
              <a:t>Fonction :</a:t>
            </a:r>
          </a:p>
          <a:p>
            <a:pPr algn="ctr">
              <a:lnSpc>
                <a:spcPts val="3779"/>
              </a:lnSpc>
              <a:spcBef>
                <a:spcPct val="0"/>
              </a:spcBef>
            </a:pPr>
            <a:r>
              <a:rPr lang="en-US" b="true" sz="2700">
                <a:solidFill>
                  <a:srgbClr val="106861"/>
                </a:solidFill>
                <a:latin typeface="Aleo Bold"/>
                <a:ea typeface="Aleo Bold"/>
                <a:cs typeface="Aleo Bold"/>
                <a:sym typeface="Aleo Bold"/>
              </a:rPr>
              <a:t> afficher_alertes</a:t>
            </a:r>
          </a:p>
        </p:txBody>
      </p:sp>
      <p:sp>
        <p:nvSpPr>
          <p:cNvPr name="Freeform 4" id="4"/>
          <p:cNvSpPr/>
          <p:nvPr/>
        </p:nvSpPr>
        <p:spPr>
          <a:xfrm flipH="false" flipV="false" rot="0">
            <a:off x="662100" y="631923"/>
            <a:ext cx="11301259" cy="4237972"/>
          </a:xfrm>
          <a:custGeom>
            <a:avLst/>
            <a:gdLst/>
            <a:ahLst/>
            <a:cxnLst/>
            <a:rect r="r" b="b" t="t" l="l"/>
            <a:pathLst>
              <a:path h="4237972" w="11301259">
                <a:moveTo>
                  <a:pt x="0" y="0"/>
                </a:moveTo>
                <a:lnTo>
                  <a:pt x="11301259" y="0"/>
                </a:lnTo>
                <a:lnTo>
                  <a:pt x="11301259" y="4237972"/>
                </a:lnTo>
                <a:lnTo>
                  <a:pt x="0" y="4237972"/>
                </a:lnTo>
                <a:lnTo>
                  <a:pt x="0" y="0"/>
                </a:lnTo>
                <a:close/>
              </a:path>
            </a:pathLst>
          </a:custGeom>
          <a:blipFill>
            <a:blip r:embed="rId3"/>
            <a:stretch>
              <a:fillRect l="0" t="0" r="0" b="0"/>
            </a:stretch>
          </a:blipFill>
          <a:ln w="38100" cap="sq">
            <a:solidFill>
              <a:srgbClr val="106861"/>
            </a:solidFill>
            <a:prstDash val="solid"/>
            <a:miter/>
          </a:ln>
        </p:spPr>
      </p:sp>
      <p:sp>
        <p:nvSpPr>
          <p:cNvPr name="TextBox 5" id="5"/>
          <p:cNvSpPr txBox="true"/>
          <p:nvPr/>
        </p:nvSpPr>
        <p:spPr>
          <a:xfrm rot="0">
            <a:off x="13505287" y="2017567"/>
            <a:ext cx="2057202" cy="941070"/>
          </a:xfrm>
          <a:prstGeom prst="rect">
            <a:avLst/>
          </a:prstGeom>
        </p:spPr>
        <p:txBody>
          <a:bodyPr anchor="t" rtlCol="false" tIns="0" lIns="0" bIns="0" rIns="0">
            <a:spAutoFit/>
          </a:bodyPr>
          <a:lstStyle/>
          <a:p>
            <a:pPr algn="ctr">
              <a:lnSpc>
                <a:spcPts val="3779"/>
              </a:lnSpc>
              <a:spcBef>
                <a:spcPct val="0"/>
              </a:spcBef>
            </a:pPr>
            <a:r>
              <a:rPr lang="en-US" b="true" sz="2700">
                <a:solidFill>
                  <a:srgbClr val="106861"/>
                </a:solidFill>
                <a:latin typeface="Aleo Bold"/>
                <a:ea typeface="Aleo Bold"/>
                <a:cs typeface="Aleo Bold"/>
                <a:sym typeface="Aleo Bold"/>
              </a:rPr>
              <a:t>Fonction :</a:t>
            </a:r>
          </a:p>
          <a:p>
            <a:pPr algn="ctr">
              <a:lnSpc>
                <a:spcPts val="3779"/>
              </a:lnSpc>
              <a:spcBef>
                <a:spcPct val="0"/>
              </a:spcBef>
            </a:pPr>
            <a:r>
              <a:rPr lang="en-US" b="true" sz="2700">
                <a:solidFill>
                  <a:srgbClr val="106861"/>
                </a:solidFill>
                <a:latin typeface="Aleo Bold"/>
                <a:ea typeface="Aleo Bold"/>
                <a:cs typeface="Aleo Bold"/>
                <a:sym typeface="Aleo Bold"/>
              </a:rPr>
              <a:t> afficher_File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104794"/>
            <a:ext cx="15561803" cy="3423597"/>
          </a:xfrm>
          <a:custGeom>
            <a:avLst/>
            <a:gdLst/>
            <a:ahLst/>
            <a:cxnLst/>
            <a:rect r="r" b="b" t="t" l="l"/>
            <a:pathLst>
              <a:path h="3423597" w="15561803">
                <a:moveTo>
                  <a:pt x="0" y="0"/>
                </a:moveTo>
                <a:lnTo>
                  <a:pt x="15561803" y="0"/>
                </a:lnTo>
                <a:lnTo>
                  <a:pt x="15561803" y="3423597"/>
                </a:lnTo>
                <a:lnTo>
                  <a:pt x="0" y="3423597"/>
                </a:lnTo>
                <a:lnTo>
                  <a:pt x="0" y="0"/>
                </a:lnTo>
                <a:close/>
              </a:path>
            </a:pathLst>
          </a:custGeom>
          <a:blipFill>
            <a:blip r:embed="rId2"/>
            <a:stretch>
              <a:fillRect l="0" t="0" r="0" b="0"/>
            </a:stretch>
          </a:blipFill>
          <a:ln w="38100" cap="sq">
            <a:solidFill>
              <a:srgbClr val="106861"/>
            </a:solidFill>
            <a:prstDash val="solid"/>
            <a:miter/>
          </a:ln>
        </p:spPr>
      </p:sp>
      <p:sp>
        <p:nvSpPr>
          <p:cNvPr name="TextBox 3" id="3"/>
          <p:cNvSpPr txBox="true"/>
          <p:nvPr/>
        </p:nvSpPr>
        <p:spPr>
          <a:xfrm rot="0">
            <a:off x="0" y="386080"/>
            <a:ext cx="10893351" cy="795020"/>
          </a:xfrm>
          <a:prstGeom prst="rect">
            <a:avLst/>
          </a:prstGeom>
        </p:spPr>
        <p:txBody>
          <a:bodyPr anchor="t" rtlCol="false" tIns="0" lIns="0" bIns="0" rIns="0">
            <a:spAutoFit/>
          </a:bodyPr>
          <a:lstStyle/>
          <a:p>
            <a:pPr algn="ctr">
              <a:lnSpc>
                <a:spcPts val="6580"/>
              </a:lnSpc>
              <a:spcBef>
                <a:spcPct val="0"/>
              </a:spcBef>
            </a:pPr>
            <a:r>
              <a:rPr lang="en-US" b="true" sz="4700">
                <a:solidFill>
                  <a:srgbClr val="123D33"/>
                </a:solidFill>
                <a:latin typeface="Open Sauce Bold"/>
                <a:ea typeface="Open Sauce Bold"/>
                <a:cs typeface="Open Sauce Bold"/>
                <a:sym typeface="Open Sauce Bold"/>
              </a:rPr>
              <a:t> G</a:t>
            </a:r>
            <a:r>
              <a:rPr lang="en-US" b="true" sz="4700">
                <a:solidFill>
                  <a:srgbClr val="123D33"/>
                </a:solidFill>
                <a:latin typeface="Open Sauce Bold"/>
                <a:ea typeface="Open Sauce Bold"/>
                <a:cs typeface="Open Sauce Bold"/>
                <a:sym typeface="Open Sauce Bold"/>
              </a:rPr>
              <a:t>estion des fichier d'historique</a:t>
            </a:r>
          </a:p>
        </p:txBody>
      </p:sp>
      <p:sp>
        <p:nvSpPr>
          <p:cNvPr name="TextBox 4" id="4"/>
          <p:cNvSpPr txBox="true"/>
          <p:nvPr/>
        </p:nvSpPr>
        <p:spPr>
          <a:xfrm rot="0">
            <a:off x="1028700" y="2126133"/>
            <a:ext cx="5279827" cy="464820"/>
          </a:xfrm>
          <a:prstGeom prst="rect">
            <a:avLst/>
          </a:prstGeom>
        </p:spPr>
        <p:txBody>
          <a:bodyPr anchor="t" rtlCol="false" tIns="0" lIns="0" bIns="0" rIns="0">
            <a:spAutoFit/>
          </a:bodyPr>
          <a:lstStyle/>
          <a:p>
            <a:pPr algn="ctr">
              <a:lnSpc>
                <a:spcPts val="3779"/>
              </a:lnSpc>
              <a:spcBef>
                <a:spcPct val="0"/>
              </a:spcBef>
            </a:pPr>
            <a:r>
              <a:rPr lang="en-US" b="true" sz="2700">
                <a:solidFill>
                  <a:srgbClr val="035D61"/>
                </a:solidFill>
                <a:latin typeface="Aleo Bold"/>
                <a:ea typeface="Aleo Bold"/>
                <a:cs typeface="Aleo Bold"/>
                <a:sym typeface="Aleo Bold"/>
              </a:rPr>
              <a:t>Fonction : get_current_timestamp</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673269" y="2041095"/>
            <a:ext cx="16941462" cy="6204811"/>
          </a:xfrm>
          <a:custGeom>
            <a:avLst/>
            <a:gdLst/>
            <a:ahLst/>
            <a:cxnLst/>
            <a:rect r="r" b="b" t="t" l="l"/>
            <a:pathLst>
              <a:path h="6204811" w="16941462">
                <a:moveTo>
                  <a:pt x="0" y="0"/>
                </a:moveTo>
                <a:lnTo>
                  <a:pt x="16941462" y="0"/>
                </a:lnTo>
                <a:lnTo>
                  <a:pt x="16941462" y="6204810"/>
                </a:lnTo>
                <a:lnTo>
                  <a:pt x="0" y="6204810"/>
                </a:lnTo>
                <a:lnTo>
                  <a:pt x="0" y="0"/>
                </a:lnTo>
                <a:close/>
              </a:path>
            </a:pathLst>
          </a:custGeom>
          <a:blipFill>
            <a:blip r:embed="rId2"/>
            <a:stretch>
              <a:fillRect l="0" t="0" r="0" b="0"/>
            </a:stretch>
          </a:blipFill>
          <a:ln w="38100" cap="sq">
            <a:solidFill>
              <a:srgbClr val="106861"/>
            </a:solidFill>
            <a:prstDash val="solid"/>
            <a:miter/>
          </a:ln>
        </p:spPr>
      </p:sp>
      <p:sp>
        <p:nvSpPr>
          <p:cNvPr name="TextBox 3" id="3"/>
          <p:cNvSpPr txBox="true"/>
          <p:nvPr/>
        </p:nvSpPr>
        <p:spPr>
          <a:xfrm rot="0">
            <a:off x="714375" y="1162050"/>
            <a:ext cx="3596978" cy="464820"/>
          </a:xfrm>
          <a:prstGeom prst="rect">
            <a:avLst/>
          </a:prstGeom>
        </p:spPr>
        <p:txBody>
          <a:bodyPr anchor="t" rtlCol="false" tIns="0" lIns="0" bIns="0" rIns="0">
            <a:spAutoFit/>
          </a:bodyPr>
          <a:lstStyle/>
          <a:p>
            <a:pPr algn="ctr">
              <a:lnSpc>
                <a:spcPts val="3779"/>
              </a:lnSpc>
              <a:spcBef>
                <a:spcPct val="0"/>
              </a:spcBef>
            </a:pPr>
            <a:r>
              <a:rPr lang="en-US" b="true" sz="2700">
                <a:solidFill>
                  <a:srgbClr val="035D61"/>
                </a:solidFill>
                <a:latin typeface="Aleo Bold"/>
                <a:ea typeface="Aleo Bold"/>
                <a:cs typeface="Aleo Bold"/>
                <a:sym typeface="Aleo Bold"/>
              </a:rPr>
              <a:t>Fonction : fichier_serre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6563715" y="2879687"/>
            <a:ext cx="11321731" cy="434281"/>
          </a:xfrm>
          <a:custGeom>
            <a:avLst/>
            <a:gdLst/>
            <a:ahLst/>
            <a:cxnLst/>
            <a:rect r="r" b="b" t="t" l="l"/>
            <a:pathLst>
              <a:path h="434281" w="11321731">
                <a:moveTo>
                  <a:pt x="0" y="0"/>
                </a:moveTo>
                <a:lnTo>
                  <a:pt x="11321731" y="0"/>
                </a:lnTo>
                <a:lnTo>
                  <a:pt x="11321731" y="434280"/>
                </a:lnTo>
                <a:lnTo>
                  <a:pt x="0" y="434280"/>
                </a:lnTo>
                <a:lnTo>
                  <a:pt x="0" y="0"/>
                </a:lnTo>
                <a:close/>
              </a:path>
            </a:pathLst>
          </a:custGeom>
          <a:blipFill>
            <a:blip r:embed="rId2"/>
            <a:stretch>
              <a:fillRect l="0" t="-75111" r="-65575" b="-1729568"/>
            </a:stretch>
          </a:blipFill>
          <a:ln w="38100" cap="sq">
            <a:solidFill>
              <a:srgbClr val="035D61"/>
            </a:solidFill>
            <a:prstDash val="solid"/>
            <a:miter/>
          </a:ln>
        </p:spPr>
      </p:sp>
      <p:sp>
        <p:nvSpPr>
          <p:cNvPr name="Freeform 3" id="3"/>
          <p:cNvSpPr/>
          <p:nvPr/>
        </p:nvSpPr>
        <p:spPr>
          <a:xfrm flipH="false" flipV="false" rot="0">
            <a:off x="6586146" y="4363436"/>
            <a:ext cx="11299300" cy="392811"/>
          </a:xfrm>
          <a:custGeom>
            <a:avLst/>
            <a:gdLst/>
            <a:ahLst/>
            <a:cxnLst/>
            <a:rect r="r" b="b" t="t" l="l"/>
            <a:pathLst>
              <a:path h="392811" w="11299300">
                <a:moveTo>
                  <a:pt x="0" y="0"/>
                </a:moveTo>
                <a:lnTo>
                  <a:pt x="11299300" y="0"/>
                </a:lnTo>
                <a:lnTo>
                  <a:pt x="11299300" y="392811"/>
                </a:lnTo>
                <a:lnTo>
                  <a:pt x="0" y="392811"/>
                </a:lnTo>
                <a:lnTo>
                  <a:pt x="0" y="0"/>
                </a:lnTo>
                <a:close/>
              </a:path>
            </a:pathLst>
          </a:custGeom>
          <a:blipFill>
            <a:blip r:embed="rId3"/>
            <a:stretch>
              <a:fillRect l="0" t="-98983" r="-60023" b="-1872422"/>
            </a:stretch>
          </a:blipFill>
          <a:ln w="38100" cap="sq">
            <a:solidFill>
              <a:srgbClr val="035D61"/>
            </a:solidFill>
            <a:prstDash val="solid"/>
            <a:miter/>
          </a:ln>
        </p:spPr>
      </p:sp>
      <p:sp>
        <p:nvSpPr>
          <p:cNvPr name="Freeform 4" id="4"/>
          <p:cNvSpPr/>
          <p:nvPr/>
        </p:nvSpPr>
        <p:spPr>
          <a:xfrm flipH="false" flipV="false" rot="0">
            <a:off x="6597362" y="5905057"/>
            <a:ext cx="11288084" cy="375657"/>
          </a:xfrm>
          <a:custGeom>
            <a:avLst/>
            <a:gdLst/>
            <a:ahLst/>
            <a:cxnLst/>
            <a:rect r="r" b="b" t="t" l="l"/>
            <a:pathLst>
              <a:path h="375657" w="11288084">
                <a:moveTo>
                  <a:pt x="0" y="0"/>
                </a:moveTo>
                <a:lnTo>
                  <a:pt x="11288084" y="0"/>
                </a:lnTo>
                <a:lnTo>
                  <a:pt x="11288084" y="375656"/>
                </a:lnTo>
                <a:lnTo>
                  <a:pt x="0" y="375656"/>
                </a:lnTo>
                <a:lnTo>
                  <a:pt x="0" y="0"/>
                </a:lnTo>
                <a:close/>
              </a:path>
            </a:pathLst>
          </a:custGeom>
          <a:blipFill>
            <a:blip r:embed="rId4"/>
            <a:stretch>
              <a:fillRect l="0" t="0" r="-104794" b="0"/>
            </a:stretch>
          </a:blipFill>
          <a:ln w="38100" cap="sq">
            <a:solidFill>
              <a:srgbClr val="035D61"/>
            </a:solidFill>
            <a:prstDash val="solid"/>
            <a:miter/>
          </a:ln>
        </p:spPr>
      </p:sp>
      <p:sp>
        <p:nvSpPr>
          <p:cNvPr name="TextBox 5" id="5"/>
          <p:cNvSpPr txBox="true"/>
          <p:nvPr/>
        </p:nvSpPr>
        <p:spPr>
          <a:xfrm rot="0">
            <a:off x="402554" y="2813012"/>
            <a:ext cx="4920153" cy="546704"/>
          </a:xfrm>
          <a:prstGeom prst="rect">
            <a:avLst/>
          </a:prstGeom>
        </p:spPr>
        <p:txBody>
          <a:bodyPr anchor="t" rtlCol="false" tIns="0" lIns="0" bIns="0" rIns="0">
            <a:spAutoFit/>
          </a:bodyPr>
          <a:lstStyle/>
          <a:p>
            <a:pPr algn="ctr">
              <a:lnSpc>
                <a:spcPts val="4450"/>
              </a:lnSpc>
              <a:spcBef>
                <a:spcPct val="0"/>
              </a:spcBef>
            </a:pPr>
            <a:r>
              <a:rPr lang="en-US" b="true" sz="3179">
                <a:solidFill>
                  <a:srgbClr val="035D61"/>
                </a:solidFill>
                <a:latin typeface="Aleo Bold"/>
                <a:ea typeface="Aleo Bold"/>
                <a:cs typeface="Aleo Bold"/>
                <a:sym typeface="Aleo Bold"/>
              </a:rPr>
              <a:t>Fonction : fichier__champs</a:t>
            </a:r>
          </a:p>
        </p:txBody>
      </p:sp>
      <p:sp>
        <p:nvSpPr>
          <p:cNvPr name="TextBox 6" id="6"/>
          <p:cNvSpPr txBox="true"/>
          <p:nvPr/>
        </p:nvSpPr>
        <p:spPr>
          <a:xfrm rot="0">
            <a:off x="413770" y="4296761"/>
            <a:ext cx="5354642" cy="546704"/>
          </a:xfrm>
          <a:prstGeom prst="rect">
            <a:avLst/>
          </a:prstGeom>
        </p:spPr>
        <p:txBody>
          <a:bodyPr anchor="t" rtlCol="false" tIns="0" lIns="0" bIns="0" rIns="0">
            <a:spAutoFit/>
          </a:bodyPr>
          <a:lstStyle/>
          <a:p>
            <a:pPr algn="ctr">
              <a:lnSpc>
                <a:spcPts val="4450"/>
              </a:lnSpc>
              <a:spcBef>
                <a:spcPct val="0"/>
              </a:spcBef>
            </a:pPr>
            <a:r>
              <a:rPr lang="en-US" b="true" sz="3179">
                <a:solidFill>
                  <a:srgbClr val="035D61"/>
                </a:solidFill>
                <a:latin typeface="Aleo Bold"/>
                <a:ea typeface="Aleo Bold"/>
                <a:cs typeface="Aleo Bold"/>
                <a:sym typeface="Aleo Bold"/>
              </a:rPr>
              <a:t>Fonction : fichier__panneaux</a:t>
            </a:r>
          </a:p>
        </p:txBody>
      </p:sp>
      <p:sp>
        <p:nvSpPr>
          <p:cNvPr name="TextBox 7" id="7"/>
          <p:cNvSpPr txBox="true"/>
          <p:nvPr/>
        </p:nvSpPr>
        <p:spPr>
          <a:xfrm rot="0">
            <a:off x="473587" y="5786196"/>
            <a:ext cx="5033711" cy="546704"/>
          </a:xfrm>
          <a:prstGeom prst="rect">
            <a:avLst/>
          </a:prstGeom>
        </p:spPr>
        <p:txBody>
          <a:bodyPr anchor="t" rtlCol="false" tIns="0" lIns="0" bIns="0" rIns="0">
            <a:spAutoFit/>
          </a:bodyPr>
          <a:lstStyle/>
          <a:p>
            <a:pPr algn="ctr">
              <a:lnSpc>
                <a:spcPts val="4450"/>
              </a:lnSpc>
              <a:spcBef>
                <a:spcPct val="0"/>
              </a:spcBef>
            </a:pPr>
            <a:r>
              <a:rPr lang="en-US" b="true" sz="3179">
                <a:solidFill>
                  <a:srgbClr val="035D61"/>
                </a:solidFill>
                <a:latin typeface="Aleo Bold"/>
                <a:ea typeface="Aleo Bold"/>
                <a:cs typeface="Aleo Bold"/>
                <a:sym typeface="Aleo Bold"/>
              </a:rPr>
              <a:t>Fonction : fichier__reserves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364429" y="2135878"/>
            <a:ext cx="17559143" cy="4323939"/>
          </a:xfrm>
          <a:custGeom>
            <a:avLst/>
            <a:gdLst/>
            <a:ahLst/>
            <a:cxnLst/>
            <a:rect r="r" b="b" t="t" l="l"/>
            <a:pathLst>
              <a:path h="4323939" w="17559143">
                <a:moveTo>
                  <a:pt x="0" y="0"/>
                </a:moveTo>
                <a:lnTo>
                  <a:pt x="17559142" y="0"/>
                </a:lnTo>
                <a:lnTo>
                  <a:pt x="17559142" y="4323939"/>
                </a:lnTo>
                <a:lnTo>
                  <a:pt x="0" y="4323939"/>
                </a:lnTo>
                <a:lnTo>
                  <a:pt x="0" y="0"/>
                </a:lnTo>
                <a:close/>
              </a:path>
            </a:pathLst>
          </a:custGeom>
          <a:blipFill>
            <a:blip r:embed="rId2"/>
            <a:stretch>
              <a:fillRect l="0" t="0" r="0" b="0"/>
            </a:stretch>
          </a:blipFill>
          <a:ln w="38100" cap="sq">
            <a:solidFill>
              <a:srgbClr val="035D61"/>
            </a:solidFill>
            <a:prstDash val="solid"/>
            <a:miter/>
          </a:ln>
        </p:spPr>
      </p:sp>
      <p:sp>
        <p:nvSpPr>
          <p:cNvPr name="TextBox 3" id="3"/>
          <p:cNvSpPr txBox="true"/>
          <p:nvPr/>
        </p:nvSpPr>
        <p:spPr>
          <a:xfrm rot="0">
            <a:off x="364429" y="464503"/>
            <a:ext cx="11902151" cy="795020"/>
          </a:xfrm>
          <a:prstGeom prst="rect">
            <a:avLst/>
          </a:prstGeom>
        </p:spPr>
        <p:txBody>
          <a:bodyPr anchor="t" rtlCol="false" tIns="0" lIns="0" bIns="0" rIns="0">
            <a:spAutoFit/>
          </a:bodyPr>
          <a:lstStyle/>
          <a:p>
            <a:pPr algn="l">
              <a:lnSpc>
                <a:spcPts val="6580"/>
              </a:lnSpc>
              <a:spcBef>
                <a:spcPct val="0"/>
              </a:spcBef>
            </a:pPr>
            <a:r>
              <a:rPr lang="en-US" b="true" sz="4700">
                <a:solidFill>
                  <a:srgbClr val="123D33"/>
                </a:solidFill>
                <a:latin typeface="Open Sauce Bold"/>
                <a:ea typeface="Open Sauce Bold"/>
                <a:cs typeface="Open Sauce Bold"/>
                <a:sym typeface="Open Sauce Bold"/>
              </a:rPr>
              <a:t>Fonctions d’affichage</a:t>
            </a:r>
          </a:p>
        </p:txBody>
      </p:sp>
      <p:sp>
        <p:nvSpPr>
          <p:cNvPr name="TextBox 4" id="4"/>
          <p:cNvSpPr txBox="true"/>
          <p:nvPr/>
        </p:nvSpPr>
        <p:spPr>
          <a:xfrm rot="0">
            <a:off x="364429" y="1498628"/>
            <a:ext cx="4870194" cy="464820"/>
          </a:xfrm>
          <a:prstGeom prst="rect">
            <a:avLst/>
          </a:prstGeom>
        </p:spPr>
        <p:txBody>
          <a:bodyPr anchor="t" rtlCol="false" tIns="0" lIns="0" bIns="0" rIns="0">
            <a:spAutoFit/>
          </a:bodyPr>
          <a:lstStyle/>
          <a:p>
            <a:pPr algn="l">
              <a:lnSpc>
                <a:spcPts val="3779"/>
              </a:lnSpc>
              <a:spcBef>
                <a:spcPct val="0"/>
              </a:spcBef>
            </a:pPr>
            <a:r>
              <a:rPr lang="en-US" b="true" sz="2700" spc="83">
                <a:solidFill>
                  <a:srgbClr val="123D33"/>
                </a:solidFill>
                <a:latin typeface="Aleo Bold"/>
                <a:ea typeface="Aleo Bold"/>
                <a:cs typeface="Aleo Bold"/>
                <a:sym typeface="Aleo Bold"/>
              </a:rPr>
              <a:t> Fonction : afficher_serres</a:t>
            </a:r>
          </a:p>
        </p:txBody>
      </p:sp>
      <p:sp>
        <p:nvSpPr>
          <p:cNvPr name="Freeform 5" id="5"/>
          <p:cNvSpPr/>
          <p:nvPr/>
        </p:nvSpPr>
        <p:spPr>
          <a:xfrm flipH="false" flipV="false" rot="0">
            <a:off x="6388676" y="6765903"/>
            <a:ext cx="5877903" cy="481071"/>
          </a:xfrm>
          <a:custGeom>
            <a:avLst/>
            <a:gdLst/>
            <a:ahLst/>
            <a:cxnLst/>
            <a:rect r="r" b="b" t="t" l="l"/>
            <a:pathLst>
              <a:path h="481071" w="5877903">
                <a:moveTo>
                  <a:pt x="0" y="0"/>
                </a:moveTo>
                <a:lnTo>
                  <a:pt x="5877903" y="0"/>
                </a:lnTo>
                <a:lnTo>
                  <a:pt x="5877903" y="481071"/>
                </a:lnTo>
                <a:lnTo>
                  <a:pt x="0" y="481071"/>
                </a:lnTo>
                <a:lnTo>
                  <a:pt x="0" y="0"/>
                </a:lnTo>
                <a:close/>
              </a:path>
            </a:pathLst>
          </a:custGeom>
          <a:blipFill>
            <a:blip r:embed="rId3"/>
            <a:stretch>
              <a:fillRect l="0" t="0" r="0" b="-19203"/>
            </a:stretch>
          </a:blipFill>
          <a:ln w="38100" cap="sq">
            <a:solidFill>
              <a:srgbClr val="106861"/>
            </a:solidFill>
            <a:prstDash val="solid"/>
            <a:miter/>
          </a:ln>
        </p:spPr>
      </p:sp>
      <p:sp>
        <p:nvSpPr>
          <p:cNvPr name="TextBox 6" id="6"/>
          <p:cNvSpPr txBox="true"/>
          <p:nvPr/>
        </p:nvSpPr>
        <p:spPr>
          <a:xfrm rot="0">
            <a:off x="828468" y="6697942"/>
            <a:ext cx="4584601" cy="464820"/>
          </a:xfrm>
          <a:prstGeom prst="rect">
            <a:avLst/>
          </a:prstGeom>
        </p:spPr>
        <p:txBody>
          <a:bodyPr anchor="t" rtlCol="false" tIns="0" lIns="0" bIns="0" rIns="0">
            <a:spAutoFit/>
          </a:bodyPr>
          <a:lstStyle/>
          <a:p>
            <a:pPr algn="ctr">
              <a:lnSpc>
                <a:spcPts val="3779"/>
              </a:lnSpc>
              <a:spcBef>
                <a:spcPct val="0"/>
              </a:spcBef>
            </a:pPr>
            <a:r>
              <a:rPr lang="en-US" b="true" sz="2700" spc="83">
                <a:solidFill>
                  <a:srgbClr val="123D33"/>
                </a:solidFill>
                <a:latin typeface="Aleo Bold"/>
                <a:ea typeface="Aleo Bold"/>
                <a:cs typeface="Aleo Bold"/>
                <a:sym typeface="Aleo Bold"/>
              </a:rPr>
              <a:t> Fonction : afficher_champs</a:t>
            </a:r>
          </a:p>
        </p:txBody>
      </p:sp>
      <p:sp>
        <p:nvSpPr>
          <p:cNvPr name="Freeform 7" id="7"/>
          <p:cNvSpPr/>
          <p:nvPr/>
        </p:nvSpPr>
        <p:spPr>
          <a:xfrm flipH="false" flipV="false" rot="0">
            <a:off x="6388676" y="7847373"/>
            <a:ext cx="5877903" cy="435862"/>
          </a:xfrm>
          <a:custGeom>
            <a:avLst/>
            <a:gdLst/>
            <a:ahLst/>
            <a:cxnLst/>
            <a:rect r="r" b="b" t="t" l="l"/>
            <a:pathLst>
              <a:path h="435862" w="5877903">
                <a:moveTo>
                  <a:pt x="0" y="0"/>
                </a:moveTo>
                <a:lnTo>
                  <a:pt x="5877903" y="0"/>
                </a:lnTo>
                <a:lnTo>
                  <a:pt x="5877903" y="435862"/>
                </a:lnTo>
                <a:lnTo>
                  <a:pt x="0" y="435862"/>
                </a:lnTo>
                <a:lnTo>
                  <a:pt x="0" y="0"/>
                </a:lnTo>
                <a:close/>
              </a:path>
            </a:pathLst>
          </a:custGeom>
          <a:blipFill>
            <a:blip r:embed="rId4"/>
            <a:stretch>
              <a:fillRect l="0" t="-24742" r="0" b="0"/>
            </a:stretch>
          </a:blipFill>
          <a:ln w="38100" cap="sq">
            <a:solidFill>
              <a:srgbClr val="106861"/>
            </a:solidFill>
            <a:prstDash val="solid"/>
            <a:miter/>
          </a:ln>
        </p:spPr>
      </p:sp>
      <p:sp>
        <p:nvSpPr>
          <p:cNvPr name="TextBox 8" id="8"/>
          <p:cNvSpPr txBox="true"/>
          <p:nvPr/>
        </p:nvSpPr>
        <p:spPr>
          <a:xfrm rot="0">
            <a:off x="828468" y="7818415"/>
            <a:ext cx="4974828" cy="464820"/>
          </a:xfrm>
          <a:prstGeom prst="rect">
            <a:avLst/>
          </a:prstGeom>
        </p:spPr>
        <p:txBody>
          <a:bodyPr anchor="t" rtlCol="false" tIns="0" lIns="0" bIns="0" rIns="0">
            <a:spAutoFit/>
          </a:bodyPr>
          <a:lstStyle/>
          <a:p>
            <a:pPr algn="l">
              <a:lnSpc>
                <a:spcPts val="3779"/>
              </a:lnSpc>
              <a:spcBef>
                <a:spcPct val="0"/>
              </a:spcBef>
            </a:pPr>
            <a:r>
              <a:rPr lang="en-US" b="true" sz="2700" spc="83">
                <a:solidFill>
                  <a:srgbClr val="123D33"/>
                </a:solidFill>
                <a:latin typeface="Aleo Bold"/>
                <a:ea typeface="Aleo Bold"/>
                <a:cs typeface="Aleo Bold"/>
                <a:sym typeface="Aleo Bold"/>
              </a:rPr>
              <a:t> Fonction : afficher_panneaux</a:t>
            </a:r>
          </a:p>
        </p:txBody>
      </p:sp>
      <p:sp>
        <p:nvSpPr>
          <p:cNvPr name="Freeform 9" id="9"/>
          <p:cNvSpPr/>
          <p:nvPr/>
        </p:nvSpPr>
        <p:spPr>
          <a:xfrm flipH="false" flipV="false" rot="0">
            <a:off x="6388676" y="9001996"/>
            <a:ext cx="5877903" cy="460139"/>
          </a:xfrm>
          <a:custGeom>
            <a:avLst/>
            <a:gdLst/>
            <a:ahLst/>
            <a:cxnLst/>
            <a:rect r="r" b="b" t="t" l="l"/>
            <a:pathLst>
              <a:path h="460139" w="5877903">
                <a:moveTo>
                  <a:pt x="0" y="0"/>
                </a:moveTo>
                <a:lnTo>
                  <a:pt x="5877903" y="0"/>
                </a:lnTo>
                <a:lnTo>
                  <a:pt x="5877903" y="460139"/>
                </a:lnTo>
                <a:lnTo>
                  <a:pt x="0" y="460139"/>
                </a:lnTo>
                <a:lnTo>
                  <a:pt x="0" y="0"/>
                </a:lnTo>
                <a:close/>
              </a:path>
            </a:pathLst>
          </a:custGeom>
          <a:blipFill>
            <a:blip r:embed="rId5"/>
            <a:stretch>
              <a:fillRect l="0" t="0" r="0" b="0"/>
            </a:stretch>
          </a:blipFill>
          <a:ln w="38100" cap="sq">
            <a:solidFill>
              <a:srgbClr val="106861"/>
            </a:solidFill>
            <a:prstDash val="solid"/>
            <a:miter/>
          </a:ln>
        </p:spPr>
      </p:sp>
      <p:sp>
        <p:nvSpPr>
          <p:cNvPr name="TextBox 10" id="10"/>
          <p:cNvSpPr txBox="true"/>
          <p:nvPr/>
        </p:nvSpPr>
        <p:spPr>
          <a:xfrm rot="0">
            <a:off x="828468" y="8997315"/>
            <a:ext cx="4702274" cy="464820"/>
          </a:xfrm>
          <a:prstGeom prst="rect">
            <a:avLst/>
          </a:prstGeom>
        </p:spPr>
        <p:txBody>
          <a:bodyPr anchor="t" rtlCol="false" tIns="0" lIns="0" bIns="0" rIns="0">
            <a:spAutoFit/>
          </a:bodyPr>
          <a:lstStyle/>
          <a:p>
            <a:pPr algn="l">
              <a:lnSpc>
                <a:spcPts val="3779"/>
              </a:lnSpc>
              <a:spcBef>
                <a:spcPct val="0"/>
              </a:spcBef>
            </a:pPr>
            <a:r>
              <a:rPr lang="en-US" b="true" sz="2700" spc="83">
                <a:solidFill>
                  <a:srgbClr val="123D33"/>
                </a:solidFill>
                <a:latin typeface="Aleo Bold"/>
                <a:ea typeface="Aleo Bold"/>
                <a:cs typeface="Aleo Bold"/>
                <a:sym typeface="Aleo Bold"/>
              </a:rPr>
              <a:t> Fonction : afficher_reserves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4226057" y="2014473"/>
            <a:ext cx="13852393" cy="2776911"/>
          </a:xfrm>
          <a:custGeom>
            <a:avLst/>
            <a:gdLst/>
            <a:ahLst/>
            <a:cxnLst/>
            <a:rect r="r" b="b" t="t" l="l"/>
            <a:pathLst>
              <a:path h="2776911" w="13852393">
                <a:moveTo>
                  <a:pt x="0" y="0"/>
                </a:moveTo>
                <a:lnTo>
                  <a:pt x="13852393" y="0"/>
                </a:lnTo>
                <a:lnTo>
                  <a:pt x="13852393" y="2776911"/>
                </a:lnTo>
                <a:lnTo>
                  <a:pt x="0" y="2776911"/>
                </a:lnTo>
                <a:lnTo>
                  <a:pt x="0" y="0"/>
                </a:lnTo>
                <a:close/>
              </a:path>
            </a:pathLst>
          </a:custGeom>
          <a:blipFill>
            <a:blip r:embed="rId2"/>
            <a:stretch>
              <a:fillRect l="0" t="0" r="-51344" b="-150084"/>
            </a:stretch>
          </a:blipFill>
          <a:ln w="19050" cap="sq">
            <a:solidFill>
              <a:srgbClr val="106861"/>
            </a:solidFill>
            <a:prstDash val="solid"/>
            <a:miter/>
          </a:ln>
        </p:spPr>
      </p:sp>
      <p:sp>
        <p:nvSpPr>
          <p:cNvPr name="Freeform 3" id="3"/>
          <p:cNvSpPr/>
          <p:nvPr/>
        </p:nvSpPr>
        <p:spPr>
          <a:xfrm flipH="false" flipV="false" rot="0">
            <a:off x="2682119" y="5717898"/>
            <a:ext cx="15396331" cy="3060021"/>
          </a:xfrm>
          <a:custGeom>
            <a:avLst/>
            <a:gdLst/>
            <a:ahLst/>
            <a:cxnLst/>
            <a:rect r="r" b="b" t="t" l="l"/>
            <a:pathLst>
              <a:path h="3060021" w="15396331">
                <a:moveTo>
                  <a:pt x="0" y="0"/>
                </a:moveTo>
                <a:lnTo>
                  <a:pt x="15396331" y="0"/>
                </a:lnTo>
                <a:lnTo>
                  <a:pt x="15396331" y="3060021"/>
                </a:lnTo>
                <a:lnTo>
                  <a:pt x="0" y="3060021"/>
                </a:lnTo>
                <a:lnTo>
                  <a:pt x="0" y="0"/>
                </a:lnTo>
                <a:close/>
              </a:path>
            </a:pathLst>
          </a:custGeom>
          <a:blipFill>
            <a:blip r:embed="rId3"/>
            <a:stretch>
              <a:fillRect l="0" t="0" r="0" b="0"/>
            </a:stretch>
          </a:blipFill>
          <a:ln w="19050" cap="sq">
            <a:solidFill>
              <a:srgbClr val="035D61"/>
            </a:solidFill>
            <a:prstDash val="solid"/>
            <a:miter/>
          </a:ln>
        </p:spPr>
      </p:sp>
      <p:sp>
        <p:nvSpPr>
          <p:cNvPr name="TextBox 4" id="4"/>
          <p:cNvSpPr txBox="true"/>
          <p:nvPr/>
        </p:nvSpPr>
        <p:spPr>
          <a:xfrm rot="0">
            <a:off x="324285" y="233680"/>
            <a:ext cx="11902151" cy="795020"/>
          </a:xfrm>
          <a:prstGeom prst="rect">
            <a:avLst/>
          </a:prstGeom>
        </p:spPr>
        <p:txBody>
          <a:bodyPr anchor="t" rtlCol="false" tIns="0" lIns="0" bIns="0" rIns="0">
            <a:spAutoFit/>
          </a:bodyPr>
          <a:lstStyle/>
          <a:p>
            <a:pPr algn="l">
              <a:lnSpc>
                <a:spcPts val="6580"/>
              </a:lnSpc>
              <a:spcBef>
                <a:spcPct val="0"/>
              </a:spcBef>
            </a:pPr>
            <a:r>
              <a:rPr lang="en-US" b="true" sz="4700">
                <a:solidFill>
                  <a:srgbClr val="123D33"/>
                </a:solidFill>
                <a:latin typeface="Open Sauce Bold"/>
                <a:ea typeface="Open Sauce Bold"/>
                <a:cs typeface="Open Sauce Bold"/>
                <a:sym typeface="Open Sauce Bold"/>
              </a:rPr>
              <a:t>Fonctions d’ajout</a:t>
            </a:r>
          </a:p>
        </p:txBody>
      </p:sp>
      <p:sp>
        <p:nvSpPr>
          <p:cNvPr name="TextBox 5" id="5"/>
          <p:cNvSpPr txBox="true"/>
          <p:nvPr/>
        </p:nvSpPr>
        <p:spPr>
          <a:xfrm rot="0">
            <a:off x="-361950" y="2432229"/>
            <a:ext cx="4022626" cy="941070"/>
          </a:xfrm>
          <a:prstGeom prst="rect">
            <a:avLst/>
          </a:prstGeom>
        </p:spPr>
        <p:txBody>
          <a:bodyPr anchor="t" rtlCol="false" tIns="0" lIns="0" bIns="0" rIns="0">
            <a:spAutoFit/>
          </a:bodyPr>
          <a:lstStyle/>
          <a:p>
            <a:pPr algn="ctr">
              <a:lnSpc>
                <a:spcPts val="3779"/>
              </a:lnSpc>
              <a:spcBef>
                <a:spcPct val="0"/>
              </a:spcBef>
            </a:pPr>
            <a:r>
              <a:rPr lang="en-US" b="true" sz="2700" spc="83">
                <a:solidFill>
                  <a:srgbClr val="123D33"/>
                </a:solidFill>
                <a:latin typeface="Aleo Bold"/>
                <a:ea typeface="Aleo Bold"/>
                <a:cs typeface="Aleo Bold"/>
                <a:sym typeface="Aleo Bold"/>
              </a:rPr>
              <a:t> Fonction :</a:t>
            </a:r>
          </a:p>
          <a:p>
            <a:pPr algn="ctr">
              <a:lnSpc>
                <a:spcPts val="3779"/>
              </a:lnSpc>
              <a:spcBef>
                <a:spcPct val="0"/>
              </a:spcBef>
            </a:pPr>
            <a:r>
              <a:rPr lang="en-US" b="true" sz="2700" spc="83">
                <a:solidFill>
                  <a:srgbClr val="123D33"/>
                </a:solidFill>
                <a:latin typeface="Aleo Bold"/>
                <a:ea typeface="Aleo Bold"/>
                <a:cs typeface="Aleo Bold"/>
                <a:sym typeface="Aleo Bold"/>
              </a:rPr>
              <a:t>creat_capteur</a:t>
            </a:r>
          </a:p>
        </p:txBody>
      </p:sp>
      <p:sp>
        <p:nvSpPr>
          <p:cNvPr name="TextBox 6" id="6"/>
          <p:cNvSpPr txBox="true"/>
          <p:nvPr/>
        </p:nvSpPr>
        <p:spPr>
          <a:xfrm rot="0">
            <a:off x="-635544" y="6748799"/>
            <a:ext cx="4022626" cy="941070"/>
          </a:xfrm>
          <a:prstGeom prst="rect">
            <a:avLst/>
          </a:prstGeom>
        </p:spPr>
        <p:txBody>
          <a:bodyPr anchor="t" rtlCol="false" tIns="0" lIns="0" bIns="0" rIns="0">
            <a:spAutoFit/>
          </a:bodyPr>
          <a:lstStyle/>
          <a:p>
            <a:pPr algn="ctr">
              <a:lnSpc>
                <a:spcPts val="3779"/>
              </a:lnSpc>
              <a:spcBef>
                <a:spcPct val="0"/>
              </a:spcBef>
            </a:pPr>
            <a:r>
              <a:rPr lang="en-US" b="true" sz="2700" spc="83">
                <a:solidFill>
                  <a:srgbClr val="123D33"/>
                </a:solidFill>
                <a:latin typeface="Aleo Bold"/>
                <a:ea typeface="Aleo Bold"/>
                <a:cs typeface="Aleo Bold"/>
                <a:sym typeface="Aleo Bold"/>
              </a:rPr>
              <a:t> Fonction :</a:t>
            </a:r>
          </a:p>
          <a:p>
            <a:pPr algn="ctr">
              <a:lnSpc>
                <a:spcPts val="3779"/>
              </a:lnSpc>
              <a:spcBef>
                <a:spcPct val="0"/>
              </a:spcBef>
            </a:pPr>
            <a:r>
              <a:rPr lang="en-US" b="true" sz="2700" spc="83">
                <a:solidFill>
                  <a:srgbClr val="123D33"/>
                </a:solidFill>
                <a:latin typeface="Aleo Bold"/>
                <a:ea typeface="Aleo Bold"/>
                <a:cs typeface="Aleo Bold"/>
                <a:sym typeface="Aleo Bold"/>
              </a:rPr>
              <a:t>creat_serre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1423610" y="1732149"/>
            <a:ext cx="15440780" cy="4921748"/>
          </a:xfrm>
          <a:custGeom>
            <a:avLst/>
            <a:gdLst/>
            <a:ahLst/>
            <a:cxnLst/>
            <a:rect r="r" b="b" t="t" l="l"/>
            <a:pathLst>
              <a:path h="4921748" w="15440780">
                <a:moveTo>
                  <a:pt x="0" y="0"/>
                </a:moveTo>
                <a:lnTo>
                  <a:pt x="15440780" y="0"/>
                </a:lnTo>
                <a:lnTo>
                  <a:pt x="15440780" y="4921749"/>
                </a:lnTo>
                <a:lnTo>
                  <a:pt x="0" y="4921749"/>
                </a:lnTo>
                <a:lnTo>
                  <a:pt x="0" y="0"/>
                </a:lnTo>
                <a:close/>
              </a:path>
            </a:pathLst>
          </a:custGeom>
          <a:blipFill>
            <a:blip r:embed="rId2"/>
            <a:stretch>
              <a:fillRect l="0" t="0" r="0" b="0"/>
            </a:stretch>
          </a:blipFill>
          <a:ln w="19050" cap="sq">
            <a:solidFill>
              <a:srgbClr val="106861"/>
            </a:solidFill>
            <a:prstDash val="solid"/>
            <a:miter/>
          </a:ln>
        </p:spPr>
      </p:sp>
      <p:sp>
        <p:nvSpPr>
          <p:cNvPr name="Freeform 3" id="3"/>
          <p:cNvSpPr/>
          <p:nvPr/>
        </p:nvSpPr>
        <p:spPr>
          <a:xfrm flipH="false" flipV="false" rot="0">
            <a:off x="6845971" y="7029508"/>
            <a:ext cx="10413329" cy="438699"/>
          </a:xfrm>
          <a:custGeom>
            <a:avLst/>
            <a:gdLst/>
            <a:ahLst/>
            <a:cxnLst/>
            <a:rect r="r" b="b" t="t" l="l"/>
            <a:pathLst>
              <a:path h="438699" w="10413329">
                <a:moveTo>
                  <a:pt x="0" y="0"/>
                </a:moveTo>
                <a:lnTo>
                  <a:pt x="10413329" y="0"/>
                </a:lnTo>
                <a:lnTo>
                  <a:pt x="10413329" y="438699"/>
                </a:lnTo>
                <a:lnTo>
                  <a:pt x="0" y="438699"/>
                </a:lnTo>
                <a:lnTo>
                  <a:pt x="0" y="0"/>
                </a:lnTo>
                <a:close/>
              </a:path>
            </a:pathLst>
          </a:custGeom>
          <a:blipFill>
            <a:blip r:embed="rId3"/>
            <a:stretch>
              <a:fillRect l="0" t="0" r="0" b="0"/>
            </a:stretch>
          </a:blipFill>
          <a:ln w="38100" cap="sq">
            <a:solidFill>
              <a:srgbClr val="106861"/>
            </a:solidFill>
            <a:prstDash val="solid"/>
            <a:miter/>
          </a:ln>
        </p:spPr>
      </p:sp>
      <p:sp>
        <p:nvSpPr>
          <p:cNvPr name="Freeform 4" id="4"/>
          <p:cNvSpPr/>
          <p:nvPr/>
        </p:nvSpPr>
        <p:spPr>
          <a:xfrm flipH="false" flipV="false" rot="0">
            <a:off x="6845971" y="7858732"/>
            <a:ext cx="10413329" cy="503871"/>
          </a:xfrm>
          <a:custGeom>
            <a:avLst/>
            <a:gdLst/>
            <a:ahLst/>
            <a:cxnLst/>
            <a:rect r="r" b="b" t="t" l="l"/>
            <a:pathLst>
              <a:path h="503871" w="10413329">
                <a:moveTo>
                  <a:pt x="0" y="0"/>
                </a:moveTo>
                <a:lnTo>
                  <a:pt x="10413329" y="0"/>
                </a:lnTo>
                <a:lnTo>
                  <a:pt x="10413329" y="503870"/>
                </a:lnTo>
                <a:lnTo>
                  <a:pt x="0" y="503870"/>
                </a:lnTo>
                <a:lnTo>
                  <a:pt x="0" y="0"/>
                </a:lnTo>
                <a:close/>
              </a:path>
            </a:pathLst>
          </a:custGeom>
          <a:blipFill>
            <a:blip r:embed="rId4"/>
            <a:stretch>
              <a:fillRect l="0" t="0" r="0" b="0"/>
            </a:stretch>
          </a:blipFill>
          <a:ln w="38100" cap="sq">
            <a:solidFill>
              <a:srgbClr val="106861"/>
            </a:solidFill>
            <a:prstDash val="solid"/>
            <a:miter/>
          </a:ln>
        </p:spPr>
      </p:sp>
      <p:sp>
        <p:nvSpPr>
          <p:cNvPr name="TextBox 5" id="5"/>
          <p:cNvSpPr txBox="true"/>
          <p:nvPr/>
        </p:nvSpPr>
        <p:spPr>
          <a:xfrm rot="0">
            <a:off x="740471" y="962025"/>
            <a:ext cx="4330403" cy="490855"/>
          </a:xfrm>
          <a:prstGeom prst="rect">
            <a:avLst/>
          </a:prstGeom>
        </p:spPr>
        <p:txBody>
          <a:bodyPr anchor="t" rtlCol="false" tIns="0" lIns="0" bIns="0" rIns="0">
            <a:spAutoFit/>
          </a:bodyPr>
          <a:lstStyle/>
          <a:p>
            <a:pPr algn="l">
              <a:lnSpc>
                <a:spcPts val="3919"/>
              </a:lnSpc>
              <a:spcBef>
                <a:spcPct val="0"/>
              </a:spcBef>
            </a:pPr>
            <a:r>
              <a:rPr lang="en-US" b="true" sz="2799" spc="86">
                <a:solidFill>
                  <a:srgbClr val="035D61"/>
                </a:solidFill>
                <a:latin typeface="Aleo Bold"/>
                <a:ea typeface="Aleo Bold"/>
                <a:cs typeface="Aleo Bold"/>
                <a:sym typeface="Aleo Bold"/>
              </a:rPr>
              <a:t> Fonction : ajouter_serres</a:t>
            </a:r>
          </a:p>
        </p:txBody>
      </p:sp>
      <p:sp>
        <p:nvSpPr>
          <p:cNvPr name="Freeform 6" id="6"/>
          <p:cNvSpPr/>
          <p:nvPr/>
        </p:nvSpPr>
        <p:spPr>
          <a:xfrm flipH="false" flipV="false" rot="0">
            <a:off x="6845971" y="8745774"/>
            <a:ext cx="10413329" cy="522891"/>
          </a:xfrm>
          <a:custGeom>
            <a:avLst/>
            <a:gdLst/>
            <a:ahLst/>
            <a:cxnLst/>
            <a:rect r="r" b="b" t="t" l="l"/>
            <a:pathLst>
              <a:path h="522891" w="10413329">
                <a:moveTo>
                  <a:pt x="0" y="0"/>
                </a:moveTo>
                <a:lnTo>
                  <a:pt x="10413329" y="0"/>
                </a:lnTo>
                <a:lnTo>
                  <a:pt x="10413329" y="522891"/>
                </a:lnTo>
                <a:lnTo>
                  <a:pt x="0" y="522891"/>
                </a:lnTo>
                <a:lnTo>
                  <a:pt x="0" y="0"/>
                </a:lnTo>
                <a:close/>
              </a:path>
            </a:pathLst>
          </a:custGeom>
          <a:blipFill>
            <a:blip r:embed="rId5"/>
            <a:stretch>
              <a:fillRect l="0" t="-21243" r="0" b="-38787"/>
            </a:stretch>
          </a:blipFill>
          <a:ln w="38100" cap="sq">
            <a:solidFill>
              <a:srgbClr val="106861"/>
            </a:solidFill>
            <a:prstDash val="solid"/>
            <a:miter/>
          </a:ln>
        </p:spPr>
      </p:sp>
      <p:sp>
        <p:nvSpPr>
          <p:cNvPr name="TextBox 7" id="7"/>
          <p:cNvSpPr txBox="true"/>
          <p:nvPr/>
        </p:nvSpPr>
        <p:spPr>
          <a:xfrm rot="0">
            <a:off x="1314450" y="8725340"/>
            <a:ext cx="6046325" cy="497083"/>
          </a:xfrm>
          <a:prstGeom prst="rect">
            <a:avLst/>
          </a:prstGeom>
        </p:spPr>
        <p:txBody>
          <a:bodyPr anchor="t" rtlCol="false" tIns="0" lIns="0" bIns="0" rIns="0">
            <a:spAutoFit/>
          </a:bodyPr>
          <a:lstStyle/>
          <a:p>
            <a:pPr algn="l">
              <a:lnSpc>
                <a:spcPts val="3926"/>
              </a:lnSpc>
              <a:spcBef>
                <a:spcPct val="0"/>
              </a:spcBef>
            </a:pPr>
            <a:r>
              <a:rPr lang="en-US" b="true" sz="2804" spc="86">
                <a:solidFill>
                  <a:srgbClr val="035D61"/>
                </a:solidFill>
                <a:latin typeface="Aleo Bold"/>
                <a:ea typeface="Aleo Bold"/>
                <a:cs typeface="Aleo Bold"/>
                <a:sym typeface="Aleo Bold"/>
              </a:rPr>
              <a:t>Fonction : ajouter_reserves</a:t>
            </a:r>
          </a:p>
        </p:txBody>
      </p:sp>
      <p:sp>
        <p:nvSpPr>
          <p:cNvPr name="TextBox 8" id="8"/>
          <p:cNvSpPr txBox="true"/>
          <p:nvPr/>
        </p:nvSpPr>
        <p:spPr>
          <a:xfrm rot="0">
            <a:off x="1314450" y="7871019"/>
            <a:ext cx="6046325" cy="497083"/>
          </a:xfrm>
          <a:prstGeom prst="rect">
            <a:avLst/>
          </a:prstGeom>
        </p:spPr>
        <p:txBody>
          <a:bodyPr anchor="t" rtlCol="false" tIns="0" lIns="0" bIns="0" rIns="0">
            <a:spAutoFit/>
          </a:bodyPr>
          <a:lstStyle/>
          <a:p>
            <a:pPr algn="l">
              <a:lnSpc>
                <a:spcPts val="3926"/>
              </a:lnSpc>
              <a:spcBef>
                <a:spcPct val="0"/>
              </a:spcBef>
            </a:pPr>
            <a:r>
              <a:rPr lang="en-US" b="true" sz="2804" spc="86">
                <a:solidFill>
                  <a:srgbClr val="035D61"/>
                </a:solidFill>
                <a:latin typeface="Aleo Bold"/>
                <a:ea typeface="Aleo Bold"/>
                <a:cs typeface="Aleo Bold"/>
                <a:sym typeface="Aleo Bold"/>
              </a:rPr>
              <a:t>Fonction : ajouter_panneaux</a:t>
            </a:r>
          </a:p>
        </p:txBody>
      </p:sp>
      <p:sp>
        <p:nvSpPr>
          <p:cNvPr name="TextBox 9" id="9"/>
          <p:cNvSpPr txBox="true"/>
          <p:nvPr/>
        </p:nvSpPr>
        <p:spPr>
          <a:xfrm rot="0">
            <a:off x="1314450" y="6969728"/>
            <a:ext cx="6046325" cy="497083"/>
          </a:xfrm>
          <a:prstGeom prst="rect">
            <a:avLst/>
          </a:prstGeom>
        </p:spPr>
        <p:txBody>
          <a:bodyPr anchor="t" rtlCol="false" tIns="0" lIns="0" bIns="0" rIns="0">
            <a:spAutoFit/>
          </a:bodyPr>
          <a:lstStyle/>
          <a:p>
            <a:pPr algn="l">
              <a:lnSpc>
                <a:spcPts val="3926"/>
              </a:lnSpc>
              <a:spcBef>
                <a:spcPct val="0"/>
              </a:spcBef>
            </a:pPr>
            <a:r>
              <a:rPr lang="en-US" b="true" sz="2804" spc="86">
                <a:solidFill>
                  <a:srgbClr val="035D61"/>
                </a:solidFill>
                <a:latin typeface="Aleo Bold"/>
                <a:ea typeface="Aleo Bold"/>
                <a:cs typeface="Aleo Bold"/>
                <a:sym typeface="Aleo Bold"/>
              </a:rPr>
              <a:t>Fonction : ajouter_champs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4408514" y="1767576"/>
            <a:ext cx="13568448" cy="3281212"/>
          </a:xfrm>
          <a:custGeom>
            <a:avLst/>
            <a:gdLst/>
            <a:ahLst/>
            <a:cxnLst/>
            <a:rect r="r" b="b" t="t" l="l"/>
            <a:pathLst>
              <a:path h="3281212" w="13568448">
                <a:moveTo>
                  <a:pt x="0" y="0"/>
                </a:moveTo>
                <a:lnTo>
                  <a:pt x="13568448" y="0"/>
                </a:lnTo>
                <a:lnTo>
                  <a:pt x="13568448" y="3281212"/>
                </a:lnTo>
                <a:lnTo>
                  <a:pt x="0" y="3281212"/>
                </a:lnTo>
                <a:lnTo>
                  <a:pt x="0" y="0"/>
                </a:lnTo>
                <a:close/>
              </a:path>
            </a:pathLst>
          </a:custGeom>
          <a:blipFill>
            <a:blip r:embed="rId2"/>
            <a:stretch>
              <a:fillRect l="0" t="0" r="0" b="-185328"/>
            </a:stretch>
          </a:blipFill>
          <a:ln w="38100" cap="sq">
            <a:solidFill>
              <a:srgbClr val="106861"/>
            </a:solidFill>
            <a:prstDash val="solid"/>
            <a:miter/>
          </a:ln>
        </p:spPr>
      </p:sp>
      <p:sp>
        <p:nvSpPr>
          <p:cNvPr name="TextBox 3" id="3"/>
          <p:cNvSpPr txBox="true"/>
          <p:nvPr/>
        </p:nvSpPr>
        <p:spPr>
          <a:xfrm rot="0">
            <a:off x="332571" y="588328"/>
            <a:ext cx="11902151" cy="795020"/>
          </a:xfrm>
          <a:prstGeom prst="rect">
            <a:avLst/>
          </a:prstGeom>
        </p:spPr>
        <p:txBody>
          <a:bodyPr anchor="t" rtlCol="false" tIns="0" lIns="0" bIns="0" rIns="0">
            <a:spAutoFit/>
          </a:bodyPr>
          <a:lstStyle/>
          <a:p>
            <a:pPr algn="l">
              <a:lnSpc>
                <a:spcPts val="6580"/>
              </a:lnSpc>
              <a:spcBef>
                <a:spcPct val="0"/>
              </a:spcBef>
            </a:pPr>
            <a:r>
              <a:rPr lang="en-US" b="true" sz="4700">
                <a:solidFill>
                  <a:srgbClr val="123D33"/>
                </a:solidFill>
                <a:latin typeface="Open Sauce Bold"/>
                <a:ea typeface="Open Sauce Bold"/>
                <a:cs typeface="Open Sauce Bold"/>
                <a:sym typeface="Open Sauce Bold"/>
              </a:rPr>
              <a:t>Fonctions de suppression </a:t>
            </a:r>
          </a:p>
        </p:txBody>
      </p:sp>
      <p:sp>
        <p:nvSpPr>
          <p:cNvPr name="Freeform 4" id="4"/>
          <p:cNvSpPr/>
          <p:nvPr/>
        </p:nvSpPr>
        <p:spPr>
          <a:xfrm flipH="false" flipV="false" rot="0">
            <a:off x="4408514" y="5433016"/>
            <a:ext cx="13589510" cy="3825284"/>
          </a:xfrm>
          <a:custGeom>
            <a:avLst/>
            <a:gdLst/>
            <a:ahLst/>
            <a:cxnLst/>
            <a:rect r="r" b="b" t="t" l="l"/>
            <a:pathLst>
              <a:path h="3825284" w="13589510">
                <a:moveTo>
                  <a:pt x="0" y="0"/>
                </a:moveTo>
                <a:lnTo>
                  <a:pt x="13589511" y="0"/>
                </a:lnTo>
                <a:lnTo>
                  <a:pt x="13589511" y="3825284"/>
                </a:lnTo>
                <a:lnTo>
                  <a:pt x="0" y="3825284"/>
                </a:lnTo>
                <a:lnTo>
                  <a:pt x="0" y="0"/>
                </a:lnTo>
                <a:close/>
              </a:path>
            </a:pathLst>
          </a:custGeom>
          <a:blipFill>
            <a:blip r:embed="rId2"/>
            <a:stretch>
              <a:fillRect l="0" t="-81721" r="0" b="-63404"/>
            </a:stretch>
          </a:blipFill>
          <a:ln w="38100" cap="sq">
            <a:solidFill>
              <a:srgbClr val="106861"/>
            </a:solidFill>
            <a:prstDash val="solid"/>
            <a:miter/>
          </a:ln>
        </p:spPr>
      </p:sp>
      <p:sp>
        <p:nvSpPr>
          <p:cNvPr name="TextBox 5" id="5"/>
          <p:cNvSpPr txBox="true"/>
          <p:nvPr/>
        </p:nvSpPr>
        <p:spPr>
          <a:xfrm rot="0">
            <a:off x="563462" y="1907799"/>
            <a:ext cx="3300850" cy="998733"/>
          </a:xfrm>
          <a:prstGeom prst="rect">
            <a:avLst/>
          </a:prstGeom>
        </p:spPr>
        <p:txBody>
          <a:bodyPr anchor="t" rtlCol="false" tIns="0" lIns="0" bIns="0" rIns="0">
            <a:spAutoFit/>
          </a:bodyPr>
          <a:lstStyle/>
          <a:p>
            <a:pPr algn="l">
              <a:lnSpc>
                <a:spcPts val="3926"/>
              </a:lnSpc>
              <a:spcBef>
                <a:spcPct val="0"/>
              </a:spcBef>
            </a:pPr>
            <a:r>
              <a:rPr lang="en-US" b="true" sz="2804" spc="86">
                <a:solidFill>
                  <a:srgbClr val="035D61"/>
                </a:solidFill>
                <a:latin typeface="Aleo Bold"/>
                <a:ea typeface="Aleo Bold"/>
                <a:cs typeface="Aleo Bold"/>
                <a:sym typeface="Aleo Bold"/>
              </a:rPr>
              <a:t>Fonction : supprimer_serre</a:t>
            </a:r>
          </a:p>
        </p:txBody>
      </p:sp>
      <p:sp>
        <p:nvSpPr>
          <p:cNvPr name="TextBox 6" id="6"/>
          <p:cNvSpPr txBox="true"/>
          <p:nvPr/>
        </p:nvSpPr>
        <p:spPr>
          <a:xfrm rot="0">
            <a:off x="563462" y="5556251"/>
            <a:ext cx="3300850" cy="998733"/>
          </a:xfrm>
          <a:prstGeom prst="rect">
            <a:avLst/>
          </a:prstGeom>
        </p:spPr>
        <p:txBody>
          <a:bodyPr anchor="t" rtlCol="false" tIns="0" lIns="0" bIns="0" rIns="0">
            <a:spAutoFit/>
          </a:bodyPr>
          <a:lstStyle/>
          <a:p>
            <a:pPr algn="l">
              <a:lnSpc>
                <a:spcPts val="3926"/>
              </a:lnSpc>
              <a:spcBef>
                <a:spcPct val="0"/>
              </a:spcBef>
            </a:pPr>
            <a:r>
              <a:rPr lang="en-US" b="true" sz="2804" spc="86">
                <a:solidFill>
                  <a:srgbClr val="035D61"/>
                </a:solidFill>
                <a:latin typeface="Aleo Bold"/>
                <a:ea typeface="Aleo Bold"/>
                <a:cs typeface="Aleo Bold"/>
                <a:sym typeface="Aleo Bold"/>
              </a:rPr>
              <a:t>Fonction : supprimer_serres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3546883" y="759077"/>
            <a:ext cx="7978790" cy="642448"/>
          </a:xfrm>
          <a:custGeom>
            <a:avLst/>
            <a:gdLst/>
            <a:ahLst/>
            <a:cxnLst/>
            <a:rect r="r" b="b" t="t" l="l"/>
            <a:pathLst>
              <a:path h="642448" w="7978790">
                <a:moveTo>
                  <a:pt x="0" y="0"/>
                </a:moveTo>
                <a:lnTo>
                  <a:pt x="7978790" y="0"/>
                </a:lnTo>
                <a:lnTo>
                  <a:pt x="7978790" y="642448"/>
                </a:lnTo>
                <a:lnTo>
                  <a:pt x="0" y="642448"/>
                </a:lnTo>
                <a:lnTo>
                  <a:pt x="0" y="0"/>
                </a:lnTo>
                <a:close/>
              </a:path>
            </a:pathLst>
          </a:custGeom>
          <a:blipFill>
            <a:blip r:embed="rId2"/>
            <a:stretch>
              <a:fillRect l="0" t="0" r="0" b="0"/>
            </a:stretch>
          </a:blipFill>
          <a:ln w="38100" cap="sq">
            <a:solidFill>
              <a:srgbClr val="106861"/>
            </a:solidFill>
            <a:prstDash val="solid"/>
            <a:miter/>
          </a:ln>
        </p:spPr>
      </p:sp>
      <p:sp>
        <p:nvSpPr>
          <p:cNvPr name="Freeform 3" id="3"/>
          <p:cNvSpPr/>
          <p:nvPr/>
        </p:nvSpPr>
        <p:spPr>
          <a:xfrm flipH="false" flipV="false" rot="0">
            <a:off x="3546883" y="5280087"/>
            <a:ext cx="13773387" cy="632556"/>
          </a:xfrm>
          <a:custGeom>
            <a:avLst/>
            <a:gdLst/>
            <a:ahLst/>
            <a:cxnLst/>
            <a:rect r="r" b="b" t="t" l="l"/>
            <a:pathLst>
              <a:path h="632556" w="13773387">
                <a:moveTo>
                  <a:pt x="0" y="0"/>
                </a:moveTo>
                <a:lnTo>
                  <a:pt x="13773387" y="0"/>
                </a:lnTo>
                <a:lnTo>
                  <a:pt x="13773387" y="632556"/>
                </a:lnTo>
                <a:lnTo>
                  <a:pt x="0" y="632556"/>
                </a:lnTo>
                <a:lnTo>
                  <a:pt x="0" y="0"/>
                </a:lnTo>
                <a:close/>
              </a:path>
            </a:pathLst>
          </a:custGeom>
          <a:blipFill>
            <a:blip r:embed="rId3"/>
            <a:stretch>
              <a:fillRect l="0" t="0" r="0" b="0"/>
            </a:stretch>
          </a:blipFill>
          <a:ln w="38100" cap="sq">
            <a:solidFill>
              <a:srgbClr val="106861"/>
            </a:solidFill>
            <a:prstDash val="solid"/>
            <a:miter/>
          </a:ln>
        </p:spPr>
      </p:sp>
      <p:sp>
        <p:nvSpPr>
          <p:cNvPr name="Freeform 4" id="4"/>
          <p:cNvSpPr/>
          <p:nvPr/>
        </p:nvSpPr>
        <p:spPr>
          <a:xfrm flipH="false" flipV="false" rot="0">
            <a:off x="3546883" y="1727334"/>
            <a:ext cx="11264506" cy="599176"/>
          </a:xfrm>
          <a:custGeom>
            <a:avLst/>
            <a:gdLst/>
            <a:ahLst/>
            <a:cxnLst/>
            <a:rect r="r" b="b" t="t" l="l"/>
            <a:pathLst>
              <a:path h="599176" w="11264506">
                <a:moveTo>
                  <a:pt x="0" y="0"/>
                </a:moveTo>
                <a:lnTo>
                  <a:pt x="11264506" y="0"/>
                </a:lnTo>
                <a:lnTo>
                  <a:pt x="11264506" y="599176"/>
                </a:lnTo>
                <a:lnTo>
                  <a:pt x="0" y="599176"/>
                </a:lnTo>
                <a:lnTo>
                  <a:pt x="0" y="0"/>
                </a:lnTo>
                <a:close/>
              </a:path>
            </a:pathLst>
          </a:custGeom>
          <a:blipFill>
            <a:blip r:embed="rId4"/>
            <a:stretch>
              <a:fillRect l="0" t="0" r="0" b="0"/>
            </a:stretch>
          </a:blipFill>
          <a:ln w="38100" cap="sq">
            <a:solidFill>
              <a:srgbClr val="106861"/>
            </a:solidFill>
            <a:prstDash val="solid"/>
            <a:miter/>
          </a:ln>
        </p:spPr>
      </p:sp>
      <p:sp>
        <p:nvSpPr>
          <p:cNvPr name="Freeform 5" id="5"/>
          <p:cNvSpPr/>
          <p:nvPr/>
        </p:nvSpPr>
        <p:spPr>
          <a:xfrm flipH="false" flipV="false" rot="0">
            <a:off x="3546883" y="4297690"/>
            <a:ext cx="10740870" cy="615719"/>
          </a:xfrm>
          <a:custGeom>
            <a:avLst/>
            <a:gdLst/>
            <a:ahLst/>
            <a:cxnLst/>
            <a:rect r="r" b="b" t="t" l="l"/>
            <a:pathLst>
              <a:path h="615719" w="10740870">
                <a:moveTo>
                  <a:pt x="0" y="0"/>
                </a:moveTo>
                <a:lnTo>
                  <a:pt x="10740870" y="0"/>
                </a:lnTo>
                <a:lnTo>
                  <a:pt x="10740870" y="615719"/>
                </a:lnTo>
                <a:lnTo>
                  <a:pt x="0" y="615719"/>
                </a:lnTo>
                <a:lnTo>
                  <a:pt x="0" y="0"/>
                </a:lnTo>
                <a:close/>
              </a:path>
            </a:pathLst>
          </a:custGeom>
          <a:blipFill>
            <a:blip r:embed="rId5"/>
            <a:stretch>
              <a:fillRect l="0" t="0" r="0" b="0"/>
            </a:stretch>
          </a:blipFill>
          <a:ln w="38100" cap="sq">
            <a:solidFill>
              <a:srgbClr val="106861"/>
            </a:solidFill>
            <a:prstDash val="solid"/>
            <a:miter/>
          </a:ln>
        </p:spPr>
      </p:sp>
      <p:sp>
        <p:nvSpPr>
          <p:cNvPr name="Freeform 6" id="6"/>
          <p:cNvSpPr/>
          <p:nvPr/>
        </p:nvSpPr>
        <p:spPr>
          <a:xfrm flipH="false" flipV="false" rot="0">
            <a:off x="3546883" y="7586518"/>
            <a:ext cx="10249515" cy="651452"/>
          </a:xfrm>
          <a:custGeom>
            <a:avLst/>
            <a:gdLst/>
            <a:ahLst/>
            <a:cxnLst/>
            <a:rect r="r" b="b" t="t" l="l"/>
            <a:pathLst>
              <a:path h="651452" w="10249515">
                <a:moveTo>
                  <a:pt x="0" y="0"/>
                </a:moveTo>
                <a:lnTo>
                  <a:pt x="10249515" y="0"/>
                </a:lnTo>
                <a:lnTo>
                  <a:pt x="10249515" y="651453"/>
                </a:lnTo>
                <a:lnTo>
                  <a:pt x="0" y="651453"/>
                </a:lnTo>
                <a:lnTo>
                  <a:pt x="0" y="0"/>
                </a:lnTo>
                <a:close/>
              </a:path>
            </a:pathLst>
          </a:custGeom>
          <a:blipFill>
            <a:blip r:embed="rId6"/>
            <a:stretch>
              <a:fillRect l="0" t="0" r="0" b="0"/>
            </a:stretch>
          </a:blipFill>
          <a:ln w="38100" cap="sq">
            <a:solidFill>
              <a:srgbClr val="106861"/>
            </a:solidFill>
            <a:prstDash val="solid"/>
            <a:miter/>
          </a:ln>
        </p:spPr>
      </p:sp>
      <p:sp>
        <p:nvSpPr>
          <p:cNvPr name="Freeform 7" id="7"/>
          <p:cNvSpPr/>
          <p:nvPr/>
        </p:nvSpPr>
        <p:spPr>
          <a:xfrm flipH="false" flipV="false" rot="0">
            <a:off x="3546883" y="8616919"/>
            <a:ext cx="14769692" cy="611762"/>
          </a:xfrm>
          <a:custGeom>
            <a:avLst/>
            <a:gdLst/>
            <a:ahLst/>
            <a:cxnLst/>
            <a:rect r="r" b="b" t="t" l="l"/>
            <a:pathLst>
              <a:path h="611762" w="14769692">
                <a:moveTo>
                  <a:pt x="0" y="0"/>
                </a:moveTo>
                <a:lnTo>
                  <a:pt x="14769692" y="0"/>
                </a:lnTo>
                <a:lnTo>
                  <a:pt x="14769692" y="611763"/>
                </a:lnTo>
                <a:lnTo>
                  <a:pt x="0" y="611763"/>
                </a:lnTo>
                <a:lnTo>
                  <a:pt x="0" y="0"/>
                </a:lnTo>
                <a:close/>
              </a:path>
            </a:pathLst>
          </a:custGeom>
          <a:blipFill>
            <a:blip r:embed="rId7"/>
            <a:stretch>
              <a:fillRect l="0" t="0" r="0" b="0"/>
            </a:stretch>
          </a:blipFill>
          <a:ln w="38100" cap="sq">
            <a:solidFill>
              <a:srgbClr val="106861"/>
            </a:solidFill>
            <a:prstDash val="solid"/>
            <a:miter/>
          </a:ln>
        </p:spPr>
      </p:sp>
      <p:sp>
        <p:nvSpPr>
          <p:cNvPr name="TextBox 8" id="8"/>
          <p:cNvSpPr txBox="true"/>
          <p:nvPr/>
        </p:nvSpPr>
        <p:spPr>
          <a:xfrm rot="0">
            <a:off x="279616" y="730876"/>
            <a:ext cx="2827774" cy="1500383"/>
          </a:xfrm>
          <a:prstGeom prst="rect">
            <a:avLst/>
          </a:prstGeom>
        </p:spPr>
        <p:txBody>
          <a:bodyPr anchor="t" rtlCol="false" tIns="0" lIns="0" bIns="0" rIns="0">
            <a:spAutoFit/>
          </a:bodyPr>
          <a:lstStyle/>
          <a:p>
            <a:pPr algn="l">
              <a:lnSpc>
                <a:spcPts val="3926"/>
              </a:lnSpc>
              <a:spcBef>
                <a:spcPct val="0"/>
              </a:spcBef>
            </a:pPr>
            <a:r>
              <a:rPr lang="en-US" b="true" sz="2804" spc="86">
                <a:solidFill>
                  <a:srgbClr val="035D61"/>
                </a:solidFill>
                <a:latin typeface="Aleo Bold"/>
                <a:ea typeface="Aleo Bold"/>
                <a:cs typeface="Aleo Bold"/>
                <a:sym typeface="Aleo Bold"/>
              </a:rPr>
              <a:t>Fonctions de suppression des champs </a:t>
            </a:r>
          </a:p>
        </p:txBody>
      </p:sp>
      <p:sp>
        <p:nvSpPr>
          <p:cNvPr name="TextBox 9" id="9"/>
          <p:cNvSpPr txBox="true"/>
          <p:nvPr/>
        </p:nvSpPr>
        <p:spPr>
          <a:xfrm rot="0">
            <a:off x="336766" y="3918535"/>
            <a:ext cx="2827774" cy="2002033"/>
          </a:xfrm>
          <a:prstGeom prst="rect">
            <a:avLst/>
          </a:prstGeom>
        </p:spPr>
        <p:txBody>
          <a:bodyPr anchor="t" rtlCol="false" tIns="0" lIns="0" bIns="0" rIns="0">
            <a:spAutoFit/>
          </a:bodyPr>
          <a:lstStyle/>
          <a:p>
            <a:pPr algn="l">
              <a:lnSpc>
                <a:spcPts val="3926"/>
              </a:lnSpc>
              <a:spcBef>
                <a:spcPct val="0"/>
              </a:spcBef>
            </a:pPr>
            <a:r>
              <a:rPr lang="en-US" b="true" sz="2804" spc="86">
                <a:solidFill>
                  <a:srgbClr val="035D61"/>
                </a:solidFill>
                <a:latin typeface="Aleo Bold"/>
                <a:ea typeface="Aleo Bold"/>
                <a:cs typeface="Aleo Bold"/>
                <a:sym typeface="Aleo Bold"/>
              </a:rPr>
              <a:t>Fonctions de suppression des panneaux solaires</a:t>
            </a:r>
          </a:p>
        </p:txBody>
      </p:sp>
      <p:sp>
        <p:nvSpPr>
          <p:cNvPr name="TextBox 10" id="10"/>
          <p:cNvSpPr txBox="true"/>
          <p:nvPr/>
        </p:nvSpPr>
        <p:spPr>
          <a:xfrm rot="0">
            <a:off x="279616" y="7577919"/>
            <a:ext cx="2827774" cy="1500383"/>
          </a:xfrm>
          <a:prstGeom prst="rect">
            <a:avLst/>
          </a:prstGeom>
        </p:spPr>
        <p:txBody>
          <a:bodyPr anchor="t" rtlCol="false" tIns="0" lIns="0" bIns="0" rIns="0">
            <a:spAutoFit/>
          </a:bodyPr>
          <a:lstStyle/>
          <a:p>
            <a:pPr algn="l">
              <a:lnSpc>
                <a:spcPts val="3926"/>
              </a:lnSpc>
              <a:spcBef>
                <a:spcPct val="0"/>
              </a:spcBef>
            </a:pPr>
            <a:r>
              <a:rPr lang="en-US" b="true" sz="2804" spc="86">
                <a:solidFill>
                  <a:srgbClr val="035D61"/>
                </a:solidFill>
                <a:latin typeface="Aleo Bold"/>
                <a:ea typeface="Aleo Bold"/>
                <a:cs typeface="Aleo Bold"/>
                <a:sym typeface="Aleo Bold"/>
              </a:rPr>
              <a:t>Fonctions de suppression des réservoirs d’eau</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1316929" y="3500369"/>
            <a:ext cx="14763926" cy="5757931"/>
          </a:xfrm>
          <a:custGeom>
            <a:avLst/>
            <a:gdLst/>
            <a:ahLst/>
            <a:cxnLst/>
            <a:rect r="r" b="b" t="t" l="l"/>
            <a:pathLst>
              <a:path h="5757931" w="14763926">
                <a:moveTo>
                  <a:pt x="0" y="0"/>
                </a:moveTo>
                <a:lnTo>
                  <a:pt x="14763925" y="0"/>
                </a:lnTo>
                <a:lnTo>
                  <a:pt x="14763925" y="5757931"/>
                </a:lnTo>
                <a:lnTo>
                  <a:pt x="0" y="5757931"/>
                </a:lnTo>
                <a:lnTo>
                  <a:pt x="0" y="0"/>
                </a:lnTo>
                <a:close/>
              </a:path>
            </a:pathLst>
          </a:custGeom>
          <a:blipFill>
            <a:blip r:embed="rId2"/>
            <a:stretch>
              <a:fillRect l="0" t="0" r="0" b="0"/>
            </a:stretch>
          </a:blipFill>
          <a:ln w="38100" cap="sq">
            <a:solidFill>
              <a:srgbClr val="106861"/>
            </a:solidFill>
            <a:prstDash val="solid"/>
            <a:miter/>
          </a:ln>
        </p:spPr>
      </p:sp>
      <p:sp>
        <p:nvSpPr>
          <p:cNvPr name="TextBox 3" id="3"/>
          <p:cNvSpPr txBox="true"/>
          <p:nvPr/>
        </p:nvSpPr>
        <p:spPr>
          <a:xfrm rot="0">
            <a:off x="332571" y="588328"/>
            <a:ext cx="11902151" cy="1623695"/>
          </a:xfrm>
          <a:prstGeom prst="rect">
            <a:avLst/>
          </a:prstGeom>
        </p:spPr>
        <p:txBody>
          <a:bodyPr anchor="t" rtlCol="false" tIns="0" lIns="0" bIns="0" rIns="0">
            <a:spAutoFit/>
          </a:bodyPr>
          <a:lstStyle/>
          <a:p>
            <a:pPr algn="l">
              <a:lnSpc>
                <a:spcPts val="6580"/>
              </a:lnSpc>
              <a:spcBef>
                <a:spcPct val="0"/>
              </a:spcBef>
            </a:pPr>
            <a:r>
              <a:rPr lang="en-US" b="true" sz="4700">
                <a:solidFill>
                  <a:srgbClr val="123D33"/>
                </a:solidFill>
                <a:latin typeface="Open Sauce Bold"/>
                <a:ea typeface="Open Sauce Bold"/>
                <a:cs typeface="Open Sauce Bold"/>
                <a:sym typeface="Open Sauce Bold"/>
              </a:rPr>
              <a:t>Fonctions pour changer les valeurs des capteurs</a:t>
            </a:r>
            <a:r>
              <a:rPr lang="en-US" b="true" sz="4700">
                <a:solidFill>
                  <a:srgbClr val="123D33"/>
                </a:solidFill>
                <a:latin typeface="Open Sauce Bold"/>
                <a:ea typeface="Open Sauce Bold"/>
                <a:cs typeface="Open Sauce Bold"/>
                <a:sym typeface="Open Sauce Bold"/>
              </a:rPr>
              <a:t> </a:t>
            </a:r>
          </a:p>
        </p:txBody>
      </p:sp>
      <p:sp>
        <p:nvSpPr>
          <p:cNvPr name="TextBox 4" id="4"/>
          <p:cNvSpPr txBox="true"/>
          <p:nvPr/>
        </p:nvSpPr>
        <p:spPr>
          <a:xfrm rot="0">
            <a:off x="669664" y="2577066"/>
            <a:ext cx="6046325" cy="491584"/>
          </a:xfrm>
          <a:prstGeom prst="rect">
            <a:avLst/>
          </a:prstGeom>
        </p:spPr>
        <p:txBody>
          <a:bodyPr anchor="t" rtlCol="false" tIns="0" lIns="0" bIns="0" rIns="0">
            <a:spAutoFit/>
          </a:bodyPr>
          <a:lstStyle/>
          <a:p>
            <a:pPr algn="ctr">
              <a:lnSpc>
                <a:spcPts val="3926"/>
              </a:lnSpc>
              <a:spcBef>
                <a:spcPct val="0"/>
              </a:spcBef>
            </a:pPr>
            <a:r>
              <a:rPr lang="en-US" b="true" sz="2804" spc="86">
                <a:solidFill>
                  <a:srgbClr val="035D61"/>
                </a:solidFill>
                <a:latin typeface="Aleo Bold"/>
                <a:ea typeface="Aleo Bold"/>
                <a:cs typeface="Aleo Bold"/>
                <a:sym typeface="Aleo Bold"/>
              </a:rPr>
              <a:t>Fonction changer_cap_value_serre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TextBox 2" id="2"/>
          <p:cNvSpPr txBox="true"/>
          <p:nvPr/>
        </p:nvSpPr>
        <p:spPr>
          <a:xfrm rot="0">
            <a:off x="528538" y="657626"/>
            <a:ext cx="7398751" cy="7857066"/>
          </a:xfrm>
          <a:prstGeom prst="rect">
            <a:avLst/>
          </a:prstGeom>
        </p:spPr>
        <p:txBody>
          <a:bodyPr anchor="t" rtlCol="false" tIns="0" lIns="0" bIns="0" rIns="0">
            <a:spAutoFit/>
          </a:bodyPr>
          <a:lstStyle/>
          <a:p>
            <a:pPr algn="l">
              <a:lnSpc>
                <a:spcPts val="5308"/>
              </a:lnSpc>
              <a:spcBef>
                <a:spcPct val="0"/>
              </a:spcBef>
            </a:pPr>
          </a:p>
          <a:p>
            <a:pPr algn="l">
              <a:lnSpc>
                <a:spcPts val="5308"/>
              </a:lnSpc>
              <a:spcBef>
                <a:spcPct val="0"/>
              </a:spcBef>
            </a:pPr>
            <a:r>
              <a:rPr lang="en-US" b="true" sz="3791" spc="117">
                <a:solidFill>
                  <a:srgbClr val="123D33"/>
                </a:solidFill>
                <a:latin typeface="Aleo Bold"/>
                <a:ea typeface="Aleo Bold"/>
                <a:cs typeface="Aleo Bold"/>
                <a:sym typeface="Aleo Bold"/>
              </a:rPr>
              <a:t>changer_cap_value_champ :</a:t>
            </a:r>
          </a:p>
          <a:p>
            <a:pPr algn="l">
              <a:lnSpc>
                <a:spcPts val="5308"/>
              </a:lnSpc>
              <a:spcBef>
                <a:spcPct val="0"/>
              </a:spcBef>
            </a:pPr>
          </a:p>
          <a:p>
            <a:pPr algn="l">
              <a:lnSpc>
                <a:spcPts val="5308"/>
              </a:lnSpc>
              <a:spcBef>
                <a:spcPct val="0"/>
              </a:spcBef>
            </a:pPr>
          </a:p>
          <a:p>
            <a:pPr algn="l">
              <a:lnSpc>
                <a:spcPts val="5308"/>
              </a:lnSpc>
              <a:spcBef>
                <a:spcPct val="0"/>
              </a:spcBef>
            </a:pPr>
          </a:p>
          <a:p>
            <a:pPr algn="l">
              <a:lnSpc>
                <a:spcPts val="5308"/>
              </a:lnSpc>
              <a:spcBef>
                <a:spcPct val="0"/>
              </a:spcBef>
            </a:pPr>
            <a:r>
              <a:rPr lang="en-US" b="true" sz="3791" spc="117">
                <a:solidFill>
                  <a:srgbClr val="123D33"/>
                </a:solidFill>
                <a:latin typeface="Aleo Bold"/>
                <a:ea typeface="Aleo Bold"/>
                <a:cs typeface="Aleo Bold"/>
                <a:sym typeface="Aleo Bold"/>
              </a:rPr>
              <a:t>changer_cap_value_panneau : </a:t>
            </a:r>
          </a:p>
          <a:p>
            <a:pPr algn="l">
              <a:lnSpc>
                <a:spcPts val="4200"/>
              </a:lnSpc>
              <a:spcBef>
                <a:spcPct val="0"/>
              </a:spcBef>
            </a:pPr>
          </a:p>
          <a:p>
            <a:pPr algn="l">
              <a:lnSpc>
                <a:spcPts val="5308"/>
              </a:lnSpc>
              <a:spcBef>
                <a:spcPct val="0"/>
              </a:spcBef>
            </a:pPr>
          </a:p>
          <a:p>
            <a:pPr algn="l">
              <a:lnSpc>
                <a:spcPts val="5308"/>
              </a:lnSpc>
              <a:spcBef>
                <a:spcPct val="0"/>
              </a:spcBef>
            </a:pPr>
          </a:p>
          <a:p>
            <a:pPr algn="l">
              <a:lnSpc>
                <a:spcPts val="5308"/>
              </a:lnSpc>
              <a:spcBef>
                <a:spcPct val="0"/>
              </a:spcBef>
            </a:pPr>
            <a:r>
              <a:rPr lang="en-US" b="true" sz="3791" spc="117">
                <a:solidFill>
                  <a:srgbClr val="123D33"/>
                </a:solidFill>
                <a:latin typeface="Aleo Bold"/>
                <a:ea typeface="Aleo Bold"/>
                <a:cs typeface="Aleo Bold"/>
                <a:sym typeface="Aleo Bold"/>
              </a:rPr>
              <a:t>changer_cap_value_reserve :</a:t>
            </a:r>
          </a:p>
          <a:p>
            <a:pPr algn="l">
              <a:lnSpc>
                <a:spcPts val="5308"/>
              </a:lnSpc>
              <a:spcBef>
                <a:spcPct val="0"/>
              </a:spcBef>
            </a:pPr>
            <a:r>
              <a:rPr lang="en-US" sz="3791" spc="117">
                <a:solidFill>
                  <a:srgbClr val="123D33"/>
                </a:solidFill>
                <a:latin typeface="Aleo"/>
                <a:ea typeface="Aleo"/>
                <a:cs typeface="Aleo"/>
                <a:sym typeface="Aleo"/>
              </a:rPr>
              <a:t> </a:t>
            </a:r>
          </a:p>
          <a:p>
            <a:pPr algn="l">
              <a:lnSpc>
                <a:spcPts val="5308"/>
              </a:lnSpc>
              <a:spcBef>
                <a:spcPct val="0"/>
              </a:spcBef>
            </a:pPr>
          </a:p>
        </p:txBody>
      </p:sp>
      <p:sp>
        <p:nvSpPr>
          <p:cNvPr name="Freeform 3" id="3"/>
          <p:cNvSpPr/>
          <p:nvPr/>
        </p:nvSpPr>
        <p:spPr>
          <a:xfrm flipH="false" flipV="false" rot="0">
            <a:off x="528538" y="2771636"/>
            <a:ext cx="17169867" cy="386322"/>
          </a:xfrm>
          <a:custGeom>
            <a:avLst/>
            <a:gdLst/>
            <a:ahLst/>
            <a:cxnLst/>
            <a:rect r="r" b="b" t="t" l="l"/>
            <a:pathLst>
              <a:path h="386322" w="17169867">
                <a:moveTo>
                  <a:pt x="0" y="0"/>
                </a:moveTo>
                <a:lnTo>
                  <a:pt x="17169867" y="0"/>
                </a:lnTo>
                <a:lnTo>
                  <a:pt x="17169867" y="386322"/>
                </a:lnTo>
                <a:lnTo>
                  <a:pt x="0" y="386322"/>
                </a:lnTo>
                <a:lnTo>
                  <a:pt x="0" y="0"/>
                </a:lnTo>
                <a:close/>
              </a:path>
            </a:pathLst>
          </a:custGeom>
          <a:blipFill>
            <a:blip r:embed="rId2"/>
            <a:stretch>
              <a:fillRect l="0" t="0" r="0" b="0"/>
            </a:stretch>
          </a:blipFill>
          <a:ln w="38100" cap="sq">
            <a:solidFill>
              <a:srgbClr val="106861"/>
            </a:solidFill>
            <a:prstDash val="solid"/>
            <a:miter/>
          </a:ln>
        </p:spPr>
      </p:sp>
      <p:sp>
        <p:nvSpPr>
          <p:cNvPr name="Freeform 4" id="4"/>
          <p:cNvSpPr/>
          <p:nvPr/>
        </p:nvSpPr>
        <p:spPr>
          <a:xfrm flipH="false" flipV="false" rot="0">
            <a:off x="528538" y="5348708"/>
            <a:ext cx="15056185" cy="526966"/>
          </a:xfrm>
          <a:custGeom>
            <a:avLst/>
            <a:gdLst/>
            <a:ahLst/>
            <a:cxnLst/>
            <a:rect r="r" b="b" t="t" l="l"/>
            <a:pathLst>
              <a:path h="526966" w="15056185">
                <a:moveTo>
                  <a:pt x="0" y="0"/>
                </a:moveTo>
                <a:lnTo>
                  <a:pt x="15056185" y="0"/>
                </a:lnTo>
                <a:lnTo>
                  <a:pt x="15056185" y="526966"/>
                </a:lnTo>
                <a:lnTo>
                  <a:pt x="0" y="526966"/>
                </a:lnTo>
                <a:lnTo>
                  <a:pt x="0" y="0"/>
                </a:lnTo>
                <a:close/>
              </a:path>
            </a:pathLst>
          </a:custGeom>
          <a:blipFill>
            <a:blip r:embed="rId3"/>
            <a:stretch>
              <a:fillRect l="0" t="0" r="0" b="0"/>
            </a:stretch>
          </a:blipFill>
          <a:ln w="38100" cap="sq">
            <a:solidFill>
              <a:srgbClr val="106861"/>
            </a:solidFill>
            <a:prstDash val="solid"/>
            <a:miter/>
          </a:ln>
        </p:spPr>
      </p:sp>
      <p:sp>
        <p:nvSpPr>
          <p:cNvPr name="Freeform 5" id="5"/>
          <p:cNvSpPr/>
          <p:nvPr/>
        </p:nvSpPr>
        <p:spPr>
          <a:xfrm flipH="false" flipV="false" rot="0">
            <a:off x="528538" y="8066157"/>
            <a:ext cx="17682497" cy="419959"/>
          </a:xfrm>
          <a:custGeom>
            <a:avLst/>
            <a:gdLst/>
            <a:ahLst/>
            <a:cxnLst/>
            <a:rect r="r" b="b" t="t" l="l"/>
            <a:pathLst>
              <a:path h="419959" w="17682497">
                <a:moveTo>
                  <a:pt x="0" y="0"/>
                </a:moveTo>
                <a:lnTo>
                  <a:pt x="17682497" y="0"/>
                </a:lnTo>
                <a:lnTo>
                  <a:pt x="17682497" y="419960"/>
                </a:lnTo>
                <a:lnTo>
                  <a:pt x="0" y="419960"/>
                </a:lnTo>
                <a:lnTo>
                  <a:pt x="0" y="0"/>
                </a:lnTo>
                <a:close/>
              </a:path>
            </a:pathLst>
          </a:custGeom>
          <a:blipFill>
            <a:blip r:embed="rId4"/>
            <a:stretch>
              <a:fillRect l="0" t="0" r="0" b="0"/>
            </a:stretch>
          </a:blipFill>
          <a:ln w="38100" cap="sq">
            <a:solidFill>
              <a:srgbClr val="106861"/>
            </a:solidFill>
            <a:prstDash val="solid"/>
            <a:miter/>
          </a:ln>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1465402" y="2845284"/>
            <a:ext cx="14893365" cy="6944032"/>
          </a:xfrm>
          <a:custGeom>
            <a:avLst/>
            <a:gdLst/>
            <a:ahLst/>
            <a:cxnLst/>
            <a:rect r="r" b="b" t="t" l="l"/>
            <a:pathLst>
              <a:path h="6944032" w="14893365">
                <a:moveTo>
                  <a:pt x="0" y="0"/>
                </a:moveTo>
                <a:lnTo>
                  <a:pt x="14893365" y="0"/>
                </a:lnTo>
                <a:lnTo>
                  <a:pt x="14893365" y="6944032"/>
                </a:lnTo>
                <a:lnTo>
                  <a:pt x="0" y="6944032"/>
                </a:lnTo>
                <a:lnTo>
                  <a:pt x="0" y="0"/>
                </a:lnTo>
                <a:close/>
              </a:path>
            </a:pathLst>
          </a:custGeom>
          <a:blipFill>
            <a:blip r:embed="rId2">
              <a:alphaModFix amt="80000"/>
            </a:blip>
            <a:stretch>
              <a:fillRect l="0" t="0" r="0" b="0"/>
            </a:stretch>
          </a:blipFill>
          <a:ln w="66675" cap="sq">
            <a:solidFill>
              <a:srgbClr val="106861">
                <a:alpha val="80000"/>
              </a:srgbClr>
            </a:solidFill>
            <a:prstDash val="solid"/>
            <a:miter/>
          </a:ln>
        </p:spPr>
      </p:sp>
      <p:sp>
        <p:nvSpPr>
          <p:cNvPr name="TextBox 3" id="3"/>
          <p:cNvSpPr txBox="true"/>
          <p:nvPr/>
        </p:nvSpPr>
        <p:spPr>
          <a:xfrm rot="0">
            <a:off x="332571" y="588328"/>
            <a:ext cx="11902151" cy="795020"/>
          </a:xfrm>
          <a:prstGeom prst="rect">
            <a:avLst/>
          </a:prstGeom>
        </p:spPr>
        <p:txBody>
          <a:bodyPr anchor="t" rtlCol="false" tIns="0" lIns="0" bIns="0" rIns="0">
            <a:spAutoFit/>
          </a:bodyPr>
          <a:lstStyle/>
          <a:p>
            <a:pPr algn="l">
              <a:lnSpc>
                <a:spcPts val="6580"/>
              </a:lnSpc>
              <a:spcBef>
                <a:spcPct val="0"/>
              </a:spcBef>
            </a:pPr>
            <a:r>
              <a:rPr lang="en-US" b="true" sz="4700">
                <a:solidFill>
                  <a:srgbClr val="106861"/>
                </a:solidFill>
                <a:latin typeface="Open Sauce Bold"/>
                <a:ea typeface="Open Sauce Bold"/>
                <a:cs typeface="Open Sauce Bold"/>
                <a:sym typeface="Open Sauce Bold"/>
              </a:rPr>
              <a:t>Fonctions d’ajusstement</a:t>
            </a:r>
          </a:p>
        </p:txBody>
      </p:sp>
      <p:sp>
        <p:nvSpPr>
          <p:cNvPr name="TextBox 4" id="4"/>
          <p:cNvSpPr txBox="true"/>
          <p:nvPr/>
        </p:nvSpPr>
        <p:spPr>
          <a:xfrm rot="0">
            <a:off x="681615" y="2030754"/>
            <a:ext cx="7194122" cy="526301"/>
          </a:xfrm>
          <a:prstGeom prst="rect">
            <a:avLst/>
          </a:prstGeom>
        </p:spPr>
        <p:txBody>
          <a:bodyPr anchor="t" rtlCol="false" tIns="0" lIns="0" bIns="0" rIns="0">
            <a:spAutoFit/>
          </a:bodyPr>
          <a:lstStyle/>
          <a:p>
            <a:pPr algn="ctr">
              <a:lnSpc>
                <a:spcPts val="4159"/>
              </a:lnSpc>
              <a:spcBef>
                <a:spcPct val="0"/>
              </a:spcBef>
            </a:pPr>
            <a:r>
              <a:rPr lang="en-US" b="true" sz="2971" spc="92">
                <a:solidFill>
                  <a:srgbClr val="035D61"/>
                </a:solidFill>
                <a:latin typeface="Aleo Bold"/>
                <a:ea typeface="Aleo Bold"/>
                <a:cs typeface="Aleo Bold"/>
                <a:sym typeface="Aleo Bold"/>
              </a:rPr>
              <a:t>Fonction  ajustement_panneau_sollaire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6407671" y="2533088"/>
            <a:ext cx="11301259" cy="663949"/>
          </a:xfrm>
          <a:custGeom>
            <a:avLst/>
            <a:gdLst/>
            <a:ahLst/>
            <a:cxnLst/>
            <a:rect r="r" b="b" t="t" l="l"/>
            <a:pathLst>
              <a:path h="663949" w="11301259">
                <a:moveTo>
                  <a:pt x="0" y="0"/>
                </a:moveTo>
                <a:lnTo>
                  <a:pt x="11301259" y="0"/>
                </a:lnTo>
                <a:lnTo>
                  <a:pt x="11301259" y="663949"/>
                </a:lnTo>
                <a:lnTo>
                  <a:pt x="0" y="663949"/>
                </a:lnTo>
                <a:lnTo>
                  <a:pt x="0" y="0"/>
                </a:lnTo>
                <a:close/>
              </a:path>
            </a:pathLst>
          </a:custGeom>
          <a:blipFill>
            <a:blip r:embed="rId2"/>
            <a:stretch>
              <a:fillRect l="0" t="0" r="0" b="0"/>
            </a:stretch>
          </a:blipFill>
          <a:ln w="38100" cap="sq">
            <a:solidFill>
              <a:srgbClr val="035D61"/>
            </a:solidFill>
            <a:prstDash val="solid"/>
            <a:miter/>
          </a:ln>
        </p:spPr>
      </p:sp>
      <p:sp>
        <p:nvSpPr>
          <p:cNvPr name="Freeform 3" id="3"/>
          <p:cNvSpPr/>
          <p:nvPr/>
        </p:nvSpPr>
        <p:spPr>
          <a:xfrm flipH="false" flipV="false" rot="0">
            <a:off x="6407671" y="4875095"/>
            <a:ext cx="11301259" cy="536810"/>
          </a:xfrm>
          <a:custGeom>
            <a:avLst/>
            <a:gdLst/>
            <a:ahLst/>
            <a:cxnLst/>
            <a:rect r="r" b="b" t="t" l="l"/>
            <a:pathLst>
              <a:path h="536810" w="11301259">
                <a:moveTo>
                  <a:pt x="0" y="0"/>
                </a:moveTo>
                <a:lnTo>
                  <a:pt x="11301259" y="0"/>
                </a:lnTo>
                <a:lnTo>
                  <a:pt x="11301259" y="536810"/>
                </a:lnTo>
                <a:lnTo>
                  <a:pt x="0" y="536810"/>
                </a:lnTo>
                <a:lnTo>
                  <a:pt x="0" y="0"/>
                </a:lnTo>
                <a:close/>
              </a:path>
            </a:pathLst>
          </a:custGeom>
          <a:blipFill>
            <a:blip r:embed="rId3"/>
            <a:stretch>
              <a:fillRect l="0" t="0" r="0" b="0"/>
            </a:stretch>
          </a:blipFill>
          <a:ln w="38100" cap="sq">
            <a:solidFill>
              <a:srgbClr val="035D61"/>
            </a:solidFill>
            <a:prstDash val="solid"/>
            <a:miter/>
          </a:ln>
        </p:spPr>
      </p:sp>
      <p:sp>
        <p:nvSpPr>
          <p:cNvPr name="TextBox 4" id="4"/>
          <p:cNvSpPr txBox="true"/>
          <p:nvPr/>
        </p:nvSpPr>
        <p:spPr>
          <a:xfrm rot="0">
            <a:off x="981075" y="2503332"/>
            <a:ext cx="4884430" cy="1417320"/>
          </a:xfrm>
          <a:prstGeom prst="rect">
            <a:avLst/>
          </a:prstGeom>
        </p:spPr>
        <p:txBody>
          <a:bodyPr anchor="t" rtlCol="false" tIns="0" lIns="0" bIns="0" rIns="0">
            <a:spAutoFit/>
          </a:bodyPr>
          <a:lstStyle/>
          <a:p>
            <a:pPr algn="l">
              <a:lnSpc>
                <a:spcPts val="3779"/>
              </a:lnSpc>
              <a:spcBef>
                <a:spcPct val="0"/>
              </a:spcBef>
            </a:pPr>
            <a:r>
              <a:rPr lang="en-US" b="true" sz="2700" spc="83">
                <a:solidFill>
                  <a:srgbClr val="106861"/>
                </a:solidFill>
                <a:latin typeface="Aleo Bold"/>
                <a:ea typeface="Aleo Bold"/>
                <a:cs typeface="Aleo Bold"/>
                <a:sym typeface="Aleo Bold"/>
              </a:rPr>
              <a:t>Fonction  :  ajustement_serres </a:t>
            </a:r>
          </a:p>
          <a:p>
            <a:pPr algn="l">
              <a:lnSpc>
                <a:spcPts val="3779"/>
              </a:lnSpc>
              <a:spcBef>
                <a:spcPct val="0"/>
              </a:spcBef>
            </a:pPr>
            <a:r>
              <a:rPr lang="en-US" b="true" sz="2700" spc="83">
                <a:solidFill>
                  <a:srgbClr val="106861"/>
                </a:solidFill>
                <a:latin typeface="Aleo Bold"/>
                <a:ea typeface="Aleo Bold"/>
                <a:cs typeface="Aleo Bold"/>
                <a:sym typeface="Aleo Bold"/>
              </a:rPr>
              <a:t> </a:t>
            </a:r>
          </a:p>
        </p:txBody>
      </p:sp>
      <p:sp>
        <p:nvSpPr>
          <p:cNvPr name="TextBox 5" id="5"/>
          <p:cNvSpPr txBox="true"/>
          <p:nvPr/>
        </p:nvSpPr>
        <p:spPr>
          <a:xfrm rot="0">
            <a:off x="740797" y="4882515"/>
            <a:ext cx="5154216" cy="464820"/>
          </a:xfrm>
          <a:prstGeom prst="rect">
            <a:avLst/>
          </a:prstGeom>
        </p:spPr>
        <p:txBody>
          <a:bodyPr anchor="t" rtlCol="false" tIns="0" lIns="0" bIns="0" rIns="0">
            <a:spAutoFit/>
          </a:bodyPr>
          <a:lstStyle/>
          <a:p>
            <a:pPr algn="ctr">
              <a:lnSpc>
                <a:spcPts val="3779"/>
              </a:lnSpc>
              <a:spcBef>
                <a:spcPct val="0"/>
              </a:spcBef>
            </a:pPr>
            <a:r>
              <a:rPr lang="en-US" b="true" sz="2700" spc="83">
                <a:solidFill>
                  <a:srgbClr val="106861"/>
                </a:solidFill>
                <a:latin typeface="Aleo Bold"/>
                <a:ea typeface="Aleo Bold"/>
                <a:cs typeface="Aleo Bold"/>
                <a:sym typeface="Aleo Bold"/>
              </a:rPr>
              <a:t>Fonction : ajustement_reserves</a:t>
            </a:r>
          </a:p>
        </p:txBody>
      </p:sp>
      <p:sp>
        <p:nvSpPr>
          <p:cNvPr name="TextBox 6" id="6"/>
          <p:cNvSpPr txBox="true"/>
          <p:nvPr/>
        </p:nvSpPr>
        <p:spPr>
          <a:xfrm rot="0">
            <a:off x="740797" y="7265214"/>
            <a:ext cx="5036543" cy="464820"/>
          </a:xfrm>
          <a:prstGeom prst="rect">
            <a:avLst/>
          </a:prstGeom>
        </p:spPr>
        <p:txBody>
          <a:bodyPr anchor="t" rtlCol="false" tIns="0" lIns="0" bIns="0" rIns="0">
            <a:spAutoFit/>
          </a:bodyPr>
          <a:lstStyle/>
          <a:p>
            <a:pPr algn="ctr">
              <a:lnSpc>
                <a:spcPts val="3779"/>
              </a:lnSpc>
              <a:spcBef>
                <a:spcPct val="0"/>
              </a:spcBef>
            </a:pPr>
            <a:r>
              <a:rPr lang="en-US" b="true" sz="2700" spc="83">
                <a:solidFill>
                  <a:srgbClr val="106861"/>
                </a:solidFill>
                <a:latin typeface="Aleo Bold"/>
                <a:ea typeface="Aleo Bold"/>
                <a:cs typeface="Aleo Bold"/>
                <a:sym typeface="Aleo Bold"/>
              </a:rPr>
              <a:t>Fonction : ajustement_champs</a:t>
            </a:r>
          </a:p>
        </p:txBody>
      </p:sp>
      <p:sp>
        <p:nvSpPr>
          <p:cNvPr name="Freeform 7" id="7"/>
          <p:cNvSpPr/>
          <p:nvPr/>
        </p:nvSpPr>
        <p:spPr>
          <a:xfrm flipH="false" flipV="false" rot="0">
            <a:off x="6407671" y="7197744"/>
            <a:ext cx="11301259" cy="423042"/>
          </a:xfrm>
          <a:custGeom>
            <a:avLst/>
            <a:gdLst/>
            <a:ahLst/>
            <a:cxnLst/>
            <a:rect r="r" b="b" t="t" l="l"/>
            <a:pathLst>
              <a:path h="423042" w="11301259">
                <a:moveTo>
                  <a:pt x="0" y="0"/>
                </a:moveTo>
                <a:lnTo>
                  <a:pt x="11301259" y="0"/>
                </a:lnTo>
                <a:lnTo>
                  <a:pt x="11301259" y="423042"/>
                </a:lnTo>
                <a:lnTo>
                  <a:pt x="0" y="423042"/>
                </a:lnTo>
                <a:lnTo>
                  <a:pt x="0" y="0"/>
                </a:lnTo>
                <a:close/>
              </a:path>
            </a:pathLst>
          </a:custGeom>
          <a:blipFill>
            <a:blip r:embed="rId4"/>
            <a:stretch>
              <a:fillRect l="0" t="0" r="0" b="0"/>
            </a:stretch>
          </a:blipFill>
          <a:ln w="38100" cap="sq">
            <a:solidFill>
              <a:srgbClr val="106861"/>
            </a:solidFill>
            <a:prstDash val="solid"/>
            <a:miter/>
          </a:ln>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6637109" y="674053"/>
            <a:ext cx="11490878" cy="9441807"/>
          </a:xfrm>
          <a:custGeom>
            <a:avLst/>
            <a:gdLst/>
            <a:ahLst/>
            <a:cxnLst/>
            <a:rect r="r" b="b" t="t" l="l"/>
            <a:pathLst>
              <a:path h="9441807" w="11490878">
                <a:moveTo>
                  <a:pt x="0" y="0"/>
                </a:moveTo>
                <a:lnTo>
                  <a:pt x="11490878" y="0"/>
                </a:lnTo>
                <a:lnTo>
                  <a:pt x="11490878" y="9441806"/>
                </a:lnTo>
                <a:lnTo>
                  <a:pt x="0" y="9441806"/>
                </a:lnTo>
                <a:lnTo>
                  <a:pt x="0" y="0"/>
                </a:lnTo>
                <a:close/>
              </a:path>
            </a:pathLst>
          </a:custGeom>
          <a:blipFill>
            <a:blip r:embed="rId2"/>
            <a:stretch>
              <a:fillRect l="-46465" t="0" r="-43916" b="-2526"/>
            </a:stretch>
          </a:blipFill>
          <a:ln w="161925" cap="sq">
            <a:solidFill>
              <a:srgbClr val="106861"/>
            </a:solidFill>
            <a:prstDash val="solid"/>
            <a:miter/>
          </a:ln>
        </p:spPr>
      </p:sp>
      <p:sp>
        <p:nvSpPr>
          <p:cNvPr name="Freeform 3" id="3"/>
          <p:cNvSpPr/>
          <p:nvPr/>
        </p:nvSpPr>
        <p:spPr>
          <a:xfrm flipH="false" flipV="false" rot="0">
            <a:off x="6656446" y="687478"/>
            <a:ext cx="11452203" cy="4456022"/>
          </a:xfrm>
          <a:custGeom>
            <a:avLst/>
            <a:gdLst/>
            <a:ahLst/>
            <a:cxnLst/>
            <a:rect r="r" b="b" t="t" l="l"/>
            <a:pathLst>
              <a:path h="4456022" w="11452203">
                <a:moveTo>
                  <a:pt x="0" y="0"/>
                </a:moveTo>
                <a:lnTo>
                  <a:pt x="11452204" y="0"/>
                </a:lnTo>
                <a:lnTo>
                  <a:pt x="11452204" y="4456022"/>
                </a:lnTo>
                <a:lnTo>
                  <a:pt x="0" y="4456022"/>
                </a:lnTo>
                <a:lnTo>
                  <a:pt x="0" y="0"/>
                </a:lnTo>
                <a:close/>
              </a:path>
            </a:pathLst>
          </a:custGeom>
          <a:blipFill>
            <a:blip r:embed="rId3"/>
            <a:stretch>
              <a:fillRect l="0" t="-906" r="-168" b="-4965"/>
            </a:stretch>
          </a:blipFill>
          <a:ln cap="sq">
            <a:noFill/>
            <a:prstDash val="solid"/>
            <a:miter/>
          </a:ln>
        </p:spPr>
      </p:sp>
      <p:sp>
        <p:nvSpPr>
          <p:cNvPr name="Freeform 4" id="4"/>
          <p:cNvSpPr/>
          <p:nvPr/>
        </p:nvSpPr>
        <p:spPr>
          <a:xfrm flipH="false" flipV="false" rot="0">
            <a:off x="6656446" y="5130074"/>
            <a:ext cx="11452203" cy="4985785"/>
          </a:xfrm>
          <a:custGeom>
            <a:avLst/>
            <a:gdLst/>
            <a:ahLst/>
            <a:cxnLst/>
            <a:rect r="r" b="b" t="t" l="l"/>
            <a:pathLst>
              <a:path h="4985785" w="11452203">
                <a:moveTo>
                  <a:pt x="0" y="0"/>
                </a:moveTo>
                <a:lnTo>
                  <a:pt x="11452204" y="0"/>
                </a:lnTo>
                <a:lnTo>
                  <a:pt x="11452204" y="4985785"/>
                </a:lnTo>
                <a:lnTo>
                  <a:pt x="0" y="4985785"/>
                </a:lnTo>
                <a:lnTo>
                  <a:pt x="0" y="0"/>
                </a:lnTo>
                <a:close/>
              </a:path>
            </a:pathLst>
          </a:custGeom>
          <a:blipFill>
            <a:blip r:embed="rId2"/>
            <a:stretch>
              <a:fillRect l="-168" t="-906" r="0" b="-906"/>
            </a:stretch>
          </a:blipFill>
        </p:spPr>
      </p:sp>
      <p:sp>
        <p:nvSpPr>
          <p:cNvPr name="TextBox 5" id="5"/>
          <p:cNvSpPr txBox="true"/>
          <p:nvPr/>
        </p:nvSpPr>
        <p:spPr>
          <a:xfrm rot="0">
            <a:off x="260108" y="588328"/>
            <a:ext cx="11902151" cy="795020"/>
          </a:xfrm>
          <a:prstGeom prst="rect">
            <a:avLst/>
          </a:prstGeom>
        </p:spPr>
        <p:txBody>
          <a:bodyPr anchor="t" rtlCol="false" tIns="0" lIns="0" bIns="0" rIns="0">
            <a:spAutoFit/>
          </a:bodyPr>
          <a:lstStyle/>
          <a:p>
            <a:pPr algn="l">
              <a:lnSpc>
                <a:spcPts val="6580"/>
              </a:lnSpc>
              <a:spcBef>
                <a:spcPct val="0"/>
              </a:spcBef>
            </a:pPr>
            <a:r>
              <a:rPr lang="en-US" b="true" sz="4700">
                <a:solidFill>
                  <a:srgbClr val="106861"/>
                </a:solidFill>
                <a:latin typeface="Open Sauce Bold"/>
                <a:ea typeface="Open Sauce Bold"/>
                <a:cs typeface="Open Sauce Bold"/>
                <a:sym typeface="Open Sauce Bold"/>
              </a:rPr>
              <a:t>Fonctions de gestion</a:t>
            </a:r>
          </a:p>
        </p:txBody>
      </p:sp>
      <p:sp>
        <p:nvSpPr>
          <p:cNvPr name="TextBox 6" id="6"/>
          <p:cNvSpPr txBox="true"/>
          <p:nvPr/>
        </p:nvSpPr>
        <p:spPr>
          <a:xfrm rot="0">
            <a:off x="0" y="4651916"/>
            <a:ext cx="6046325" cy="491584"/>
          </a:xfrm>
          <a:prstGeom prst="rect">
            <a:avLst/>
          </a:prstGeom>
        </p:spPr>
        <p:txBody>
          <a:bodyPr anchor="t" rtlCol="false" tIns="0" lIns="0" bIns="0" rIns="0">
            <a:spAutoFit/>
          </a:bodyPr>
          <a:lstStyle/>
          <a:p>
            <a:pPr algn="ctr">
              <a:lnSpc>
                <a:spcPts val="3926"/>
              </a:lnSpc>
              <a:spcBef>
                <a:spcPct val="0"/>
              </a:spcBef>
            </a:pPr>
            <a:r>
              <a:rPr lang="en-US" b="true" sz="2804" spc="86">
                <a:solidFill>
                  <a:srgbClr val="035D61"/>
                </a:solidFill>
                <a:latin typeface="Aleo Bold"/>
                <a:ea typeface="Aleo Bold"/>
                <a:cs typeface="Aleo Bold"/>
                <a:sym typeface="Aleo Bold"/>
              </a:rPr>
              <a:t>Fonction gestion_serres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5806449" y="2311798"/>
            <a:ext cx="11301259" cy="607443"/>
          </a:xfrm>
          <a:custGeom>
            <a:avLst/>
            <a:gdLst/>
            <a:ahLst/>
            <a:cxnLst/>
            <a:rect r="r" b="b" t="t" l="l"/>
            <a:pathLst>
              <a:path h="607443" w="11301259">
                <a:moveTo>
                  <a:pt x="0" y="0"/>
                </a:moveTo>
                <a:lnTo>
                  <a:pt x="11301259" y="0"/>
                </a:lnTo>
                <a:lnTo>
                  <a:pt x="11301259" y="607443"/>
                </a:lnTo>
                <a:lnTo>
                  <a:pt x="0" y="607443"/>
                </a:lnTo>
                <a:lnTo>
                  <a:pt x="0" y="0"/>
                </a:lnTo>
                <a:close/>
              </a:path>
            </a:pathLst>
          </a:custGeom>
          <a:blipFill>
            <a:blip r:embed="rId2"/>
            <a:stretch>
              <a:fillRect l="0" t="0" r="0" b="0"/>
            </a:stretch>
          </a:blipFill>
          <a:ln w="38100" cap="sq">
            <a:solidFill>
              <a:srgbClr val="106861"/>
            </a:solidFill>
            <a:prstDash val="solid"/>
            <a:miter/>
          </a:ln>
        </p:spPr>
      </p:sp>
      <p:sp>
        <p:nvSpPr>
          <p:cNvPr name="Freeform 3" id="3"/>
          <p:cNvSpPr/>
          <p:nvPr/>
        </p:nvSpPr>
        <p:spPr>
          <a:xfrm flipH="false" flipV="false" rot="0">
            <a:off x="5806449" y="3708390"/>
            <a:ext cx="11301259" cy="776962"/>
          </a:xfrm>
          <a:custGeom>
            <a:avLst/>
            <a:gdLst/>
            <a:ahLst/>
            <a:cxnLst/>
            <a:rect r="r" b="b" t="t" l="l"/>
            <a:pathLst>
              <a:path h="776962" w="11301259">
                <a:moveTo>
                  <a:pt x="0" y="0"/>
                </a:moveTo>
                <a:lnTo>
                  <a:pt x="11301259" y="0"/>
                </a:lnTo>
                <a:lnTo>
                  <a:pt x="11301259" y="776961"/>
                </a:lnTo>
                <a:lnTo>
                  <a:pt x="0" y="776961"/>
                </a:lnTo>
                <a:lnTo>
                  <a:pt x="0" y="0"/>
                </a:lnTo>
                <a:close/>
              </a:path>
            </a:pathLst>
          </a:custGeom>
          <a:blipFill>
            <a:blip r:embed="rId3"/>
            <a:stretch>
              <a:fillRect l="0" t="0" r="0" b="0"/>
            </a:stretch>
          </a:blipFill>
          <a:ln w="38100" cap="sq">
            <a:solidFill>
              <a:srgbClr val="106861"/>
            </a:solidFill>
            <a:prstDash val="solid"/>
            <a:miter/>
          </a:ln>
        </p:spPr>
      </p:sp>
      <p:sp>
        <p:nvSpPr>
          <p:cNvPr name="Freeform 4" id="4"/>
          <p:cNvSpPr/>
          <p:nvPr/>
        </p:nvSpPr>
        <p:spPr>
          <a:xfrm flipH="false" flipV="false" rot="0">
            <a:off x="5806449" y="5185341"/>
            <a:ext cx="11301259" cy="776962"/>
          </a:xfrm>
          <a:custGeom>
            <a:avLst/>
            <a:gdLst/>
            <a:ahLst/>
            <a:cxnLst/>
            <a:rect r="r" b="b" t="t" l="l"/>
            <a:pathLst>
              <a:path h="776962" w="11301259">
                <a:moveTo>
                  <a:pt x="0" y="0"/>
                </a:moveTo>
                <a:lnTo>
                  <a:pt x="11301259" y="0"/>
                </a:lnTo>
                <a:lnTo>
                  <a:pt x="11301259" y="776961"/>
                </a:lnTo>
                <a:lnTo>
                  <a:pt x="0" y="776961"/>
                </a:lnTo>
                <a:lnTo>
                  <a:pt x="0" y="0"/>
                </a:lnTo>
                <a:close/>
              </a:path>
            </a:pathLst>
          </a:custGeom>
          <a:blipFill>
            <a:blip r:embed="rId4"/>
            <a:stretch>
              <a:fillRect l="0" t="0" r="0" b="0"/>
            </a:stretch>
          </a:blipFill>
          <a:ln w="38100" cap="sq">
            <a:solidFill>
              <a:srgbClr val="106861"/>
            </a:solidFill>
            <a:prstDash val="solid"/>
            <a:miter/>
          </a:ln>
        </p:spPr>
      </p:sp>
      <p:sp>
        <p:nvSpPr>
          <p:cNvPr name="Freeform 5" id="5"/>
          <p:cNvSpPr/>
          <p:nvPr/>
        </p:nvSpPr>
        <p:spPr>
          <a:xfrm flipH="false" flipV="false" rot="0">
            <a:off x="5806449" y="6657627"/>
            <a:ext cx="11301259" cy="769978"/>
          </a:xfrm>
          <a:custGeom>
            <a:avLst/>
            <a:gdLst/>
            <a:ahLst/>
            <a:cxnLst/>
            <a:rect r="r" b="b" t="t" l="l"/>
            <a:pathLst>
              <a:path h="769978" w="11301259">
                <a:moveTo>
                  <a:pt x="0" y="0"/>
                </a:moveTo>
                <a:lnTo>
                  <a:pt x="11301259" y="0"/>
                </a:lnTo>
                <a:lnTo>
                  <a:pt x="11301259" y="769978"/>
                </a:lnTo>
                <a:lnTo>
                  <a:pt x="0" y="769978"/>
                </a:lnTo>
                <a:lnTo>
                  <a:pt x="0" y="0"/>
                </a:lnTo>
                <a:close/>
              </a:path>
            </a:pathLst>
          </a:custGeom>
          <a:blipFill>
            <a:blip r:embed="rId5"/>
            <a:stretch>
              <a:fillRect l="0" t="0" r="0" b="-50443"/>
            </a:stretch>
          </a:blipFill>
          <a:ln w="38100" cap="sq">
            <a:solidFill>
              <a:srgbClr val="106861"/>
            </a:solidFill>
            <a:prstDash val="solid"/>
            <a:miter/>
          </a:ln>
        </p:spPr>
      </p:sp>
      <p:sp>
        <p:nvSpPr>
          <p:cNvPr name="TextBox 6" id="6"/>
          <p:cNvSpPr txBox="true"/>
          <p:nvPr/>
        </p:nvSpPr>
        <p:spPr>
          <a:xfrm rot="0">
            <a:off x="1180292" y="2367582"/>
            <a:ext cx="4269759" cy="438726"/>
          </a:xfrm>
          <a:prstGeom prst="rect">
            <a:avLst/>
          </a:prstGeom>
        </p:spPr>
        <p:txBody>
          <a:bodyPr anchor="t" rtlCol="false" tIns="0" lIns="0" bIns="0" rIns="0">
            <a:spAutoFit/>
          </a:bodyPr>
          <a:lstStyle/>
          <a:p>
            <a:pPr algn="ctr">
              <a:lnSpc>
                <a:spcPts val="3538"/>
              </a:lnSpc>
              <a:spcBef>
                <a:spcPct val="0"/>
              </a:spcBef>
            </a:pPr>
            <a:r>
              <a:rPr lang="en-US" b="true" sz="2527" spc="78">
                <a:solidFill>
                  <a:srgbClr val="106861"/>
                </a:solidFill>
                <a:latin typeface="Aleo Bold"/>
                <a:ea typeface="Aleo Bold"/>
                <a:cs typeface="Aleo Bold"/>
                <a:sym typeface="Aleo Bold"/>
              </a:rPr>
              <a:t>gestion_champs : </a:t>
            </a:r>
          </a:p>
        </p:txBody>
      </p:sp>
      <p:sp>
        <p:nvSpPr>
          <p:cNvPr name="TextBox 7" id="7"/>
          <p:cNvSpPr txBox="true"/>
          <p:nvPr/>
        </p:nvSpPr>
        <p:spPr>
          <a:xfrm rot="0">
            <a:off x="1180292" y="3848932"/>
            <a:ext cx="4269759" cy="438726"/>
          </a:xfrm>
          <a:prstGeom prst="rect">
            <a:avLst/>
          </a:prstGeom>
        </p:spPr>
        <p:txBody>
          <a:bodyPr anchor="t" rtlCol="false" tIns="0" lIns="0" bIns="0" rIns="0">
            <a:spAutoFit/>
          </a:bodyPr>
          <a:lstStyle/>
          <a:p>
            <a:pPr algn="ctr">
              <a:lnSpc>
                <a:spcPts val="3538"/>
              </a:lnSpc>
              <a:spcBef>
                <a:spcPct val="0"/>
              </a:spcBef>
            </a:pPr>
            <a:r>
              <a:rPr lang="en-US" b="true" sz="2527" spc="78">
                <a:solidFill>
                  <a:srgbClr val="035D61"/>
                </a:solidFill>
                <a:latin typeface="Aleo Bold"/>
                <a:ea typeface="Aleo Bold"/>
                <a:cs typeface="Aleo Bold"/>
                <a:sym typeface="Aleo Bold"/>
              </a:rPr>
              <a:t>gestion_panneaux : </a:t>
            </a:r>
          </a:p>
        </p:txBody>
      </p:sp>
      <p:sp>
        <p:nvSpPr>
          <p:cNvPr name="TextBox 8" id="8"/>
          <p:cNvSpPr txBox="true"/>
          <p:nvPr/>
        </p:nvSpPr>
        <p:spPr>
          <a:xfrm rot="0">
            <a:off x="1180292" y="5325883"/>
            <a:ext cx="4269759" cy="438726"/>
          </a:xfrm>
          <a:prstGeom prst="rect">
            <a:avLst/>
          </a:prstGeom>
        </p:spPr>
        <p:txBody>
          <a:bodyPr anchor="t" rtlCol="false" tIns="0" lIns="0" bIns="0" rIns="0">
            <a:spAutoFit/>
          </a:bodyPr>
          <a:lstStyle/>
          <a:p>
            <a:pPr algn="ctr">
              <a:lnSpc>
                <a:spcPts val="3538"/>
              </a:lnSpc>
              <a:spcBef>
                <a:spcPct val="0"/>
              </a:spcBef>
            </a:pPr>
            <a:r>
              <a:rPr lang="en-US" b="true" sz="2527" spc="78">
                <a:solidFill>
                  <a:srgbClr val="035D61"/>
                </a:solidFill>
                <a:latin typeface="Aleo Bold"/>
                <a:ea typeface="Aleo Bold"/>
                <a:cs typeface="Aleo Bold"/>
                <a:sym typeface="Aleo Bold"/>
              </a:rPr>
              <a:t>gestion_reserves_eau :  : </a:t>
            </a:r>
          </a:p>
        </p:txBody>
      </p:sp>
      <p:sp>
        <p:nvSpPr>
          <p:cNvPr name="TextBox 9" id="9"/>
          <p:cNvSpPr txBox="true"/>
          <p:nvPr/>
        </p:nvSpPr>
        <p:spPr>
          <a:xfrm rot="0">
            <a:off x="1180292" y="6802835"/>
            <a:ext cx="4269759" cy="438726"/>
          </a:xfrm>
          <a:prstGeom prst="rect">
            <a:avLst/>
          </a:prstGeom>
        </p:spPr>
        <p:txBody>
          <a:bodyPr anchor="t" rtlCol="false" tIns="0" lIns="0" bIns="0" rIns="0">
            <a:spAutoFit/>
          </a:bodyPr>
          <a:lstStyle/>
          <a:p>
            <a:pPr algn="ctr">
              <a:lnSpc>
                <a:spcPts val="3538"/>
              </a:lnSpc>
              <a:spcBef>
                <a:spcPct val="0"/>
              </a:spcBef>
            </a:pPr>
            <a:r>
              <a:rPr lang="en-US" b="true" sz="2527" spc="78">
                <a:solidFill>
                  <a:srgbClr val="035D61"/>
                </a:solidFill>
                <a:latin typeface="Aleo Bold"/>
                <a:ea typeface="Aleo Bold"/>
                <a:cs typeface="Aleo Bold"/>
                <a:sym typeface="Aleo Bold"/>
              </a:rPr>
              <a:t>gestion_ferme :  :  :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0" y="2190156"/>
            <a:ext cx="8290090" cy="5906689"/>
          </a:xfrm>
          <a:custGeom>
            <a:avLst/>
            <a:gdLst/>
            <a:ahLst/>
            <a:cxnLst/>
            <a:rect r="r" b="b" t="t" l="l"/>
            <a:pathLst>
              <a:path h="5906689" w="8290090">
                <a:moveTo>
                  <a:pt x="0" y="0"/>
                </a:moveTo>
                <a:lnTo>
                  <a:pt x="8290090" y="0"/>
                </a:lnTo>
                <a:lnTo>
                  <a:pt x="8290090" y="5906688"/>
                </a:lnTo>
                <a:lnTo>
                  <a:pt x="0" y="5906688"/>
                </a:lnTo>
                <a:lnTo>
                  <a:pt x="0" y="0"/>
                </a:lnTo>
                <a:close/>
              </a:path>
            </a:pathLst>
          </a:custGeom>
          <a:blipFill>
            <a:blip r:embed="rId2"/>
            <a:stretch>
              <a:fillRect l="0" t="0" r="0" b="0"/>
            </a:stretch>
          </a:blipFill>
          <a:ln w="38100" cap="sq">
            <a:solidFill>
              <a:srgbClr val="106861"/>
            </a:solidFill>
            <a:prstDash val="solid"/>
            <a:miter/>
          </a:ln>
        </p:spPr>
      </p:sp>
      <p:sp>
        <p:nvSpPr>
          <p:cNvPr name="Freeform 3" id="3"/>
          <p:cNvSpPr/>
          <p:nvPr/>
        </p:nvSpPr>
        <p:spPr>
          <a:xfrm flipH="false" flipV="false" rot="0">
            <a:off x="8622661" y="352501"/>
            <a:ext cx="9820909" cy="5659299"/>
          </a:xfrm>
          <a:custGeom>
            <a:avLst/>
            <a:gdLst/>
            <a:ahLst/>
            <a:cxnLst/>
            <a:rect r="r" b="b" t="t" l="l"/>
            <a:pathLst>
              <a:path h="5659299" w="9820909">
                <a:moveTo>
                  <a:pt x="0" y="0"/>
                </a:moveTo>
                <a:lnTo>
                  <a:pt x="9820909" y="0"/>
                </a:lnTo>
                <a:lnTo>
                  <a:pt x="9820909" y="5659299"/>
                </a:lnTo>
                <a:lnTo>
                  <a:pt x="0" y="5659299"/>
                </a:lnTo>
                <a:lnTo>
                  <a:pt x="0" y="0"/>
                </a:lnTo>
                <a:close/>
              </a:path>
            </a:pathLst>
          </a:custGeom>
          <a:blipFill>
            <a:blip r:embed="rId3"/>
            <a:stretch>
              <a:fillRect l="0" t="0" r="0" b="0"/>
            </a:stretch>
          </a:blipFill>
          <a:ln w="38100" cap="sq">
            <a:solidFill>
              <a:srgbClr val="106861"/>
            </a:solidFill>
            <a:prstDash val="solid"/>
            <a:miter/>
          </a:ln>
        </p:spPr>
      </p:sp>
      <p:sp>
        <p:nvSpPr>
          <p:cNvPr name="Freeform 4" id="4"/>
          <p:cNvSpPr/>
          <p:nvPr/>
        </p:nvSpPr>
        <p:spPr>
          <a:xfrm flipH="false" flipV="false" rot="0">
            <a:off x="8622661" y="6011800"/>
            <a:ext cx="11301259" cy="3023087"/>
          </a:xfrm>
          <a:custGeom>
            <a:avLst/>
            <a:gdLst/>
            <a:ahLst/>
            <a:cxnLst/>
            <a:rect r="r" b="b" t="t" l="l"/>
            <a:pathLst>
              <a:path h="3023087" w="11301259">
                <a:moveTo>
                  <a:pt x="0" y="0"/>
                </a:moveTo>
                <a:lnTo>
                  <a:pt x="11301259" y="0"/>
                </a:lnTo>
                <a:lnTo>
                  <a:pt x="11301259" y="3023087"/>
                </a:lnTo>
                <a:lnTo>
                  <a:pt x="0" y="3023087"/>
                </a:lnTo>
                <a:lnTo>
                  <a:pt x="0" y="0"/>
                </a:lnTo>
                <a:close/>
              </a:path>
            </a:pathLst>
          </a:custGeom>
          <a:blipFill>
            <a:blip r:embed="rId4"/>
            <a:stretch>
              <a:fillRect l="0" t="0" r="0" b="0"/>
            </a:stretch>
          </a:blipFill>
          <a:ln w="38100" cap="sq">
            <a:solidFill>
              <a:srgbClr val="106861"/>
            </a:solidFill>
            <a:prstDash val="solid"/>
            <a:miter/>
          </a:ln>
        </p:spPr>
      </p:sp>
      <p:sp>
        <p:nvSpPr>
          <p:cNvPr name="TextBox 5" id="5"/>
          <p:cNvSpPr txBox="true"/>
          <p:nvPr/>
        </p:nvSpPr>
        <p:spPr>
          <a:xfrm rot="0">
            <a:off x="332571" y="588328"/>
            <a:ext cx="11902151" cy="795020"/>
          </a:xfrm>
          <a:prstGeom prst="rect">
            <a:avLst/>
          </a:prstGeom>
        </p:spPr>
        <p:txBody>
          <a:bodyPr anchor="t" rtlCol="false" tIns="0" lIns="0" bIns="0" rIns="0">
            <a:spAutoFit/>
          </a:bodyPr>
          <a:lstStyle/>
          <a:p>
            <a:pPr algn="l">
              <a:lnSpc>
                <a:spcPts val="6580"/>
              </a:lnSpc>
              <a:spcBef>
                <a:spcPct val="0"/>
              </a:spcBef>
            </a:pPr>
            <a:r>
              <a:rPr lang="en-US" b="true" sz="4700">
                <a:solidFill>
                  <a:srgbClr val="106861"/>
                </a:solidFill>
                <a:latin typeface="Open Sauce Bold"/>
                <a:ea typeface="Open Sauce Bold"/>
                <a:cs typeface="Open Sauce Bold"/>
                <a:sym typeface="Open Sauce Bold"/>
              </a:rPr>
              <a:t>fonction main()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grpSp>
        <p:nvGrpSpPr>
          <p:cNvPr name="Group 2" id="2"/>
          <p:cNvGrpSpPr/>
          <p:nvPr/>
        </p:nvGrpSpPr>
        <p:grpSpPr>
          <a:xfrm rot="-10800000">
            <a:off x="2049727" y="4347082"/>
            <a:ext cx="3128394" cy="3751948"/>
            <a:chOff x="0" y="0"/>
            <a:chExt cx="2041606" cy="2448541"/>
          </a:xfrm>
        </p:grpSpPr>
        <p:sp>
          <p:nvSpPr>
            <p:cNvPr name="Freeform 3" id="3"/>
            <p:cNvSpPr/>
            <p:nvPr/>
          </p:nvSpPr>
          <p:spPr>
            <a:xfrm flipH="false" flipV="false" rot="0">
              <a:off x="0" y="0"/>
              <a:ext cx="2041606" cy="2448541"/>
            </a:xfrm>
            <a:custGeom>
              <a:avLst/>
              <a:gdLst/>
              <a:ahLst/>
              <a:cxnLst/>
              <a:rect r="r" b="b" t="t" l="l"/>
              <a:pathLst>
                <a:path h="2448541" w="2041606">
                  <a:moveTo>
                    <a:pt x="79191" y="0"/>
                  </a:moveTo>
                  <a:lnTo>
                    <a:pt x="1962415" y="0"/>
                  </a:lnTo>
                  <a:cubicBezTo>
                    <a:pt x="2006151" y="0"/>
                    <a:pt x="2041606" y="35455"/>
                    <a:pt x="2041606" y="79191"/>
                  </a:cubicBezTo>
                  <a:lnTo>
                    <a:pt x="2041606" y="2369350"/>
                  </a:lnTo>
                  <a:cubicBezTo>
                    <a:pt x="2041606" y="2390353"/>
                    <a:pt x="2033263" y="2410495"/>
                    <a:pt x="2018411" y="2425347"/>
                  </a:cubicBezTo>
                  <a:cubicBezTo>
                    <a:pt x="2003560" y="2440198"/>
                    <a:pt x="1983418" y="2448541"/>
                    <a:pt x="1962415" y="2448541"/>
                  </a:cubicBezTo>
                  <a:lnTo>
                    <a:pt x="79191" y="2448541"/>
                  </a:lnTo>
                  <a:cubicBezTo>
                    <a:pt x="58188" y="2448541"/>
                    <a:pt x="38046" y="2440198"/>
                    <a:pt x="23195" y="2425347"/>
                  </a:cubicBezTo>
                  <a:cubicBezTo>
                    <a:pt x="8343" y="2410495"/>
                    <a:pt x="0" y="2390353"/>
                    <a:pt x="0" y="2369350"/>
                  </a:cubicBezTo>
                  <a:lnTo>
                    <a:pt x="0" y="79191"/>
                  </a:lnTo>
                  <a:cubicBezTo>
                    <a:pt x="0" y="58188"/>
                    <a:pt x="8343" y="38046"/>
                    <a:pt x="23195" y="23195"/>
                  </a:cubicBezTo>
                  <a:cubicBezTo>
                    <a:pt x="38046" y="8343"/>
                    <a:pt x="58188" y="0"/>
                    <a:pt x="79191" y="0"/>
                  </a:cubicBezTo>
                  <a:close/>
                </a:path>
              </a:pathLst>
            </a:custGeom>
            <a:solidFill>
              <a:srgbClr val="EFFFFB"/>
            </a:solidFill>
            <a:ln w="123825" cap="rnd">
              <a:solidFill>
                <a:srgbClr val="106861"/>
              </a:solidFill>
              <a:prstDash val="solid"/>
              <a:round/>
            </a:ln>
          </p:spPr>
        </p:sp>
        <p:sp>
          <p:nvSpPr>
            <p:cNvPr name="TextBox 4" id="4"/>
            <p:cNvSpPr txBox="true"/>
            <p:nvPr/>
          </p:nvSpPr>
          <p:spPr>
            <a:xfrm>
              <a:off x="0" y="-38100"/>
              <a:ext cx="2041606" cy="2486641"/>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5" id="5"/>
          <p:cNvSpPr/>
          <p:nvPr/>
        </p:nvSpPr>
        <p:spPr>
          <a:xfrm flipH="false" flipV="false" rot="0">
            <a:off x="2540734" y="4347082"/>
            <a:ext cx="2146380" cy="1000429"/>
          </a:xfrm>
          <a:custGeom>
            <a:avLst/>
            <a:gdLst/>
            <a:ahLst/>
            <a:cxnLst/>
            <a:rect r="r" b="b" t="t" l="l"/>
            <a:pathLst>
              <a:path h="1000429" w="2146380">
                <a:moveTo>
                  <a:pt x="0" y="0"/>
                </a:moveTo>
                <a:lnTo>
                  <a:pt x="2146380" y="0"/>
                </a:lnTo>
                <a:lnTo>
                  <a:pt x="2146380" y="1000429"/>
                </a:lnTo>
                <a:lnTo>
                  <a:pt x="0" y="1000429"/>
                </a:lnTo>
                <a:lnTo>
                  <a:pt x="0" y="0"/>
                </a:lnTo>
                <a:close/>
              </a:path>
            </a:pathLst>
          </a:custGeom>
          <a:blipFill>
            <a:blip r:embed="rId2">
              <a:extLst>
                <a:ext uri="{96DAC541-7B7A-43D3-8B79-37D633B846F1}">
                  <asvg:svgBlip xmlns:asvg="http://schemas.microsoft.com/office/drawing/2016/SVG/main" r:embed="rId3"/>
                </a:ext>
              </a:extLst>
            </a:blip>
            <a:stretch>
              <a:fillRect l="0" t="-114545" r="0" b="0"/>
            </a:stretch>
          </a:blipFill>
          <a:ln cap="sq">
            <a:noFill/>
            <a:prstDash val="solid"/>
            <a:miter/>
          </a:ln>
        </p:spPr>
      </p:sp>
      <p:grpSp>
        <p:nvGrpSpPr>
          <p:cNvPr name="Group 6" id="6"/>
          <p:cNvGrpSpPr/>
          <p:nvPr/>
        </p:nvGrpSpPr>
        <p:grpSpPr>
          <a:xfrm rot="-10800000">
            <a:off x="5561122" y="4347082"/>
            <a:ext cx="3128394" cy="3751948"/>
            <a:chOff x="0" y="0"/>
            <a:chExt cx="2041606" cy="2448541"/>
          </a:xfrm>
        </p:grpSpPr>
        <p:sp>
          <p:nvSpPr>
            <p:cNvPr name="Freeform 7" id="7"/>
            <p:cNvSpPr/>
            <p:nvPr/>
          </p:nvSpPr>
          <p:spPr>
            <a:xfrm flipH="false" flipV="false" rot="0">
              <a:off x="0" y="0"/>
              <a:ext cx="2041606" cy="2448541"/>
            </a:xfrm>
            <a:custGeom>
              <a:avLst/>
              <a:gdLst/>
              <a:ahLst/>
              <a:cxnLst/>
              <a:rect r="r" b="b" t="t" l="l"/>
              <a:pathLst>
                <a:path h="2448541" w="2041606">
                  <a:moveTo>
                    <a:pt x="79191" y="0"/>
                  </a:moveTo>
                  <a:lnTo>
                    <a:pt x="1962415" y="0"/>
                  </a:lnTo>
                  <a:cubicBezTo>
                    <a:pt x="2006151" y="0"/>
                    <a:pt x="2041606" y="35455"/>
                    <a:pt x="2041606" y="79191"/>
                  </a:cubicBezTo>
                  <a:lnTo>
                    <a:pt x="2041606" y="2369350"/>
                  </a:lnTo>
                  <a:cubicBezTo>
                    <a:pt x="2041606" y="2390353"/>
                    <a:pt x="2033263" y="2410495"/>
                    <a:pt x="2018411" y="2425347"/>
                  </a:cubicBezTo>
                  <a:cubicBezTo>
                    <a:pt x="2003560" y="2440198"/>
                    <a:pt x="1983418" y="2448541"/>
                    <a:pt x="1962415" y="2448541"/>
                  </a:cubicBezTo>
                  <a:lnTo>
                    <a:pt x="79191" y="2448541"/>
                  </a:lnTo>
                  <a:cubicBezTo>
                    <a:pt x="58188" y="2448541"/>
                    <a:pt x="38046" y="2440198"/>
                    <a:pt x="23195" y="2425347"/>
                  </a:cubicBezTo>
                  <a:cubicBezTo>
                    <a:pt x="8343" y="2410495"/>
                    <a:pt x="0" y="2390353"/>
                    <a:pt x="0" y="2369350"/>
                  </a:cubicBezTo>
                  <a:lnTo>
                    <a:pt x="0" y="79191"/>
                  </a:lnTo>
                  <a:cubicBezTo>
                    <a:pt x="0" y="58188"/>
                    <a:pt x="8343" y="38046"/>
                    <a:pt x="23195" y="23195"/>
                  </a:cubicBezTo>
                  <a:cubicBezTo>
                    <a:pt x="38046" y="8343"/>
                    <a:pt x="58188" y="0"/>
                    <a:pt x="79191" y="0"/>
                  </a:cubicBezTo>
                  <a:close/>
                </a:path>
              </a:pathLst>
            </a:custGeom>
            <a:solidFill>
              <a:srgbClr val="EFFFFB"/>
            </a:solidFill>
            <a:ln w="123825" cap="rnd">
              <a:solidFill>
                <a:srgbClr val="106861"/>
              </a:solidFill>
              <a:prstDash val="solid"/>
              <a:round/>
            </a:ln>
          </p:spPr>
        </p:sp>
        <p:sp>
          <p:nvSpPr>
            <p:cNvPr name="TextBox 8" id="8"/>
            <p:cNvSpPr txBox="true"/>
            <p:nvPr/>
          </p:nvSpPr>
          <p:spPr>
            <a:xfrm>
              <a:off x="0" y="-38100"/>
              <a:ext cx="2041606" cy="2486641"/>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9" id="9"/>
          <p:cNvSpPr/>
          <p:nvPr/>
        </p:nvSpPr>
        <p:spPr>
          <a:xfrm flipH="false" flipV="false" rot="0">
            <a:off x="6052129" y="4347082"/>
            <a:ext cx="2146380" cy="1000429"/>
          </a:xfrm>
          <a:custGeom>
            <a:avLst/>
            <a:gdLst/>
            <a:ahLst/>
            <a:cxnLst/>
            <a:rect r="r" b="b" t="t" l="l"/>
            <a:pathLst>
              <a:path h="1000429" w="2146380">
                <a:moveTo>
                  <a:pt x="0" y="0"/>
                </a:moveTo>
                <a:lnTo>
                  <a:pt x="2146380" y="0"/>
                </a:lnTo>
                <a:lnTo>
                  <a:pt x="2146380" y="1000429"/>
                </a:lnTo>
                <a:lnTo>
                  <a:pt x="0" y="1000429"/>
                </a:lnTo>
                <a:lnTo>
                  <a:pt x="0" y="0"/>
                </a:lnTo>
                <a:close/>
              </a:path>
            </a:pathLst>
          </a:custGeom>
          <a:blipFill>
            <a:blip r:embed="rId2">
              <a:extLst>
                <a:ext uri="{96DAC541-7B7A-43D3-8B79-37D633B846F1}">
                  <asvg:svgBlip xmlns:asvg="http://schemas.microsoft.com/office/drawing/2016/SVG/main" r:embed="rId3"/>
                </a:ext>
              </a:extLst>
            </a:blip>
            <a:stretch>
              <a:fillRect l="0" t="-114545" r="0" b="0"/>
            </a:stretch>
          </a:blipFill>
          <a:ln cap="sq">
            <a:noFill/>
            <a:prstDash val="solid"/>
            <a:miter/>
          </a:ln>
        </p:spPr>
      </p:sp>
      <p:grpSp>
        <p:nvGrpSpPr>
          <p:cNvPr name="Group 10" id="10"/>
          <p:cNvGrpSpPr/>
          <p:nvPr/>
        </p:nvGrpSpPr>
        <p:grpSpPr>
          <a:xfrm rot="-10800000">
            <a:off x="9070516" y="4347082"/>
            <a:ext cx="3128394" cy="3751948"/>
            <a:chOff x="0" y="0"/>
            <a:chExt cx="2041606" cy="2448541"/>
          </a:xfrm>
        </p:grpSpPr>
        <p:sp>
          <p:nvSpPr>
            <p:cNvPr name="Freeform 11" id="11"/>
            <p:cNvSpPr/>
            <p:nvPr/>
          </p:nvSpPr>
          <p:spPr>
            <a:xfrm flipH="false" flipV="false" rot="0">
              <a:off x="0" y="0"/>
              <a:ext cx="2041606" cy="2448541"/>
            </a:xfrm>
            <a:custGeom>
              <a:avLst/>
              <a:gdLst/>
              <a:ahLst/>
              <a:cxnLst/>
              <a:rect r="r" b="b" t="t" l="l"/>
              <a:pathLst>
                <a:path h="2448541" w="2041606">
                  <a:moveTo>
                    <a:pt x="79191" y="0"/>
                  </a:moveTo>
                  <a:lnTo>
                    <a:pt x="1962415" y="0"/>
                  </a:lnTo>
                  <a:cubicBezTo>
                    <a:pt x="2006151" y="0"/>
                    <a:pt x="2041606" y="35455"/>
                    <a:pt x="2041606" y="79191"/>
                  </a:cubicBezTo>
                  <a:lnTo>
                    <a:pt x="2041606" y="2369350"/>
                  </a:lnTo>
                  <a:cubicBezTo>
                    <a:pt x="2041606" y="2390353"/>
                    <a:pt x="2033263" y="2410495"/>
                    <a:pt x="2018411" y="2425347"/>
                  </a:cubicBezTo>
                  <a:cubicBezTo>
                    <a:pt x="2003560" y="2440198"/>
                    <a:pt x="1983418" y="2448541"/>
                    <a:pt x="1962415" y="2448541"/>
                  </a:cubicBezTo>
                  <a:lnTo>
                    <a:pt x="79191" y="2448541"/>
                  </a:lnTo>
                  <a:cubicBezTo>
                    <a:pt x="58188" y="2448541"/>
                    <a:pt x="38046" y="2440198"/>
                    <a:pt x="23195" y="2425347"/>
                  </a:cubicBezTo>
                  <a:cubicBezTo>
                    <a:pt x="8343" y="2410495"/>
                    <a:pt x="0" y="2390353"/>
                    <a:pt x="0" y="2369350"/>
                  </a:cubicBezTo>
                  <a:lnTo>
                    <a:pt x="0" y="79191"/>
                  </a:lnTo>
                  <a:cubicBezTo>
                    <a:pt x="0" y="58188"/>
                    <a:pt x="8343" y="38046"/>
                    <a:pt x="23195" y="23195"/>
                  </a:cubicBezTo>
                  <a:cubicBezTo>
                    <a:pt x="38046" y="8343"/>
                    <a:pt x="58188" y="0"/>
                    <a:pt x="79191" y="0"/>
                  </a:cubicBezTo>
                  <a:close/>
                </a:path>
              </a:pathLst>
            </a:custGeom>
            <a:solidFill>
              <a:srgbClr val="EFFFFB"/>
            </a:solidFill>
            <a:ln w="123825" cap="rnd">
              <a:solidFill>
                <a:srgbClr val="106861"/>
              </a:solidFill>
              <a:prstDash val="solid"/>
              <a:round/>
            </a:ln>
          </p:spPr>
        </p:sp>
        <p:sp>
          <p:nvSpPr>
            <p:cNvPr name="TextBox 12" id="12"/>
            <p:cNvSpPr txBox="true"/>
            <p:nvPr/>
          </p:nvSpPr>
          <p:spPr>
            <a:xfrm>
              <a:off x="0" y="-38100"/>
              <a:ext cx="2041606" cy="2486641"/>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3" id="13"/>
          <p:cNvSpPr/>
          <p:nvPr/>
        </p:nvSpPr>
        <p:spPr>
          <a:xfrm flipH="false" flipV="false" rot="0">
            <a:off x="9561522" y="4347082"/>
            <a:ext cx="2146380" cy="1000429"/>
          </a:xfrm>
          <a:custGeom>
            <a:avLst/>
            <a:gdLst/>
            <a:ahLst/>
            <a:cxnLst/>
            <a:rect r="r" b="b" t="t" l="l"/>
            <a:pathLst>
              <a:path h="1000429" w="2146380">
                <a:moveTo>
                  <a:pt x="0" y="0"/>
                </a:moveTo>
                <a:lnTo>
                  <a:pt x="2146380" y="0"/>
                </a:lnTo>
                <a:lnTo>
                  <a:pt x="2146380" y="1000429"/>
                </a:lnTo>
                <a:lnTo>
                  <a:pt x="0" y="1000429"/>
                </a:lnTo>
                <a:lnTo>
                  <a:pt x="0" y="0"/>
                </a:lnTo>
                <a:close/>
              </a:path>
            </a:pathLst>
          </a:custGeom>
          <a:blipFill>
            <a:blip r:embed="rId2">
              <a:extLst>
                <a:ext uri="{96DAC541-7B7A-43D3-8B79-37D633B846F1}">
                  <asvg:svgBlip xmlns:asvg="http://schemas.microsoft.com/office/drawing/2016/SVG/main" r:embed="rId3"/>
                </a:ext>
              </a:extLst>
            </a:blip>
            <a:stretch>
              <a:fillRect l="0" t="-114545" r="0" b="0"/>
            </a:stretch>
          </a:blipFill>
          <a:ln cap="sq">
            <a:noFill/>
            <a:prstDash val="solid"/>
            <a:miter/>
          </a:ln>
        </p:spPr>
      </p:sp>
      <p:sp>
        <p:nvSpPr>
          <p:cNvPr name="Freeform 14" id="14"/>
          <p:cNvSpPr/>
          <p:nvPr/>
        </p:nvSpPr>
        <p:spPr>
          <a:xfrm flipH="false" flipV="false" rot="0">
            <a:off x="14592460" y="2868946"/>
            <a:ext cx="3695540" cy="7418054"/>
          </a:xfrm>
          <a:custGeom>
            <a:avLst/>
            <a:gdLst/>
            <a:ahLst/>
            <a:cxnLst/>
            <a:rect r="r" b="b" t="t" l="l"/>
            <a:pathLst>
              <a:path h="7418054" w="3695540">
                <a:moveTo>
                  <a:pt x="0" y="0"/>
                </a:moveTo>
                <a:lnTo>
                  <a:pt x="3695540" y="0"/>
                </a:lnTo>
                <a:lnTo>
                  <a:pt x="3695540" y="7418054"/>
                </a:lnTo>
                <a:lnTo>
                  <a:pt x="0" y="7418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15" id="15"/>
          <p:cNvGrpSpPr/>
          <p:nvPr/>
        </p:nvGrpSpPr>
        <p:grpSpPr>
          <a:xfrm rot="-10800000">
            <a:off x="12581910" y="4347082"/>
            <a:ext cx="3128394" cy="3751948"/>
            <a:chOff x="0" y="0"/>
            <a:chExt cx="2041606" cy="2448541"/>
          </a:xfrm>
        </p:grpSpPr>
        <p:sp>
          <p:nvSpPr>
            <p:cNvPr name="Freeform 16" id="16"/>
            <p:cNvSpPr/>
            <p:nvPr/>
          </p:nvSpPr>
          <p:spPr>
            <a:xfrm flipH="false" flipV="false" rot="0">
              <a:off x="0" y="0"/>
              <a:ext cx="2041606" cy="2448541"/>
            </a:xfrm>
            <a:custGeom>
              <a:avLst/>
              <a:gdLst/>
              <a:ahLst/>
              <a:cxnLst/>
              <a:rect r="r" b="b" t="t" l="l"/>
              <a:pathLst>
                <a:path h="2448541" w="2041606">
                  <a:moveTo>
                    <a:pt x="79191" y="0"/>
                  </a:moveTo>
                  <a:lnTo>
                    <a:pt x="1962415" y="0"/>
                  </a:lnTo>
                  <a:cubicBezTo>
                    <a:pt x="2006151" y="0"/>
                    <a:pt x="2041606" y="35455"/>
                    <a:pt x="2041606" y="79191"/>
                  </a:cubicBezTo>
                  <a:lnTo>
                    <a:pt x="2041606" y="2369350"/>
                  </a:lnTo>
                  <a:cubicBezTo>
                    <a:pt x="2041606" y="2390353"/>
                    <a:pt x="2033263" y="2410495"/>
                    <a:pt x="2018411" y="2425347"/>
                  </a:cubicBezTo>
                  <a:cubicBezTo>
                    <a:pt x="2003560" y="2440198"/>
                    <a:pt x="1983418" y="2448541"/>
                    <a:pt x="1962415" y="2448541"/>
                  </a:cubicBezTo>
                  <a:lnTo>
                    <a:pt x="79191" y="2448541"/>
                  </a:lnTo>
                  <a:cubicBezTo>
                    <a:pt x="58188" y="2448541"/>
                    <a:pt x="38046" y="2440198"/>
                    <a:pt x="23195" y="2425347"/>
                  </a:cubicBezTo>
                  <a:cubicBezTo>
                    <a:pt x="8343" y="2410495"/>
                    <a:pt x="0" y="2390353"/>
                    <a:pt x="0" y="2369350"/>
                  </a:cubicBezTo>
                  <a:lnTo>
                    <a:pt x="0" y="79191"/>
                  </a:lnTo>
                  <a:cubicBezTo>
                    <a:pt x="0" y="58188"/>
                    <a:pt x="8343" y="38046"/>
                    <a:pt x="23195" y="23195"/>
                  </a:cubicBezTo>
                  <a:cubicBezTo>
                    <a:pt x="38046" y="8343"/>
                    <a:pt x="58188" y="0"/>
                    <a:pt x="79191" y="0"/>
                  </a:cubicBezTo>
                  <a:close/>
                </a:path>
              </a:pathLst>
            </a:custGeom>
            <a:solidFill>
              <a:srgbClr val="EFFFFB"/>
            </a:solidFill>
            <a:ln w="123825" cap="rnd">
              <a:solidFill>
                <a:srgbClr val="106861"/>
              </a:solidFill>
              <a:prstDash val="solid"/>
              <a:round/>
            </a:ln>
          </p:spPr>
        </p:sp>
        <p:sp>
          <p:nvSpPr>
            <p:cNvPr name="TextBox 17" id="17"/>
            <p:cNvSpPr txBox="true"/>
            <p:nvPr/>
          </p:nvSpPr>
          <p:spPr>
            <a:xfrm>
              <a:off x="0" y="-38100"/>
              <a:ext cx="2041606" cy="2486641"/>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18" id="18"/>
          <p:cNvSpPr/>
          <p:nvPr/>
        </p:nvSpPr>
        <p:spPr>
          <a:xfrm flipH="false" flipV="false" rot="0">
            <a:off x="13072917" y="4347082"/>
            <a:ext cx="2146380" cy="1000429"/>
          </a:xfrm>
          <a:custGeom>
            <a:avLst/>
            <a:gdLst/>
            <a:ahLst/>
            <a:cxnLst/>
            <a:rect r="r" b="b" t="t" l="l"/>
            <a:pathLst>
              <a:path h="1000429" w="2146380">
                <a:moveTo>
                  <a:pt x="0" y="0"/>
                </a:moveTo>
                <a:lnTo>
                  <a:pt x="2146380" y="0"/>
                </a:lnTo>
                <a:lnTo>
                  <a:pt x="2146380" y="1000429"/>
                </a:lnTo>
                <a:lnTo>
                  <a:pt x="0" y="1000429"/>
                </a:lnTo>
                <a:lnTo>
                  <a:pt x="0" y="0"/>
                </a:lnTo>
                <a:close/>
              </a:path>
            </a:pathLst>
          </a:custGeom>
          <a:blipFill>
            <a:blip r:embed="rId2">
              <a:extLst>
                <a:ext uri="{96DAC541-7B7A-43D3-8B79-37D633B846F1}">
                  <asvg:svgBlip xmlns:asvg="http://schemas.microsoft.com/office/drawing/2016/SVG/main" r:embed="rId3"/>
                </a:ext>
              </a:extLst>
            </a:blip>
            <a:stretch>
              <a:fillRect l="0" t="-114545" r="0" b="0"/>
            </a:stretch>
          </a:blipFill>
          <a:ln cap="sq">
            <a:noFill/>
            <a:prstDash val="solid"/>
            <a:miter/>
          </a:ln>
        </p:spPr>
      </p:sp>
      <p:sp>
        <p:nvSpPr>
          <p:cNvPr name="TextBox 19" id="19"/>
          <p:cNvSpPr txBox="true"/>
          <p:nvPr/>
        </p:nvSpPr>
        <p:spPr>
          <a:xfrm rot="0">
            <a:off x="2198395" y="5970572"/>
            <a:ext cx="2786282" cy="954404"/>
          </a:xfrm>
          <a:prstGeom prst="rect">
            <a:avLst/>
          </a:prstGeom>
        </p:spPr>
        <p:txBody>
          <a:bodyPr anchor="t" rtlCol="false" tIns="0" lIns="0" bIns="0" rIns="0">
            <a:spAutoFit/>
          </a:bodyPr>
          <a:lstStyle/>
          <a:p>
            <a:pPr algn="ctr">
              <a:lnSpc>
                <a:spcPts val="2550"/>
              </a:lnSpc>
            </a:pPr>
            <a:r>
              <a:rPr lang="en-US" sz="1700">
                <a:solidFill>
                  <a:srgbClr val="343432"/>
                </a:solidFill>
                <a:latin typeface="Open Sauce"/>
                <a:ea typeface="Open Sauce"/>
                <a:cs typeface="Open Sauce"/>
                <a:sym typeface="Open Sauce"/>
              </a:rPr>
              <a:t>Manque de compétences en bases de données</a:t>
            </a:r>
          </a:p>
          <a:p>
            <a:pPr algn="ctr" marL="0" indent="0" lvl="0">
              <a:lnSpc>
                <a:spcPts val="2550"/>
              </a:lnSpc>
            </a:pPr>
          </a:p>
        </p:txBody>
      </p:sp>
      <p:sp>
        <p:nvSpPr>
          <p:cNvPr name="TextBox 20" id="20"/>
          <p:cNvSpPr txBox="true"/>
          <p:nvPr/>
        </p:nvSpPr>
        <p:spPr>
          <a:xfrm rot="0">
            <a:off x="3122795" y="4419191"/>
            <a:ext cx="937482" cy="595909"/>
          </a:xfrm>
          <a:prstGeom prst="rect">
            <a:avLst/>
          </a:prstGeom>
        </p:spPr>
        <p:txBody>
          <a:bodyPr anchor="t" rtlCol="false" tIns="0" lIns="0" bIns="0" rIns="0">
            <a:spAutoFit/>
          </a:bodyPr>
          <a:lstStyle/>
          <a:p>
            <a:pPr algn="ctr" marL="0" indent="0" lvl="0">
              <a:lnSpc>
                <a:spcPts val="4895"/>
              </a:lnSpc>
              <a:spcBef>
                <a:spcPct val="0"/>
              </a:spcBef>
            </a:pPr>
            <a:r>
              <a:rPr lang="en-US" b="true" sz="3824">
                <a:solidFill>
                  <a:srgbClr val="F8F8F8"/>
                </a:solidFill>
                <a:latin typeface="Open Sauce Bold"/>
                <a:ea typeface="Open Sauce Bold"/>
                <a:cs typeface="Open Sauce Bold"/>
                <a:sym typeface="Open Sauce Bold"/>
              </a:rPr>
              <a:t>01</a:t>
            </a:r>
          </a:p>
        </p:txBody>
      </p:sp>
      <p:sp>
        <p:nvSpPr>
          <p:cNvPr name="TextBox 21" id="21"/>
          <p:cNvSpPr txBox="true"/>
          <p:nvPr/>
        </p:nvSpPr>
        <p:spPr>
          <a:xfrm rot="0">
            <a:off x="6634189" y="4419191"/>
            <a:ext cx="937482" cy="595909"/>
          </a:xfrm>
          <a:prstGeom prst="rect">
            <a:avLst/>
          </a:prstGeom>
        </p:spPr>
        <p:txBody>
          <a:bodyPr anchor="t" rtlCol="false" tIns="0" lIns="0" bIns="0" rIns="0">
            <a:spAutoFit/>
          </a:bodyPr>
          <a:lstStyle/>
          <a:p>
            <a:pPr algn="ctr" marL="0" indent="0" lvl="0">
              <a:lnSpc>
                <a:spcPts val="4895"/>
              </a:lnSpc>
              <a:spcBef>
                <a:spcPct val="0"/>
              </a:spcBef>
            </a:pPr>
            <a:r>
              <a:rPr lang="en-US" b="true" sz="3824">
                <a:solidFill>
                  <a:srgbClr val="F8F8F8"/>
                </a:solidFill>
                <a:latin typeface="Open Sauce Bold"/>
                <a:ea typeface="Open Sauce Bold"/>
                <a:cs typeface="Open Sauce Bold"/>
                <a:sym typeface="Open Sauce Bold"/>
              </a:rPr>
              <a:t>02</a:t>
            </a:r>
          </a:p>
        </p:txBody>
      </p:sp>
      <p:sp>
        <p:nvSpPr>
          <p:cNvPr name="TextBox 22" id="22"/>
          <p:cNvSpPr txBox="true"/>
          <p:nvPr/>
        </p:nvSpPr>
        <p:spPr>
          <a:xfrm rot="0">
            <a:off x="10143583" y="4419191"/>
            <a:ext cx="937482" cy="595909"/>
          </a:xfrm>
          <a:prstGeom prst="rect">
            <a:avLst/>
          </a:prstGeom>
        </p:spPr>
        <p:txBody>
          <a:bodyPr anchor="t" rtlCol="false" tIns="0" lIns="0" bIns="0" rIns="0">
            <a:spAutoFit/>
          </a:bodyPr>
          <a:lstStyle/>
          <a:p>
            <a:pPr algn="ctr" marL="0" indent="0" lvl="0">
              <a:lnSpc>
                <a:spcPts val="4895"/>
              </a:lnSpc>
              <a:spcBef>
                <a:spcPct val="0"/>
              </a:spcBef>
            </a:pPr>
            <a:r>
              <a:rPr lang="en-US" b="true" sz="3824">
                <a:solidFill>
                  <a:srgbClr val="F8F8F8"/>
                </a:solidFill>
                <a:latin typeface="Open Sauce Bold"/>
                <a:ea typeface="Open Sauce Bold"/>
                <a:cs typeface="Open Sauce Bold"/>
                <a:sym typeface="Open Sauce Bold"/>
              </a:rPr>
              <a:t>03</a:t>
            </a:r>
          </a:p>
        </p:txBody>
      </p:sp>
      <p:sp>
        <p:nvSpPr>
          <p:cNvPr name="TextBox 23" id="23"/>
          <p:cNvSpPr txBox="true"/>
          <p:nvPr/>
        </p:nvSpPr>
        <p:spPr>
          <a:xfrm rot="0">
            <a:off x="13654978" y="4419191"/>
            <a:ext cx="937482" cy="595909"/>
          </a:xfrm>
          <a:prstGeom prst="rect">
            <a:avLst/>
          </a:prstGeom>
        </p:spPr>
        <p:txBody>
          <a:bodyPr anchor="t" rtlCol="false" tIns="0" lIns="0" bIns="0" rIns="0">
            <a:spAutoFit/>
          </a:bodyPr>
          <a:lstStyle/>
          <a:p>
            <a:pPr algn="ctr" marL="0" indent="0" lvl="0">
              <a:lnSpc>
                <a:spcPts val="4895"/>
              </a:lnSpc>
              <a:spcBef>
                <a:spcPct val="0"/>
              </a:spcBef>
            </a:pPr>
            <a:r>
              <a:rPr lang="en-US" b="true" sz="3824">
                <a:solidFill>
                  <a:srgbClr val="F8F8F8"/>
                </a:solidFill>
                <a:latin typeface="Open Sauce Bold"/>
                <a:ea typeface="Open Sauce Bold"/>
                <a:cs typeface="Open Sauce Bold"/>
                <a:sym typeface="Open Sauce Bold"/>
              </a:rPr>
              <a:t>04</a:t>
            </a:r>
          </a:p>
        </p:txBody>
      </p:sp>
      <p:sp>
        <p:nvSpPr>
          <p:cNvPr name="Freeform 24" id="24"/>
          <p:cNvSpPr/>
          <p:nvPr/>
        </p:nvSpPr>
        <p:spPr>
          <a:xfrm flipH="false" flipV="false" rot="-10800000">
            <a:off x="-465877" y="-4635036"/>
            <a:ext cx="3695540" cy="7418054"/>
          </a:xfrm>
          <a:custGeom>
            <a:avLst/>
            <a:gdLst/>
            <a:ahLst/>
            <a:cxnLst/>
            <a:rect r="r" b="b" t="t" l="l"/>
            <a:pathLst>
              <a:path h="7418054" w="3695540">
                <a:moveTo>
                  <a:pt x="0" y="0"/>
                </a:moveTo>
                <a:lnTo>
                  <a:pt x="3695540" y="0"/>
                </a:lnTo>
                <a:lnTo>
                  <a:pt x="3695540" y="7418054"/>
                </a:lnTo>
                <a:lnTo>
                  <a:pt x="0" y="7418054"/>
                </a:lnTo>
                <a:lnTo>
                  <a:pt x="0" y="0"/>
                </a:lnTo>
                <a:close/>
              </a:path>
            </a:pathLst>
          </a:custGeom>
          <a:blipFill>
            <a:blip r:embed="rId4">
              <a:alphaModFix amt="90000"/>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25" id="25"/>
          <p:cNvSpPr txBox="true"/>
          <p:nvPr/>
        </p:nvSpPr>
        <p:spPr>
          <a:xfrm rot="0">
            <a:off x="1028700" y="1095375"/>
            <a:ext cx="6376435" cy="571119"/>
          </a:xfrm>
          <a:prstGeom prst="rect">
            <a:avLst/>
          </a:prstGeom>
        </p:spPr>
        <p:txBody>
          <a:bodyPr anchor="t" rtlCol="false" tIns="0" lIns="0" bIns="0" rIns="0">
            <a:spAutoFit/>
          </a:bodyPr>
          <a:lstStyle/>
          <a:p>
            <a:pPr algn="l">
              <a:lnSpc>
                <a:spcPts val="4368"/>
              </a:lnSpc>
            </a:pPr>
            <a:r>
              <a:rPr lang="en-US" sz="4200" u="sng">
                <a:solidFill>
                  <a:srgbClr val="000000"/>
                </a:solidFill>
                <a:latin typeface="Chau Philomene"/>
                <a:ea typeface="Chau Philomene"/>
                <a:cs typeface="Chau Philomene"/>
                <a:sym typeface="Chau Philomene"/>
              </a:rPr>
              <a:t>DIFFICULTÉS RENCONTRÉES :</a:t>
            </a:r>
          </a:p>
        </p:txBody>
      </p:sp>
      <p:sp>
        <p:nvSpPr>
          <p:cNvPr name="TextBox 26" id="26"/>
          <p:cNvSpPr txBox="true"/>
          <p:nvPr/>
        </p:nvSpPr>
        <p:spPr>
          <a:xfrm rot="0">
            <a:off x="5723537" y="5953191"/>
            <a:ext cx="2803563" cy="711200"/>
          </a:xfrm>
          <a:prstGeom prst="rect">
            <a:avLst/>
          </a:prstGeom>
        </p:spPr>
        <p:txBody>
          <a:bodyPr anchor="t" rtlCol="false" tIns="0" lIns="0" bIns="0" rIns="0">
            <a:spAutoFit/>
          </a:bodyPr>
          <a:lstStyle/>
          <a:p>
            <a:pPr algn="ctr">
              <a:lnSpc>
                <a:spcPts val="2800"/>
              </a:lnSpc>
            </a:pPr>
            <a:r>
              <a:rPr lang="en-US" sz="2000" spc="62">
                <a:solidFill>
                  <a:srgbClr val="000000"/>
                </a:solidFill>
                <a:latin typeface="Aleo"/>
                <a:ea typeface="Aleo"/>
                <a:cs typeface="Aleo"/>
                <a:sym typeface="Aleo"/>
              </a:rPr>
              <a:t>Gestion de la mémoire dynamique</a:t>
            </a:r>
          </a:p>
        </p:txBody>
      </p:sp>
      <p:sp>
        <p:nvSpPr>
          <p:cNvPr name="TextBox 27" id="27"/>
          <p:cNvSpPr txBox="true"/>
          <p:nvPr/>
        </p:nvSpPr>
        <p:spPr>
          <a:xfrm rot="0">
            <a:off x="9227077" y="6087412"/>
            <a:ext cx="2770494" cy="711200"/>
          </a:xfrm>
          <a:prstGeom prst="rect">
            <a:avLst/>
          </a:prstGeom>
        </p:spPr>
        <p:txBody>
          <a:bodyPr anchor="t" rtlCol="false" tIns="0" lIns="0" bIns="0" rIns="0">
            <a:spAutoFit/>
          </a:bodyPr>
          <a:lstStyle/>
          <a:p>
            <a:pPr algn="ctr">
              <a:lnSpc>
                <a:spcPts val="2800"/>
              </a:lnSpc>
              <a:spcBef>
                <a:spcPct val="0"/>
              </a:spcBef>
            </a:pPr>
            <a:r>
              <a:rPr lang="en-US" sz="2000" spc="62">
                <a:solidFill>
                  <a:srgbClr val="000000"/>
                </a:solidFill>
                <a:latin typeface="Aleo"/>
                <a:ea typeface="Aleo"/>
                <a:cs typeface="Aleo"/>
                <a:sym typeface="Aleo"/>
              </a:rPr>
              <a:t>Manque d'interface graphique</a:t>
            </a:r>
          </a:p>
        </p:txBody>
      </p:sp>
      <p:sp>
        <p:nvSpPr>
          <p:cNvPr name="TextBox 28" id="28"/>
          <p:cNvSpPr txBox="true"/>
          <p:nvPr/>
        </p:nvSpPr>
        <p:spPr>
          <a:xfrm rot="0">
            <a:off x="12790342" y="6087412"/>
            <a:ext cx="2711531" cy="711200"/>
          </a:xfrm>
          <a:prstGeom prst="rect">
            <a:avLst/>
          </a:prstGeom>
        </p:spPr>
        <p:txBody>
          <a:bodyPr anchor="t" rtlCol="false" tIns="0" lIns="0" bIns="0" rIns="0">
            <a:spAutoFit/>
          </a:bodyPr>
          <a:lstStyle/>
          <a:p>
            <a:pPr algn="ctr">
              <a:lnSpc>
                <a:spcPts val="2800"/>
              </a:lnSpc>
            </a:pPr>
            <a:r>
              <a:rPr lang="en-US" sz="2000" spc="62">
                <a:solidFill>
                  <a:srgbClr val="000000"/>
                </a:solidFill>
                <a:latin typeface="Aleo"/>
                <a:ea typeface="Aleo"/>
                <a:cs typeface="Aleo"/>
                <a:sym typeface="Aleo"/>
              </a:rPr>
              <a:t>Gestion des structures complexes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grpSp>
        <p:nvGrpSpPr>
          <p:cNvPr name="Group 2" id="2"/>
          <p:cNvGrpSpPr/>
          <p:nvPr/>
        </p:nvGrpSpPr>
        <p:grpSpPr>
          <a:xfrm rot="0">
            <a:off x="-314276" y="-220897"/>
            <a:ext cx="18602276" cy="6407822"/>
            <a:chOff x="0" y="0"/>
            <a:chExt cx="4899365" cy="1687657"/>
          </a:xfrm>
        </p:grpSpPr>
        <p:sp>
          <p:nvSpPr>
            <p:cNvPr name="Freeform 3" id="3"/>
            <p:cNvSpPr/>
            <p:nvPr/>
          </p:nvSpPr>
          <p:spPr>
            <a:xfrm flipH="false" flipV="false" rot="0">
              <a:off x="0" y="0"/>
              <a:ext cx="4899365" cy="1687657"/>
            </a:xfrm>
            <a:custGeom>
              <a:avLst/>
              <a:gdLst/>
              <a:ahLst/>
              <a:cxnLst/>
              <a:rect r="r" b="b" t="t" l="l"/>
              <a:pathLst>
                <a:path h="1687657" w="4899365">
                  <a:moveTo>
                    <a:pt x="0" y="0"/>
                  </a:moveTo>
                  <a:lnTo>
                    <a:pt x="4899365" y="0"/>
                  </a:lnTo>
                  <a:lnTo>
                    <a:pt x="4899365" y="1687657"/>
                  </a:lnTo>
                  <a:lnTo>
                    <a:pt x="0" y="1687657"/>
                  </a:lnTo>
                  <a:close/>
                </a:path>
              </a:pathLst>
            </a:custGeom>
            <a:solidFill>
              <a:srgbClr val="106861"/>
            </a:solidFill>
            <a:ln cap="sq">
              <a:noFill/>
              <a:prstDash val="solid"/>
              <a:miter/>
            </a:ln>
          </p:spPr>
        </p:sp>
        <p:sp>
          <p:nvSpPr>
            <p:cNvPr name="TextBox 4" id="4"/>
            <p:cNvSpPr txBox="true"/>
            <p:nvPr/>
          </p:nvSpPr>
          <p:spPr>
            <a:xfrm>
              <a:off x="0" y="-38100"/>
              <a:ext cx="4899365" cy="1725757"/>
            </a:xfrm>
            <a:prstGeom prst="rect">
              <a:avLst/>
            </a:prstGeom>
          </p:spPr>
          <p:txBody>
            <a:bodyPr anchor="ctr" rtlCol="false" tIns="50800" lIns="50800" bIns="50800" rIns="50800"/>
            <a:lstStyle/>
            <a:p>
              <a:pPr algn="ctr" marL="0" indent="0" lvl="0">
                <a:lnSpc>
                  <a:spcPts val="3035"/>
                </a:lnSpc>
                <a:spcBef>
                  <a:spcPct val="0"/>
                </a:spcBef>
              </a:pPr>
            </a:p>
          </p:txBody>
        </p:sp>
      </p:grpSp>
      <p:grpSp>
        <p:nvGrpSpPr>
          <p:cNvPr name="Group 5" id="5"/>
          <p:cNvGrpSpPr/>
          <p:nvPr/>
        </p:nvGrpSpPr>
        <p:grpSpPr>
          <a:xfrm rot="0">
            <a:off x="-2667279" y="3636569"/>
            <a:ext cx="5578401" cy="557840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FDFBFB">
                  <a:alpha val="29804"/>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8" id="8"/>
          <p:cNvSpPr/>
          <p:nvPr/>
        </p:nvSpPr>
        <p:spPr>
          <a:xfrm flipH="false" flipV="false" rot="0">
            <a:off x="1092117" y="8340730"/>
            <a:ext cx="3638011" cy="458785"/>
          </a:xfrm>
          <a:custGeom>
            <a:avLst/>
            <a:gdLst/>
            <a:ahLst/>
            <a:cxnLst/>
            <a:rect r="r" b="b" t="t" l="l"/>
            <a:pathLst>
              <a:path h="458785" w="3638011">
                <a:moveTo>
                  <a:pt x="0" y="0"/>
                </a:moveTo>
                <a:lnTo>
                  <a:pt x="3638011" y="0"/>
                </a:lnTo>
                <a:lnTo>
                  <a:pt x="3638011" y="458785"/>
                </a:lnTo>
                <a:lnTo>
                  <a:pt x="0" y="458785"/>
                </a:lnTo>
                <a:lnTo>
                  <a:pt x="0" y="0"/>
                </a:lnTo>
                <a:close/>
              </a:path>
            </a:pathLst>
          </a:custGeom>
          <a:blipFill>
            <a:blip r:embed="rId2">
              <a:alphaModFix amt="67000"/>
            </a:blip>
            <a:stretch>
              <a:fillRect l="0" t="-56610" r="0" b="0"/>
            </a:stretch>
          </a:blipFill>
        </p:spPr>
      </p:sp>
      <p:sp>
        <p:nvSpPr>
          <p:cNvPr name="Freeform 9" id="9"/>
          <p:cNvSpPr/>
          <p:nvPr/>
        </p:nvSpPr>
        <p:spPr>
          <a:xfrm flipH="false" flipV="false" rot="0">
            <a:off x="5208760" y="8228856"/>
            <a:ext cx="3638011" cy="458785"/>
          </a:xfrm>
          <a:custGeom>
            <a:avLst/>
            <a:gdLst/>
            <a:ahLst/>
            <a:cxnLst/>
            <a:rect r="r" b="b" t="t" l="l"/>
            <a:pathLst>
              <a:path h="458785" w="3638011">
                <a:moveTo>
                  <a:pt x="0" y="0"/>
                </a:moveTo>
                <a:lnTo>
                  <a:pt x="3638010" y="0"/>
                </a:lnTo>
                <a:lnTo>
                  <a:pt x="3638010" y="458785"/>
                </a:lnTo>
                <a:lnTo>
                  <a:pt x="0" y="458785"/>
                </a:lnTo>
                <a:lnTo>
                  <a:pt x="0" y="0"/>
                </a:lnTo>
                <a:close/>
              </a:path>
            </a:pathLst>
          </a:custGeom>
          <a:blipFill>
            <a:blip r:embed="rId2">
              <a:alphaModFix amt="67000"/>
            </a:blip>
            <a:stretch>
              <a:fillRect l="0" t="-56610" r="0" b="0"/>
            </a:stretch>
          </a:blipFill>
        </p:spPr>
      </p:sp>
      <p:sp>
        <p:nvSpPr>
          <p:cNvPr name="Freeform 10" id="10"/>
          <p:cNvSpPr/>
          <p:nvPr/>
        </p:nvSpPr>
        <p:spPr>
          <a:xfrm flipH="false" flipV="false" rot="0">
            <a:off x="9409764" y="8111338"/>
            <a:ext cx="3638011" cy="458785"/>
          </a:xfrm>
          <a:custGeom>
            <a:avLst/>
            <a:gdLst/>
            <a:ahLst/>
            <a:cxnLst/>
            <a:rect r="r" b="b" t="t" l="l"/>
            <a:pathLst>
              <a:path h="458785" w="3638011">
                <a:moveTo>
                  <a:pt x="0" y="0"/>
                </a:moveTo>
                <a:lnTo>
                  <a:pt x="3638011" y="0"/>
                </a:lnTo>
                <a:lnTo>
                  <a:pt x="3638011" y="458785"/>
                </a:lnTo>
                <a:lnTo>
                  <a:pt x="0" y="458785"/>
                </a:lnTo>
                <a:lnTo>
                  <a:pt x="0" y="0"/>
                </a:lnTo>
                <a:close/>
              </a:path>
            </a:pathLst>
          </a:custGeom>
          <a:blipFill>
            <a:blip r:embed="rId2">
              <a:alphaModFix amt="67000"/>
            </a:blip>
            <a:stretch>
              <a:fillRect l="0" t="-56610" r="0" b="0"/>
            </a:stretch>
          </a:blipFill>
        </p:spPr>
      </p:sp>
      <p:sp>
        <p:nvSpPr>
          <p:cNvPr name="Freeform 11" id="11"/>
          <p:cNvSpPr/>
          <p:nvPr/>
        </p:nvSpPr>
        <p:spPr>
          <a:xfrm flipH="false" flipV="false" rot="0">
            <a:off x="13609750" y="8111338"/>
            <a:ext cx="3638011" cy="458785"/>
          </a:xfrm>
          <a:custGeom>
            <a:avLst/>
            <a:gdLst/>
            <a:ahLst/>
            <a:cxnLst/>
            <a:rect r="r" b="b" t="t" l="l"/>
            <a:pathLst>
              <a:path h="458785" w="3638011">
                <a:moveTo>
                  <a:pt x="0" y="0"/>
                </a:moveTo>
                <a:lnTo>
                  <a:pt x="3638010" y="0"/>
                </a:lnTo>
                <a:lnTo>
                  <a:pt x="3638010" y="458785"/>
                </a:lnTo>
                <a:lnTo>
                  <a:pt x="0" y="458785"/>
                </a:lnTo>
                <a:lnTo>
                  <a:pt x="0" y="0"/>
                </a:lnTo>
                <a:close/>
              </a:path>
            </a:pathLst>
          </a:custGeom>
          <a:blipFill>
            <a:blip r:embed="rId2">
              <a:alphaModFix amt="67000"/>
            </a:blip>
            <a:stretch>
              <a:fillRect l="0" t="-56610" r="0" b="0"/>
            </a:stretch>
          </a:blipFill>
        </p:spPr>
      </p:sp>
      <p:grpSp>
        <p:nvGrpSpPr>
          <p:cNvPr name="Group 12" id="12"/>
          <p:cNvGrpSpPr/>
          <p:nvPr/>
        </p:nvGrpSpPr>
        <p:grpSpPr>
          <a:xfrm rot="0">
            <a:off x="1262548" y="4383839"/>
            <a:ext cx="3297148" cy="4083862"/>
            <a:chOff x="0" y="0"/>
            <a:chExt cx="1281265" cy="1586980"/>
          </a:xfrm>
        </p:grpSpPr>
        <p:sp>
          <p:nvSpPr>
            <p:cNvPr name="Freeform 13" id="13"/>
            <p:cNvSpPr/>
            <p:nvPr/>
          </p:nvSpPr>
          <p:spPr>
            <a:xfrm flipH="false" flipV="false" rot="0">
              <a:off x="0" y="0"/>
              <a:ext cx="1281265" cy="1586980"/>
            </a:xfrm>
            <a:custGeom>
              <a:avLst/>
              <a:gdLst/>
              <a:ahLst/>
              <a:cxnLst/>
              <a:rect r="r" b="b" t="t" l="l"/>
              <a:pathLst>
                <a:path h="1586980" w="1281265">
                  <a:moveTo>
                    <a:pt x="72790" y="0"/>
                  </a:moveTo>
                  <a:lnTo>
                    <a:pt x="1208475" y="0"/>
                  </a:lnTo>
                  <a:cubicBezTo>
                    <a:pt x="1227780" y="0"/>
                    <a:pt x="1246294" y="7669"/>
                    <a:pt x="1259945" y="21320"/>
                  </a:cubicBezTo>
                  <a:cubicBezTo>
                    <a:pt x="1273596" y="34970"/>
                    <a:pt x="1281265" y="53485"/>
                    <a:pt x="1281265" y="72790"/>
                  </a:cubicBezTo>
                  <a:lnTo>
                    <a:pt x="1281265" y="1514190"/>
                  </a:lnTo>
                  <a:cubicBezTo>
                    <a:pt x="1281265" y="1533495"/>
                    <a:pt x="1273596" y="1552010"/>
                    <a:pt x="1259945" y="1565660"/>
                  </a:cubicBezTo>
                  <a:cubicBezTo>
                    <a:pt x="1246294" y="1579311"/>
                    <a:pt x="1227780" y="1586980"/>
                    <a:pt x="1208475" y="1586980"/>
                  </a:cubicBezTo>
                  <a:lnTo>
                    <a:pt x="72790" y="1586980"/>
                  </a:lnTo>
                  <a:cubicBezTo>
                    <a:pt x="53485" y="1586980"/>
                    <a:pt x="34970" y="1579311"/>
                    <a:pt x="21320" y="1565660"/>
                  </a:cubicBezTo>
                  <a:cubicBezTo>
                    <a:pt x="7669" y="1552010"/>
                    <a:pt x="0" y="1533495"/>
                    <a:pt x="0" y="1514190"/>
                  </a:cubicBezTo>
                  <a:lnTo>
                    <a:pt x="0" y="72790"/>
                  </a:lnTo>
                  <a:cubicBezTo>
                    <a:pt x="0" y="53485"/>
                    <a:pt x="7669" y="34970"/>
                    <a:pt x="21320" y="21320"/>
                  </a:cubicBezTo>
                  <a:cubicBezTo>
                    <a:pt x="34970" y="7669"/>
                    <a:pt x="53485" y="0"/>
                    <a:pt x="72790" y="0"/>
                  </a:cubicBezTo>
                  <a:close/>
                </a:path>
              </a:pathLst>
            </a:custGeom>
            <a:solidFill>
              <a:srgbClr val="EFFFFB"/>
            </a:solidFill>
            <a:ln w="47625" cap="rnd">
              <a:solidFill>
                <a:srgbClr val="106861"/>
              </a:solidFill>
              <a:prstDash val="solid"/>
              <a:round/>
            </a:ln>
          </p:spPr>
        </p:sp>
        <p:sp>
          <p:nvSpPr>
            <p:cNvPr name="TextBox 14" id="14"/>
            <p:cNvSpPr txBox="true"/>
            <p:nvPr/>
          </p:nvSpPr>
          <p:spPr>
            <a:xfrm>
              <a:off x="0" y="-38100"/>
              <a:ext cx="1281265" cy="162508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TextBox 15" id="15"/>
          <p:cNvSpPr txBox="true"/>
          <p:nvPr/>
        </p:nvSpPr>
        <p:spPr>
          <a:xfrm rot="0">
            <a:off x="1028700" y="1487666"/>
            <a:ext cx="10612014" cy="1048750"/>
          </a:xfrm>
          <a:prstGeom prst="rect">
            <a:avLst/>
          </a:prstGeom>
        </p:spPr>
        <p:txBody>
          <a:bodyPr anchor="t" rtlCol="false" tIns="0" lIns="0" bIns="0" rIns="0">
            <a:spAutoFit/>
          </a:bodyPr>
          <a:lstStyle/>
          <a:p>
            <a:pPr algn="l">
              <a:lnSpc>
                <a:spcPts val="8564"/>
              </a:lnSpc>
              <a:spcBef>
                <a:spcPct val="0"/>
              </a:spcBef>
            </a:pPr>
            <a:r>
              <a:rPr lang="en-US" sz="6206" u="sng">
                <a:solidFill>
                  <a:srgbClr val="FFFFFF"/>
                </a:solidFill>
                <a:latin typeface="Chau Philomene"/>
                <a:ea typeface="Chau Philomene"/>
                <a:cs typeface="Chau Philomene"/>
                <a:sym typeface="Chau Philomene"/>
              </a:rPr>
              <a:t>PERSPECTIVES</a:t>
            </a:r>
          </a:p>
        </p:txBody>
      </p:sp>
      <p:grpSp>
        <p:nvGrpSpPr>
          <p:cNvPr name="Group 16" id="16"/>
          <p:cNvGrpSpPr/>
          <p:nvPr/>
        </p:nvGrpSpPr>
        <p:grpSpPr>
          <a:xfrm rot="0">
            <a:off x="14917787" y="-3041985"/>
            <a:ext cx="5578401" cy="5578401"/>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FDFBFB">
                  <a:alpha val="29804"/>
                </a:srgbClr>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TextBox 19" id="19"/>
          <p:cNvSpPr txBox="true"/>
          <p:nvPr/>
        </p:nvSpPr>
        <p:spPr>
          <a:xfrm rot="0">
            <a:off x="1169172" y="5821800"/>
            <a:ext cx="3483900" cy="6921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Montserrat Bold"/>
                <a:ea typeface="Montserrat Bold"/>
                <a:cs typeface="Montserrat Bold"/>
                <a:sym typeface="Montserrat Bold"/>
              </a:rPr>
              <a:t>Amélioration de l'interface utilisateur :</a:t>
            </a:r>
          </a:p>
        </p:txBody>
      </p:sp>
      <p:grpSp>
        <p:nvGrpSpPr>
          <p:cNvPr name="Group 20" id="20"/>
          <p:cNvGrpSpPr/>
          <p:nvPr/>
        </p:nvGrpSpPr>
        <p:grpSpPr>
          <a:xfrm rot="0">
            <a:off x="5387698" y="4256868"/>
            <a:ext cx="3297148" cy="4083862"/>
            <a:chOff x="0" y="0"/>
            <a:chExt cx="1281265" cy="1586980"/>
          </a:xfrm>
        </p:grpSpPr>
        <p:sp>
          <p:nvSpPr>
            <p:cNvPr name="Freeform 21" id="21"/>
            <p:cNvSpPr/>
            <p:nvPr/>
          </p:nvSpPr>
          <p:spPr>
            <a:xfrm flipH="false" flipV="false" rot="0">
              <a:off x="0" y="0"/>
              <a:ext cx="1281265" cy="1586980"/>
            </a:xfrm>
            <a:custGeom>
              <a:avLst/>
              <a:gdLst/>
              <a:ahLst/>
              <a:cxnLst/>
              <a:rect r="r" b="b" t="t" l="l"/>
              <a:pathLst>
                <a:path h="1586980" w="1281265">
                  <a:moveTo>
                    <a:pt x="72790" y="0"/>
                  </a:moveTo>
                  <a:lnTo>
                    <a:pt x="1208475" y="0"/>
                  </a:lnTo>
                  <a:cubicBezTo>
                    <a:pt x="1227780" y="0"/>
                    <a:pt x="1246294" y="7669"/>
                    <a:pt x="1259945" y="21320"/>
                  </a:cubicBezTo>
                  <a:cubicBezTo>
                    <a:pt x="1273596" y="34970"/>
                    <a:pt x="1281265" y="53485"/>
                    <a:pt x="1281265" y="72790"/>
                  </a:cubicBezTo>
                  <a:lnTo>
                    <a:pt x="1281265" y="1514190"/>
                  </a:lnTo>
                  <a:cubicBezTo>
                    <a:pt x="1281265" y="1533495"/>
                    <a:pt x="1273596" y="1552010"/>
                    <a:pt x="1259945" y="1565660"/>
                  </a:cubicBezTo>
                  <a:cubicBezTo>
                    <a:pt x="1246294" y="1579311"/>
                    <a:pt x="1227780" y="1586980"/>
                    <a:pt x="1208475" y="1586980"/>
                  </a:cubicBezTo>
                  <a:lnTo>
                    <a:pt x="72790" y="1586980"/>
                  </a:lnTo>
                  <a:cubicBezTo>
                    <a:pt x="53485" y="1586980"/>
                    <a:pt x="34970" y="1579311"/>
                    <a:pt x="21320" y="1565660"/>
                  </a:cubicBezTo>
                  <a:cubicBezTo>
                    <a:pt x="7669" y="1552010"/>
                    <a:pt x="0" y="1533495"/>
                    <a:pt x="0" y="1514190"/>
                  </a:cubicBezTo>
                  <a:lnTo>
                    <a:pt x="0" y="72790"/>
                  </a:lnTo>
                  <a:cubicBezTo>
                    <a:pt x="0" y="53485"/>
                    <a:pt x="7669" y="34970"/>
                    <a:pt x="21320" y="21320"/>
                  </a:cubicBezTo>
                  <a:cubicBezTo>
                    <a:pt x="34970" y="7669"/>
                    <a:pt x="53485" y="0"/>
                    <a:pt x="72790" y="0"/>
                  </a:cubicBezTo>
                  <a:close/>
                </a:path>
              </a:pathLst>
            </a:custGeom>
            <a:solidFill>
              <a:srgbClr val="EFFFFB"/>
            </a:solidFill>
            <a:ln w="47625" cap="rnd">
              <a:solidFill>
                <a:srgbClr val="106861"/>
              </a:solidFill>
              <a:prstDash val="solid"/>
              <a:round/>
            </a:ln>
          </p:spPr>
        </p:sp>
        <p:sp>
          <p:nvSpPr>
            <p:cNvPr name="TextBox 22" id="22"/>
            <p:cNvSpPr txBox="true"/>
            <p:nvPr/>
          </p:nvSpPr>
          <p:spPr>
            <a:xfrm>
              <a:off x="0" y="-38100"/>
              <a:ext cx="1281265" cy="162508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TextBox 23" id="23"/>
          <p:cNvSpPr txBox="true"/>
          <p:nvPr/>
        </p:nvSpPr>
        <p:spPr>
          <a:xfrm rot="0">
            <a:off x="5457735" y="5933674"/>
            <a:ext cx="3218030" cy="6921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Montserrat Bold"/>
                <a:ea typeface="Montserrat Bold"/>
                <a:cs typeface="Montserrat Bold"/>
                <a:sym typeface="Montserrat Bold"/>
              </a:rPr>
              <a:t>Simulation plus réaliste des capteurs </a:t>
            </a:r>
          </a:p>
        </p:txBody>
      </p:sp>
      <p:grpSp>
        <p:nvGrpSpPr>
          <p:cNvPr name="Group 24" id="24"/>
          <p:cNvGrpSpPr/>
          <p:nvPr/>
        </p:nvGrpSpPr>
        <p:grpSpPr>
          <a:xfrm rot="0">
            <a:off x="9580195" y="4144994"/>
            <a:ext cx="3297148" cy="4083862"/>
            <a:chOff x="0" y="0"/>
            <a:chExt cx="1281265" cy="1586980"/>
          </a:xfrm>
        </p:grpSpPr>
        <p:sp>
          <p:nvSpPr>
            <p:cNvPr name="Freeform 25" id="25"/>
            <p:cNvSpPr/>
            <p:nvPr/>
          </p:nvSpPr>
          <p:spPr>
            <a:xfrm flipH="false" flipV="false" rot="0">
              <a:off x="0" y="0"/>
              <a:ext cx="1281265" cy="1586980"/>
            </a:xfrm>
            <a:custGeom>
              <a:avLst/>
              <a:gdLst/>
              <a:ahLst/>
              <a:cxnLst/>
              <a:rect r="r" b="b" t="t" l="l"/>
              <a:pathLst>
                <a:path h="1586980" w="1281265">
                  <a:moveTo>
                    <a:pt x="72790" y="0"/>
                  </a:moveTo>
                  <a:lnTo>
                    <a:pt x="1208475" y="0"/>
                  </a:lnTo>
                  <a:cubicBezTo>
                    <a:pt x="1227780" y="0"/>
                    <a:pt x="1246294" y="7669"/>
                    <a:pt x="1259945" y="21320"/>
                  </a:cubicBezTo>
                  <a:cubicBezTo>
                    <a:pt x="1273596" y="34970"/>
                    <a:pt x="1281265" y="53485"/>
                    <a:pt x="1281265" y="72790"/>
                  </a:cubicBezTo>
                  <a:lnTo>
                    <a:pt x="1281265" y="1514190"/>
                  </a:lnTo>
                  <a:cubicBezTo>
                    <a:pt x="1281265" y="1533495"/>
                    <a:pt x="1273596" y="1552010"/>
                    <a:pt x="1259945" y="1565660"/>
                  </a:cubicBezTo>
                  <a:cubicBezTo>
                    <a:pt x="1246294" y="1579311"/>
                    <a:pt x="1227780" y="1586980"/>
                    <a:pt x="1208475" y="1586980"/>
                  </a:cubicBezTo>
                  <a:lnTo>
                    <a:pt x="72790" y="1586980"/>
                  </a:lnTo>
                  <a:cubicBezTo>
                    <a:pt x="53485" y="1586980"/>
                    <a:pt x="34970" y="1579311"/>
                    <a:pt x="21320" y="1565660"/>
                  </a:cubicBezTo>
                  <a:cubicBezTo>
                    <a:pt x="7669" y="1552010"/>
                    <a:pt x="0" y="1533495"/>
                    <a:pt x="0" y="1514190"/>
                  </a:cubicBezTo>
                  <a:lnTo>
                    <a:pt x="0" y="72790"/>
                  </a:lnTo>
                  <a:cubicBezTo>
                    <a:pt x="0" y="53485"/>
                    <a:pt x="7669" y="34970"/>
                    <a:pt x="21320" y="21320"/>
                  </a:cubicBezTo>
                  <a:cubicBezTo>
                    <a:pt x="34970" y="7669"/>
                    <a:pt x="53485" y="0"/>
                    <a:pt x="72790" y="0"/>
                  </a:cubicBezTo>
                  <a:close/>
                </a:path>
              </a:pathLst>
            </a:custGeom>
            <a:solidFill>
              <a:srgbClr val="EFFFFB"/>
            </a:solidFill>
            <a:ln w="47625" cap="rnd">
              <a:solidFill>
                <a:srgbClr val="106861"/>
              </a:solidFill>
              <a:prstDash val="solid"/>
              <a:round/>
            </a:ln>
          </p:spPr>
        </p:sp>
        <p:sp>
          <p:nvSpPr>
            <p:cNvPr name="TextBox 26" id="26"/>
            <p:cNvSpPr txBox="true"/>
            <p:nvPr/>
          </p:nvSpPr>
          <p:spPr>
            <a:xfrm>
              <a:off x="0" y="-38100"/>
              <a:ext cx="1281265" cy="162508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TextBox 27" id="27"/>
          <p:cNvSpPr txBox="true"/>
          <p:nvPr/>
        </p:nvSpPr>
        <p:spPr>
          <a:xfrm rot="0">
            <a:off x="9619754" y="5933674"/>
            <a:ext cx="3218030" cy="6921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Montserrat Bold"/>
                <a:ea typeface="Montserrat Bold"/>
                <a:cs typeface="Montserrat Bold"/>
                <a:sym typeface="Montserrat Bold"/>
              </a:rPr>
              <a:t>Prédictions avec Machine Learning </a:t>
            </a:r>
          </a:p>
        </p:txBody>
      </p:sp>
      <p:grpSp>
        <p:nvGrpSpPr>
          <p:cNvPr name="Group 28" id="28"/>
          <p:cNvGrpSpPr/>
          <p:nvPr/>
        </p:nvGrpSpPr>
        <p:grpSpPr>
          <a:xfrm rot="0">
            <a:off x="13610768" y="4144994"/>
            <a:ext cx="3297148" cy="4083862"/>
            <a:chOff x="0" y="0"/>
            <a:chExt cx="1281265" cy="1586980"/>
          </a:xfrm>
        </p:grpSpPr>
        <p:sp>
          <p:nvSpPr>
            <p:cNvPr name="Freeform 29" id="29"/>
            <p:cNvSpPr/>
            <p:nvPr/>
          </p:nvSpPr>
          <p:spPr>
            <a:xfrm flipH="false" flipV="false" rot="0">
              <a:off x="0" y="0"/>
              <a:ext cx="1281265" cy="1586980"/>
            </a:xfrm>
            <a:custGeom>
              <a:avLst/>
              <a:gdLst/>
              <a:ahLst/>
              <a:cxnLst/>
              <a:rect r="r" b="b" t="t" l="l"/>
              <a:pathLst>
                <a:path h="1586980" w="1281265">
                  <a:moveTo>
                    <a:pt x="72790" y="0"/>
                  </a:moveTo>
                  <a:lnTo>
                    <a:pt x="1208475" y="0"/>
                  </a:lnTo>
                  <a:cubicBezTo>
                    <a:pt x="1227780" y="0"/>
                    <a:pt x="1246294" y="7669"/>
                    <a:pt x="1259945" y="21320"/>
                  </a:cubicBezTo>
                  <a:cubicBezTo>
                    <a:pt x="1273596" y="34970"/>
                    <a:pt x="1281265" y="53485"/>
                    <a:pt x="1281265" y="72790"/>
                  </a:cubicBezTo>
                  <a:lnTo>
                    <a:pt x="1281265" y="1514190"/>
                  </a:lnTo>
                  <a:cubicBezTo>
                    <a:pt x="1281265" y="1533495"/>
                    <a:pt x="1273596" y="1552010"/>
                    <a:pt x="1259945" y="1565660"/>
                  </a:cubicBezTo>
                  <a:cubicBezTo>
                    <a:pt x="1246294" y="1579311"/>
                    <a:pt x="1227780" y="1586980"/>
                    <a:pt x="1208475" y="1586980"/>
                  </a:cubicBezTo>
                  <a:lnTo>
                    <a:pt x="72790" y="1586980"/>
                  </a:lnTo>
                  <a:cubicBezTo>
                    <a:pt x="53485" y="1586980"/>
                    <a:pt x="34970" y="1579311"/>
                    <a:pt x="21320" y="1565660"/>
                  </a:cubicBezTo>
                  <a:cubicBezTo>
                    <a:pt x="7669" y="1552010"/>
                    <a:pt x="0" y="1533495"/>
                    <a:pt x="0" y="1514190"/>
                  </a:cubicBezTo>
                  <a:lnTo>
                    <a:pt x="0" y="72790"/>
                  </a:lnTo>
                  <a:cubicBezTo>
                    <a:pt x="0" y="53485"/>
                    <a:pt x="7669" y="34970"/>
                    <a:pt x="21320" y="21320"/>
                  </a:cubicBezTo>
                  <a:cubicBezTo>
                    <a:pt x="34970" y="7669"/>
                    <a:pt x="53485" y="0"/>
                    <a:pt x="72790" y="0"/>
                  </a:cubicBezTo>
                  <a:close/>
                </a:path>
              </a:pathLst>
            </a:custGeom>
            <a:solidFill>
              <a:srgbClr val="EFFFFB"/>
            </a:solidFill>
            <a:ln w="47625" cap="rnd">
              <a:solidFill>
                <a:srgbClr val="106861"/>
              </a:solidFill>
              <a:prstDash val="solid"/>
              <a:round/>
            </a:ln>
          </p:spPr>
        </p:sp>
        <p:sp>
          <p:nvSpPr>
            <p:cNvPr name="TextBox 30" id="30"/>
            <p:cNvSpPr txBox="true"/>
            <p:nvPr/>
          </p:nvSpPr>
          <p:spPr>
            <a:xfrm>
              <a:off x="0" y="-38100"/>
              <a:ext cx="1281265" cy="162508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TextBox 31" id="31"/>
          <p:cNvSpPr txBox="true"/>
          <p:nvPr/>
        </p:nvSpPr>
        <p:spPr>
          <a:xfrm rot="0">
            <a:off x="13650327" y="5933674"/>
            <a:ext cx="3218030" cy="692150"/>
          </a:xfrm>
          <a:prstGeom prst="rect">
            <a:avLst/>
          </a:prstGeom>
        </p:spPr>
        <p:txBody>
          <a:bodyPr anchor="t" rtlCol="false" tIns="0" lIns="0" bIns="0" rIns="0">
            <a:spAutoFit/>
          </a:bodyPr>
          <a:lstStyle/>
          <a:p>
            <a:pPr algn="ctr">
              <a:lnSpc>
                <a:spcPts val="2800"/>
              </a:lnSpc>
              <a:spcBef>
                <a:spcPct val="0"/>
              </a:spcBef>
            </a:pPr>
            <a:r>
              <a:rPr lang="en-US" b="true" sz="2000">
                <a:solidFill>
                  <a:srgbClr val="000000"/>
                </a:solidFill>
                <a:latin typeface="Montserrat Bold"/>
                <a:ea typeface="Montserrat Bold"/>
                <a:cs typeface="Montserrat Bold"/>
                <a:sym typeface="Montserrat Bold"/>
              </a:rPr>
              <a:t>Intégration d’une base de données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sp>
        <p:nvSpPr>
          <p:cNvPr name="Freeform 2" id="2"/>
          <p:cNvSpPr/>
          <p:nvPr/>
        </p:nvSpPr>
        <p:spPr>
          <a:xfrm flipH="false" flipV="false" rot="0">
            <a:off x="14994300" y="3675559"/>
            <a:ext cx="3293700" cy="6611441"/>
          </a:xfrm>
          <a:custGeom>
            <a:avLst/>
            <a:gdLst/>
            <a:ahLst/>
            <a:cxnLst/>
            <a:rect r="r" b="b" t="t" l="l"/>
            <a:pathLst>
              <a:path h="6611441" w="3293700">
                <a:moveTo>
                  <a:pt x="0" y="0"/>
                </a:moveTo>
                <a:lnTo>
                  <a:pt x="3293700" y="0"/>
                </a:lnTo>
                <a:lnTo>
                  <a:pt x="3293700" y="6611441"/>
                </a:lnTo>
                <a:lnTo>
                  <a:pt x="0" y="66114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3212832" y="-1760501"/>
            <a:ext cx="5578401" cy="557840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6" id="6"/>
          <p:cNvGrpSpPr/>
          <p:nvPr/>
        </p:nvGrpSpPr>
        <p:grpSpPr>
          <a:xfrm rot="0">
            <a:off x="523351" y="5929583"/>
            <a:ext cx="1010697" cy="1010697"/>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9" id="9"/>
          <p:cNvGrpSpPr/>
          <p:nvPr/>
        </p:nvGrpSpPr>
        <p:grpSpPr>
          <a:xfrm rot="0">
            <a:off x="2545013" y="2203547"/>
            <a:ext cx="12449287" cy="6209083"/>
            <a:chOff x="0" y="0"/>
            <a:chExt cx="3278824" cy="1635314"/>
          </a:xfrm>
        </p:grpSpPr>
        <p:sp>
          <p:nvSpPr>
            <p:cNvPr name="Freeform 10" id="10"/>
            <p:cNvSpPr/>
            <p:nvPr/>
          </p:nvSpPr>
          <p:spPr>
            <a:xfrm flipH="false" flipV="false" rot="0">
              <a:off x="0" y="0"/>
              <a:ext cx="3278825" cy="1635314"/>
            </a:xfrm>
            <a:custGeom>
              <a:avLst/>
              <a:gdLst/>
              <a:ahLst/>
              <a:cxnLst/>
              <a:rect r="r" b="b" t="t" l="l"/>
              <a:pathLst>
                <a:path h="1635314" w="3278825">
                  <a:moveTo>
                    <a:pt x="25497" y="0"/>
                  </a:moveTo>
                  <a:lnTo>
                    <a:pt x="3253328" y="0"/>
                  </a:lnTo>
                  <a:cubicBezTo>
                    <a:pt x="3260090" y="0"/>
                    <a:pt x="3266575" y="2686"/>
                    <a:pt x="3271357" y="7468"/>
                  </a:cubicBezTo>
                  <a:cubicBezTo>
                    <a:pt x="3276138" y="12249"/>
                    <a:pt x="3278825" y="18735"/>
                    <a:pt x="3278825" y="25497"/>
                  </a:cubicBezTo>
                  <a:lnTo>
                    <a:pt x="3278825" y="1609817"/>
                  </a:lnTo>
                  <a:cubicBezTo>
                    <a:pt x="3278825" y="1623899"/>
                    <a:pt x="3267409" y="1635314"/>
                    <a:pt x="3253328" y="1635314"/>
                  </a:cubicBezTo>
                  <a:lnTo>
                    <a:pt x="25497" y="1635314"/>
                  </a:lnTo>
                  <a:cubicBezTo>
                    <a:pt x="11415" y="1635314"/>
                    <a:pt x="0" y="1623899"/>
                    <a:pt x="0" y="1609817"/>
                  </a:cubicBezTo>
                  <a:lnTo>
                    <a:pt x="0" y="25497"/>
                  </a:lnTo>
                  <a:cubicBezTo>
                    <a:pt x="0" y="11415"/>
                    <a:pt x="11415" y="0"/>
                    <a:pt x="25497" y="0"/>
                  </a:cubicBezTo>
                  <a:close/>
                </a:path>
              </a:pathLst>
            </a:custGeom>
            <a:solidFill>
              <a:srgbClr val="106861"/>
            </a:solidFill>
            <a:ln w="66675" cap="rnd">
              <a:solidFill>
                <a:srgbClr val="EFFFFB"/>
              </a:solidFill>
              <a:prstDash val="solid"/>
              <a:round/>
            </a:ln>
          </p:spPr>
        </p:sp>
        <p:sp>
          <p:nvSpPr>
            <p:cNvPr name="TextBox 11" id="11"/>
            <p:cNvSpPr txBox="true"/>
            <p:nvPr/>
          </p:nvSpPr>
          <p:spPr>
            <a:xfrm>
              <a:off x="0" y="-28575"/>
              <a:ext cx="3278824" cy="1663889"/>
            </a:xfrm>
            <a:prstGeom prst="rect">
              <a:avLst/>
            </a:prstGeom>
          </p:spPr>
          <p:txBody>
            <a:bodyPr anchor="ctr" rtlCol="false" tIns="50800" lIns="50800" bIns="50800" rIns="50800"/>
            <a:lstStyle/>
            <a:p>
              <a:pPr algn="ctr" marL="0" indent="0" lvl="0">
                <a:lnSpc>
                  <a:spcPts val="2484"/>
                </a:lnSpc>
                <a:spcBef>
                  <a:spcPct val="0"/>
                </a:spcBef>
              </a:pPr>
            </a:p>
          </p:txBody>
        </p:sp>
      </p:grpSp>
      <p:sp>
        <p:nvSpPr>
          <p:cNvPr name="TextBox 12" id="12"/>
          <p:cNvSpPr txBox="true"/>
          <p:nvPr/>
        </p:nvSpPr>
        <p:spPr>
          <a:xfrm rot="0">
            <a:off x="5583296" y="940919"/>
            <a:ext cx="6372721" cy="1262628"/>
          </a:xfrm>
          <a:prstGeom prst="rect">
            <a:avLst/>
          </a:prstGeom>
        </p:spPr>
        <p:txBody>
          <a:bodyPr anchor="t" rtlCol="false" tIns="0" lIns="0" bIns="0" rIns="0">
            <a:spAutoFit/>
          </a:bodyPr>
          <a:lstStyle/>
          <a:p>
            <a:pPr algn="ctr">
              <a:lnSpc>
                <a:spcPts val="10279"/>
              </a:lnSpc>
              <a:spcBef>
                <a:spcPct val="0"/>
              </a:spcBef>
            </a:pPr>
            <a:r>
              <a:rPr lang="en-US" sz="7449" u="sng">
                <a:solidFill>
                  <a:srgbClr val="000000"/>
                </a:solidFill>
                <a:latin typeface="Chau Philomene"/>
                <a:ea typeface="Chau Philomene"/>
                <a:cs typeface="Chau Philomene"/>
                <a:sym typeface="Chau Philomene"/>
              </a:rPr>
              <a:t>conclusion :</a:t>
            </a:r>
          </a:p>
        </p:txBody>
      </p:sp>
      <p:sp>
        <p:nvSpPr>
          <p:cNvPr name="TextBox 13" id="13"/>
          <p:cNvSpPr txBox="true"/>
          <p:nvPr/>
        </p:nvSpPr>
        <p:spPr>
          <a:xfrm rot="0">
            <a:off x="2863245" y="3876164"/>
            <a:ext cx="11812824" cy="2816225"/>
          </a:xfrm>
          <a:prstGeom prst="rect">
            <a:avLst/>
          </a:prstGeom>
        </p:spPr>
        <p:txBody>
          <a:bodyPr anchor="t" rtlCol="false" tIns="0" lIns="0" bIns="0" rIns="0">
            <a:spAutoFit/>
          </a:bodyPr>
          <a:lstStyle/>
          <a:p>
            <a:pPr algn="ctr">
              <a:lnSpc>
                <a:spcPts val="2800"/>
              </a:lnSpc>
            </a:pPr>
            <a:r>
              <a:rPr lang="en-US" sz="2000" b="true">
                <a:solidFill>
                  <a:srgbClr val="FFFFFF"/>
                </a:solidFill>
                <a:latin typeface="Open Sans Bold"/>
                <a:ea typeface="Open Sans Bold"/>
                <a:cs typeface="Open Sans Bold"/>
                <a:sym typeface="Open Sans Bold"/>
              </a:rPr>
              <a:t>Ce projet a permis de développer une solution innovante pour la gestion automatisée des fermes intelligentes en utilisant des structures de données avancées en C. Nous avons intégré divers composants comme les serres, les champs ouverts, et les systèmes d'alerte tout en optimisant l'utilisation des ressources telles que l'eau et l'énergie. Bien que fonctionnel en simulation, des améliorations restent possibles, notamment l'ajout d'une interface graphique en Java et l'intégration de modèles prédictifs. En somme, ce travail contribue à la modernisation de la gestion agricole et ouvre la voie à des développements futurs pour des fermes plus autonomes et durables.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EFFFFB"/>
        </a:solidFill>
      </p:bgPr>
    </p:bg>
    <p:spTree>
      <p:nvGrpSpPr>
        <p:cNvPr id="1" name=""/>
        <p:cNvGrpSpPr/>
        <p:nvPr/>
      </p:nvGrpSpPr>
      <p:grpSpPr>
        <a:xfrm>
          <a:off x="0" y="0"/>
          <a:ext cx="0" cy="0"/>
          <a:chOff x="0" y="0"/>
          <a:chExt cx="0" cy="0"/>
        </a:xfrm>
      </p:grpSpPr>
      <p:grpSp>
        <p:nvGrpSpPr>
          <p:cNvPr name="Group 2" id="2"/>
          <p:cNvGrpSpPr/>
          <p:nvPr/>
        </p:nvGrpSpPr>
        <p:grpSpPr>
          <a:xfrm rot="0">
            <a:off x="3499871" y="2680192"/>
            <a:ext cx="11960386" cy="4924128"/>
            <a:chOff x="0" y="0"/>
            <a:chExt cx="3746567" cy="1542473"/>
          </a:xfrm>
        </p:grpSpPr>
        <p:sp>
          <p:nvSpPr>
            <p:cNvPr name="Freeform 3" id="3"/>
            <p:cNvSpPr/>
            <p:nvPr/>
          </p:nvSpPr>
          <p:spPr>
            <a:xfrm flipH="false" flipV="false" rot="0">
              <a:off x="0" y="0"/>
              <a:ext cx="3746567" cy="1542473"/>
            </a:xfrm>
            <a:custGeom>
              <a:avLst/>
              <a:gdLst/>
              <a:ahLst/>
              <a:cxnLst/>
              <a:rect r="r" b="b" t="t" l="l"/>
              <a:pathLst>
                <a:path h="1542473" w="3746567">
                  <a:moveTo>
                    <a:pt x="29128" y="0"/>
                  </a:moveTo>
                  <a:lnTo>
                    <a:pt x="3717439" y="0"/>
                  </a:lnTo>
                  <a:cubicBezTo>
                    <a:pt x="3733526" y="0"/>
                    <a:pt x="3746567" y="13041"/>
                    <a:pt x="3746567" y="29128"/>
                  </a:cubicBezTo>
                  <a:lnTo>
                    <a:pt x="3746567" y="1513345"/>
                  </a:lnTo>
                  <a:cubicBezTo>
                    <a:pt x="3746567" y="1529432"/>
                    <a:pt x="3733526" y="1542473"/>
                    <a:pt x="3717439" y="1542473"/>
                  </a:cubicBezTo>
                  <a:lnTo>
                    <a:pt x="29128" y="1542473"/>
                  </a:lnTo>
                  <a:cubicBezTo>
                    <a:pt x="13041" y="1542473"/>
                    <a:pt x="0" y="1529432"/>
                    <a:pt x="0" y="1513345"/>
                  </a:cubicBezTo>
                  <a:lnTo>
                    <a:pt x="0" y="29128"/>
                  </a:lnTo>
                  <a:cubicBezTo>
                    <a:pt x="0" y="13041"/>
                    <a:pt x="13041" y="0"/>
                    <a:pt x="29128" y="0"/>
                  </a:cubicBezTo>
                  <a:close/>
                </a:path>
              </a:pathLst>
            </a:custGeom>
            <a:solidFill>
              <a:srgbClr val="106861"/>
            </a:solidFill>
            <a:ln cap="rnd">
              <a:noFill/>
              <a:prstDash val="solid"/>
              <a:round/>
            </a:ln>
          </p:spPr>
        </p:sp>
        <p:sp>
          <p:nvSpPr>
            <p:cNvPr name="TextBox 4" id="4"/>
            <p:cNvSpPr txBox="true"/>
            <p:nvPr/>
          </p:nvSpPr>
          <p:spPr>
            <a:xfrm>
              <a:off x="0" y="-38100"/>
              <a:ext cx="3746567" cy="1580573"/>
            </a:xfrm>
            <a:prstGeom prst="rect">
              <a:avLst/>
            </a:prstGeom>
          </p:spPr>
          <p:txBody>
            <a:bodyPr anchor="ctr" rtlCol="false" tIns="50800" lIns="50800" bIns="50800" rIns="50800"/>
            <a:lstStyle/>
            <a:p>
              <a:pPr algn="ctr" marL="0" indent="0" lvl="0">
                <a:lnSpc>
                  <a:spcPts val="3035"/>
                </a:lnSpc>
                <a:spcBef>
                  <a:spcPct val="0"/>
                </a:spcBef>
              </a:pPr>
            </a:p>
          </p:txBody>
        </p:sp>
      </p:grpSp>
      <p:sp>
        <p:nvSpPr>
          <p:cNvPr name="Freeform 5" id="5"/>
          <p:cNvSpPr/>
          <p:nvPr/>
        </p:nvSpPr>
        <p:spPr>
          <a:xfrm flipH="false" flipV="false" rot="0">
            <a:off x="868394" y="2100713"/>
            <a:ext cx="6083085" cy="6083085"/>
          </a:xfrm>
          <a:custGeom>
            <a:avLst/>
            <a:gdLst/>
            <a:ahLst/>
            <a:cxnLst/>
            <a:rect r="r" b="b" t="t" l="l"/>
            <a:pathLst>
              <a:path h="6083085" w="6083085">
                <a:moveTo>
                  <a:pt x="0" y="0"/>
                </a:moveTo>
                <a:lnTo>
                  <a:pt x="6083085" y="0"/>
                </a:lnTo>
                <a:lnTo>
                  <a:pt x="6083085" y="6083086"/>
                </a:lnTo>
                <a:lnTo>
                  <a:pt x="0" y="60830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1434840" y="2667169"/>
            <a:ext cx="4950194" cy="4950174"/>
            <a:chOff x="0" y="0"/>
            <a:chExt cx="6350000" cy="6349975"/>
          </a:xfrm>
        </p:grpSpPr>
        <p:sp>
          <p:nvSpPr>
            <p:cNvPr name="Freeform 7" id="7"/>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0" t="0" r="0" b="0"/>
              </a:stretch>
            </a:blipFill>
          </p:spPr>
        </p:sp>
      </p:grpSp>
      <p:grpSp>
        <p:nvGrpSpPr>
          <p:cNvPr name="Group 8" id="8"/>
          <p:cNvGrpSpPr/>
          <p:nvPr/>
        </p:nvGrpSpPr>
        <p:grpSpPr>
          <a:xfrm rot="0">
            <a:off x="15811589" y="8007246"/>
            <a:ext cx="4201427" cy="420142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1" id="11"/>
          <p:cNvGrpSpPr/>
          <p:nvPr/>
        </p:nvGrpSpPr>
        <p:grpSpPr>
          <a:xfrm rot="0">
            <a:off x="-1868494" y="-2100713"/>
            <a:ext cx="4201427" cy="420142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4" id="14"/>
          <p:cNvGrpSpPr/>
          <p:nvPr/>
        </p:nvGrpSpPr>
        <p:grpSpPr>
          <a:xfrm rot="0">
            <a:off x="16067950" y="6633635"/>
            <a:ext cx="762083" cy="76208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17" id="17"/>
          <p:cNvGrpSpPr/>
          <p:nvPr/>
        </p:nvGrpSpPr>
        <p:grpSpPr>
          <a:xfrm rot="0">
            <a:off x="-575233" y="9258300"/>
            <a:ext cx="1614906" cy="161490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6861"/>
            </a:solidFill>
            <a:ln cap="sq">
              <a:no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Freeform 20" id="20"/>
          <p:cNvSpPr/>
          <p:nvPr/>
        </p:nvSpPr>
        <p:spPr>
          <a:xfrm flipH="true" flipV="false" rot="0">
            <a:off x="16198920" y="0"/>
            <a:ext cx="2089080" cy="2089080"/>
          </a:xfrm>
          <a:custGeom>
            <a:avLst/>
            <a:gdLst/>
            <a:ahLst/>
            <a:cxnLst/>
            <a:rect r="r" b="b" t="t" l="l"/>
            <a:pathLst>
              <a:path h="2089080" w="2089080">
                <a:moveTo>
                  <a:pt x="2089080" y="0"/>
                </a:moveTo>
                <a:lnTo>
                  <a:pt x="0" y="0"/>
                </a:lnTo>
                <a:lnTo>
                  <a:pt x="0" y="2089080"/>
                </a:lnTo>
                <a:lnTo>
                  <a:pt x="2089080" y="2089080"/>
                </a:lnTo>
                <a:lnTo>
                  <a:pt x="208908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21" id="21"/>
          <p:cNvGrpSpPr/>
          <p:nvPr/>
        </p:nvGrpSpPr>
        <p:grpSpPr>
          <a:xfrm rot="0">
            <a:off x="-1923846" y="8752238"/>
            <a:ext cx="3635476" cy="363547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42950" cap="sq">
              <a:solidFill>
                <a:srgbClr val="AEEA00"/>
              </a:solid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sp>
        <p:nvSpPr>
          <p:cNvPr name="TextBox 24" id="24"/>
          <p:cNvSpPr txBox="true"/>
          <p:nvPr/>
        </p:nvSpPr>
        <p:spPr>
          <a:xfrm rot="0">
            <a:off x="6951479" y="4701761"/>
            <a:ext cx="8325256" cy="795265"/>
          </a:xfrm>
          <a:prstGeom prst="rect">
            <a:avLst/>
          </a:prstGeom>
        </p:spPr>
        <p:txBody>
          <a:bodyPr anchor="t" rtlCol="false" tIns="0" lIns="0" bIns="0" rIns="0">
            <a:spAutoFit/>
          </a:bodyPr>
          <a:lstStyle/>
          <a:p>
            <a:pPr algn="ctr">
              <a:lnSpc>
                <a:spcPts val="6566"/>
              </a:lnSpc>
            </a:pPr>
            <a:r>
              <a:rPr lang="en-US" sz="4690" i="true">
                <a:solidFill>
                  <a:srgbClr val="FFFFFF"/>
                </a:solidFill>
                <a:latin typeface="Chau Philomene Italics"/>
                <a:ea typeface="Chau Philomene Italics"/>
                <a:cs typeface="Chau Philomene Italics"/>
                <a:sym typeface="Chau Philomene Italics"/>
              </a:rPr>
              <a:t>Merci pour votre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DAGfQ6trgE8</dc:identifier>
  <dcterms:modified xsi:type="dcterms:W3CDTF">2011-08-01T06:04:30Z</dcterms:modified>
  <cp:revision>1</cp:revision>
  <dc:title>DÉFINITION DES STRUCTURES DE DONNÉES</dc:title>
</cp:coreProperties>
</file>